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3"/>
  </p:notesMasterIdLst>
  <p:handoutMasterIdLst>
    <p:handoutMasterId r:id="rId44"/>
  </p:handoutMasterIdLst>
  <p:sldIdLst>
    <p:sldId id="339" r:id="rId2"/>
    <p:sldId id="355" r:id="rId3"/>
    <p:sldId id="356" r:id="rId4"/>
    <p:sldId id="354" r:id="rId5"/>
    <p:sldId id="353" r:id="rId6"/>
    <p:sldId id="387" r:id="rId7"/>
    <p:sldId id="351" r:id="rId8"/>
    <p:sldId id="358" r:id="rId9"/>
    <p:sldId id="359" r:id="rId10"/>
    <p:sldId id="360" r:id="rId11"/>
    <p:sldId id="361" r:id="rId12"/>
    <p:sldId id="362" r:id="rId13"/>
    <p:sldId id="365" r:id="rId14"/>
    <p:sldId id="364" r:id="rId15"/>
    <p:sldId id="363" r:id="rId16"/>
    <p:sldId id="389" r:id="rId17"/>
    <p:sldId id="390" r:id="rId18"/>
    <p:sldId id="391" r:id="rId19"/>
    <p:sldId id="392" r:id="rId20"/>
    <p:sldId id="393" r:id="rId21"/>
    <p:sldId id="395" r:id="rId22"/>
    <p:sldId id="372" r:id="rId23"/>
    <p:sldId id="394" r:id="rId24"/>
    <p:sldId id="398" r:id="rId25"/>
    <p:sldId id="381" r:id="rId26"/>
    <p:sldId id="403" r:id="rId27"/>
    <p:sldId id="374" r:id="rId28"/>
    <p:sldId id="404" r:id="rId29"/>
    <p:sldId id="375" r:id="rId30"/>
    <p:sldId id="379" r:id="rId31"/>
    <p:sldId id="386" r:id="rId32"/>
    <p:sldId id="382" r:id="rId33"/>
    <p:sldId id="384" r:id="rId34"/>
    <p:sldId id="396" r:id="rId35"/>
    <p:sldId id="385" r:id="rId36"/>
    <p:sldId id="405" r:id="rId37"/>
    <p:sldId id="406" r:id="rId38"/>
    <p:sldId id="399" r:id="rId39"/>
    <p:sldId id="400" r:id="rId40"/>
    <p:sldId id="401" r:id="rId41"/>
    <p:sldId id="402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7BFB9-5E23-9856-6A79-E34C8D0D5271}" v="172" dt="2026-10-26T21:31:22.230"/>
    <p1510:client id="{09A715AB-DD70-C928-1294-9F6429BB5251}" v="88" dt="2026-10-27T10:26:35.046"/>
    <p1510:client id="{1206D16E-0C4C-4E6C-F3E3-08DC2BED9352}" v="66" dt="2026-10-26T16:24:16.428"/>
    <p1510:client id="{176EAC75-9682-92E4-0B0C-7C1792E6FB6E}" v="6" dt="2026-10-27T10:23:03.467"/>
    <p1510:client id="{2766C60E-A896-B7F6-DD1E-FF772F6B950B}" v="17" dt="2026-10-26T12:32:27.449"/>
    <p1510:client id="{F73619A9-9A0B-0A2B-05F2-7BD613D1F9CF}" v="8" dt="2026-10-26T15:58:24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76"/>
  </p:normalViewPr>
  <p:slideViewPr>
    <p:cSldViewPr snapToGrid="0">
      <p:cViewPr varScale="1">
        <p:scale>
          <a:sx n="114" d="100"/>
          <a:sy n="114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C6CAEE-8E92-D01C-7D27-225D5F770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22F1EC-CE07-901C-9524-B3B22F711F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B0BD8-DA7E-4B37-9825-0DC2ED342740}" type="datetimeFigureOut">
              <a:rPr lang="de-DE" smtClean="0"/>
              <a:t>27.10.26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0DAAB6-4428-9758-F58A-2423F36563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185E5-B7DC-71D0-574F-F8C23B391B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28F9B6-E667-4988-B955-6251A953828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28442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CE418-6F18-464F-8DED-2C4CB7947746}" type="datetimeFigureOut">
              <a:t>10/27/26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2E49F-8EEF-44DA-BCB4-62106F7E7B4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2720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921BA7-A937-1443-A84C-3F9A63D534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87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Zentrale Webplattform: </a:t>
            </a:r>
            <a:r>
              <a:rPr lang="de-DE">
                <a:solidFill>
                  <a:srgbClr val="002D58"/>
                </a:solidFill>
              </a:rPr>
              <a:t>Übersichtliche Verwaltung aller Urlaube sowie Konferenzen mit einfacher, intuitiver Bedienung</a:t>
            </a:r>
            <a:endParaRPr lang="en-US">
              <a:solidFill>
                <a:srgbClr val="002D58"/>
              </a:solidFill>
            </a:endParaRPr>
          </a:p>
          <a:p>
            <a:pPr marL="342900" indent="-342900"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Automatische Berechnung: </a:t>
            </a:r>
            <a:r>
              <a:rPr lang="de-DE">
                <a:solidFill>
                  <a:srgbClr val="002D58"/>
                </a:solidFill>
              </a:rPr>
              <a:t>Sofortige Resturlaubsprüfung bei jedem neuen Antrag</a:t>
            </a:r>
            <a:endParaRPr lang="en-US">
              <a:solidFill>
                <a:srgbClr val="002D58"/>
              </a:solidFill>
            </a:endParaRPr>
          </a:p>
          <a:p>
            <a:pPr marL="342900" indent="-342900"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Integrierte Validierung: </a:t>
            </a:r>
            <a:r>
              <a:rPr lang="de-DE">
                <a:solidFill>
                  <a:srgbClr val="002D58"/>
                </a:solidFill>
              </a:rPr>
              <a:t>Systemseitiger Schutz gegen zeitliche Doppelbuchungen</a:t>
            </a:r>
            <a:endParaRPr lang="en-US">
              <a:solidFill>
                <a:srgbClr val="002D58"/>
              </a:solidFill>
            </a:endParaRPr>
          </a:p>
          <a:p>
            <a:pPr marL="342900" indent="-342900"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Hochschul-Login: </a:t>
            </a:r>
            <a:r>
              <a:rPr lang="de-DE">
                <a:solidFill>
                  <a:srgbClr val="002D58"/>
                </a:solidFill>
              </a:rPr>
              <a:t>Sicheres Single </a:t>
            </a:r>
            <a:r>
              <a:rPr lang="de-DE" err="1">
                <a:solidFill>
                  <a:srgbClr val="002D58"/>
                </a:solidFill>
              </a:rPr>
              <a:t>Sign</a:t>
            </a:r>
            <a:r>
              <a:rPr lang="de-DE">
                <a:solidFill>
                  <a:srgbClr val="002D58"/>
                </a:solidFill>
              </a:rPr>
              <a:t>-On über </a:t>
            </a:r>
            <a:r>
              <a:rPr lang="de-DE" err="1">
                <a:solidFill>
                  <a:srgbClr val="002D58"/>
                </a:solidFill>
              </a:rPr>
              <a:t>Keycloak</a:t>
            </a:r>
            <a:endParaRPr lang="de-DE" err="1">
              <a:solidFill>
                <a:srgbClr val="002D58"/>
              </a:solidFill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55253-64D6-4CB0-87E4-548B4F1CBD5A}" type="slidenum">
              <a:rPr lang="de-DE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57532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Wir verwenden eine 3-Schichten-Architektur.</a:t>
            </a:r>
          </a:p>
          <a:p>
            <a:r>
              <a:rPr lang="de-DE"/>
              <a:t>Die Präsentationsschicht bildet das Frontend mit Kalendern, Dashboards und Eingabemasken.</a:t>
            </a:r>
          </a:p>
          <a:p>
            <a:r>
              <a:rPr lang="de-DE"/>
              <a:t>Die Fachlogik liegt im Backend und verarbeitet Urlaubsregeln, Kontingente sowie Rollen und Berechtigungen.</a:t>
            </a:r>
          </a:p>
          <a:p>
            <a:r>
              <a:rPr lang="de-DE"/>
              <a:t>Die Datenzugriffsschicht übernimmt die dauerhafte und konsistente Speicherung in der Datenbank.</a:t>
            </a:r>
          </a:p>
          <a:p>
            <a:r>
              <a:rPr lang="de-DE"/>
              <a:t>Durch die klare Trennung lassen sich die Schichten unabhängig entwickeln, testen und warten.</a:t>
            </a:r>
          </a:p>
          <a:p>
            <a:r>
              <a:rPr lang="de-DE"/>
              <a:t>Technisch nutzen wir Vue.js mit Tailwind CSS, Java Spring Boot und PostgreSQL.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55253-64D6-4CB0-87E4-548B4F1CBD5A}" type="slidenum">
              <a:rPr lang="de-DE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9700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de-DE"/>
              <a:t>Das Frontend leitet den Nutzer zu Keycloak weiter, und der Nutzer meldet sich dort an.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Keycloak gibt den Code und das Token </a:t>
            </a:r>
            <a:r>
              <a:rPr lang="de-DE" b="1"/>
              <a:t>an das Frontend</a:t>
            </a:r>
            <a:r>
              <a:rPr lang="de-DE"/>
              <a:t> zurück, also an den Client, der die Anmeldung gestartet hat.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Das Frontend schickt das Token bei jedem Aufruf im Header an das Backend.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Das Backend </a:t>
            </a:r>
            <a:r>
              <a:rPr lang="de-DE" b="1"/>
              <a:t>prüft</a:t>
            </a:r>
            <a:r>
              <a:rPr lang="de-DE"/>
              <a:t> es nur. Es holt sich einmal den öffentlichen Schlüssel von Keycloak und kontrolliert damit die Signatur. Bei jeder Anfrage muss es Keycloak dafür nicht erneut fragen.</a:t>
            </a:r>
          </a:p>
          <a:p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55253-64D6-4CB0-87E4-548B4F1CBD5A}" type="slidenum">
              <a:rPr lang="de-DE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4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>
                <a:solidFill>
                  <a:srgbClr val="1F7098"/>
                </a:solidFill>
              </a:rPr>
              <a:t>Ergebnis: sensible Urlaubs- und Abwesenheitsdaten bleiben vor unberechtigtem Zugriff geschützt.</a:t>
            </a:r>
            <a:endParaRPr lang="en-US"/>
          </a:p>
          <a:p>
            <a:r>
              <a:rPr lang="de-DE" err="1">
                <a:solidFill>
                  <a:srgbClr val="002D58"/>
                </a:solidFill>
              </a:rPr>
              <a:t>Keycloak</a:t>
            </a:r>
            <a:r>
              <a:rPr lang="de-DE">
                <a:solidFill>
                  <a:srgbClr val="002D58"/>
                </a:solidFill>
              </a:rPr>
              <a:t> schützt Anmeldung und Zugriffe – das Backend setzt die Berechtigungen durch.</a:t>
            </a:r>
            <a:endParaRPr lang="en-US"/>
          </a:p>
          <a:p>
            <a:r>
              <a:rPr lang="de-DE">
                <a:solidFill>
                  <a:srgbClr val="132E45"/>
                </a:solidFill>
              </a:rPr>
              <a:t>Keycloak bestätigt Identität und Rolle. </a:t>
            </a:r>
            <a:endParaRPr lang="de-DE"/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55253-64D6-4CB0-87E4-548B4F1CBD5A}" type="slidenum">
              <a:rPr lang="de-DE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3095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Das Frontend läuft als Single Page Application ohne Neuladen.</a:t>
            </a:r>
          </a:p>
          <a:p>
            <a:r>
              <a:rPr lang="de-DE"/>
              <a:t>Wiederverwendbare Komponenten und npm vereinfachen die Entwicklung.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55253-64D6-4CB0-87E4-548B4F1CBD5A}" type="slidenum">
              <a:rPr lang="de-DE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1477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Das Backend ist klar in Schichten aufgebaut.</a:t>
            </a:r>
          </a:p>
          <a:p>
            <a:r>
              <a:t>REST, Validierung und Tests sorgen für sichere und wartbare Abläufe.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PostgreSQL speichert die Daten relational und transaktionssicher.</a:t>
            </a:r>
          </a:p>
          <a:p>
            <a:r>
              <a:t>ORM und Docker vereinfachen Anbindung und Betrieb.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Keycloak übernimmt Login, Rollen und Single Sign-on.</a:t>
            </a:r>
          </a:p>
          <a:p>
            <a:r>
              <a:t>OAuth2 und OpenID Connect ermöglichen die sichere Anbindung.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Docker sorgt für eine identische Umgebung auf jedem Rechner.</a:t>
            </a:r>
          </a:p>
          <a:p>
            <a:r>
              <a:t>Das gesamte System startet mit einem Befehl.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GitHub Actions automatisiert Build, Tests und Docker-Images.</a:t>
            </a:r>
          </a:p>
          <a:p>
            <a:r>
              <a:t>Änderungen werden erst nach erfolgreicher Pipeline zusammengeführt.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SonarQube prüft Codequalität, Sicherheit und Testabdeckung.</a:t>
            </a:r>
          </a:p>
          <a:p>
            <a:r>
              <a:t>Probleme werden dadurch früh erkannt.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Der Tech-Stack verbindet Vue.js, Spring Boot und PostgreSQL.</a:t>
            </a:r>
          </a:p>
          <a:p>
            <a:r>
              <a:t>Keycloak, Docker, GitHub Actions und SonarQube ergänzen Betrieb und Qualität.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>
              <a:solidFill>
                <a:srgbClr val="002D58"/>
              </a:solidFill>
            </a:endParaRPr>
          </a:p>
          <a:p>
            <a:pPr marL="395605" indent="-380365">
              <a:lnSpc>
                <a:spcPct val="120000"/>
              </a:lnSpc>
              <a:spcBef>
                <a:spcPts val="600"/>
              </a:spcBef>
              <a:buFont typeface="Arial,Sans-Serif"/>
              <a:buChar char="•"/>
            </a:pPr>
            <a:r>
              <a:rPr lang="de-DE" b="1"/>
              <a:t>E</a:t>
            </a:r>
            <a:r>
              <a:rPr lang="de-DE" b="1">
                <a:solidFill>
                  <a:srgbClr val="002D58"/>
                </a:solidFill>
              </a:rPr>
              <a:t>inheitliche IDE:</a:t>
            </a:r>
            <a:r>
              <a:rPr lang="de-DE">
                <a:solidFill>
                  <a:srgbClr val="002D58"/>
                </a:solidFill>
              </a:rPr>
              <a:t> Einsatz von Visual Studio Code (VS Code) für den gesamten Technologie-Stack</a:t>
            </a:r>
          </a:p>
          <a:p>
            <a:pPr marL="395605" indent="-380365">
              <a:lnSpc>
                <a:spcPct val="120000"/>
              </a:lnSpc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Backend &amp; Frontend:</a:t>
            </a:r>
            <a:r>
              <a:rPr lang="de-DE">
                <a:solidFill>
                  <a:srgbClr val="002D58"/>
                </a:solidFill>
              </a:rPr>
              <a:t> Dedizierte Erweiterungen für Java/Spring Boot sowie </a:t>
            </a:r>
            <a:r>
              <a:rPr lang="de-DE" err="1">
                <a:solidFill>
                  <a:srgbClr val="002D58"/>
                </a:solidFill>
              </a:rPr>
              <a:t>Vue.js</a:t>
            </a:r>
            <a:r>
              <a:rPr lang="de-DE">
                <a:solidFill>
                  <a:srgbClr val="002D58"/>
                </a:solidFill>
              </a:rPr>
              <a:t>, JavaScript/</a:t>
            </a:r>
            <a:r>
              <a:rPr lang="de-DE" err="1">
                <a:solidFill>
                  <a:srgbClr val="002D58"/>
                </a:solidFill>
              </a:rPr>
              <a:t>TypeScript</a:t>
            </a:r>
            <a:r>
              <a:rPr lang="de-DE">
                <a:solidFill>
                  <a:srgbClr val="002D58"/>
                </a:solidFill>
              </a:rPr>
              <a:t> und </a:t>
            </a:r>
            <a:r>
              <a:rPr lang="de-DE" err="1">
                <a:solidFill>
                  <a:srgbClr val="002D58"/>
                </a:solidFill>
              </a:rPr>
              <a:t>Tailwind</a:t>
            </a:r>
            <a:r>
              <a:rPr lang="de-DE">
                <a:solidFill>
                  <a:srgbClr val="002D58"/>
                </a:solidFill>
              </a:rPr>
              <a:t> CSS</a:t>
            </a:r>
          </a:p>
          <a:p>
            <a:pPr marL="395605" indent="-380365">
              <a:lnSpc>
                <a:spcPct val="120000"/>
              </a:lnSpc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Qualität &amp; Versionierung:</a:t>
            </a:r>
            <a:r>
              <a:rPr lang="de-DE">
                <a:solidFill>
                  <a:srgbClr val="002D58"/>
                </a:solidFill>
              </a:rPr>
              <a:t> Lokale Code-Analyse zur Früherkennung von Fehlern sowie nahtlose Integration von </a:t>
            </a:r>
            <a:r>
              <a:rPr lang="de-DE" err="1">
                <a:solidFill>
                  <a:srgbClr val="002D58"/>
                </a:solidFill>
              </a:rPr>
              <a:t>Git</a:t>
            </a:r>
            <a:r>
              <a:rPr lang="de-DE">
                <a:solidFill>
                  <a:srgbClr val="002D58"/>
                </a:solidFill>
              </a:rPr>
              <a:t> für die Versionsverwaltung</a:t>
            </a:r>
          </a:p>
          <a:p>
            <a:pPr marL="395605" indent="-380365">
              <a:lnSpc>
                <a:spcPct val="120000"/>
              </a:lnSpc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Containerisierung:</a:t>
            </a:r>
            <a:r>
              <a:rPr lang="de-DE">
                <a:solidFill>
                  <a:srgbClr val="002D58"/>
                </a:solidFill>
              </a:rPr>
              <a:t> Lokale Steuerung und Überprüfung der Container-Umgebungen direkt über Docker-Erweiterungen in VS Code</a:t>
            </a:r>
          </a:p>
          <a:p>
            <a:pPr lvl="2">
              <a:buFont typeface="Arial,Sans-Serif"/>
              <a:buChar char="•"/>
            </a:pPr>
            <a:endParaRPr lang="de-DE">
              <a:solidFill>
                <a:srgbClr val="002D58"/>
              </a:solidFill>
            </a:endParaRPr>
          </a:p>
          <a:p>
            <a:pPr marL="285750" indent="-285750">
              <a:buFont typeface="Arial,Sans-Serif"/>
              <a:buChar char="•"/>
            </a:pPr>
            <a:endParaRPr lang="de-DE">
              <a:solidFill>
                <a:srgbClr val="002D58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0365B-FEED-43A0-B32C-3A38024035B3}" type="slidenum">
              <a:rPr lang="de-DE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7095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Zentrale Versionsverwaltung:</a:t>
            </a:r>
            <a:r>
              <a:rPr lang="de-DE">
                <a:solidFill>
                  <a:srgbClr val="002D58"/>
                </a:solidFill>
              </a:rPr>
              <a:t> Speicherung des Quellcodes in der GitHub-Organisation „</a:t>
            </a:r>
            <a:r>
              <a:rPr lang="de-DE" err="1">
                <a:solidFill>
                  <a:srgbClr val="002D58"/>
                </a:solidFill>
              </a:rPr>
              <a:t>ProVaCaSy</a:t>
            </a:r>
            <a:r>
              <a:rPr lang="de-DE">
                <a:solidFill>
                  <a:srgbClr val="002D58"/>
                </a:solidFill>
              </a:rPr>
              <a:t>“ mit getrennten </a:t>
            </a:r>
            <a:r>
              <a:rPr lang="de-DE" err="1">
                <a:solidFill>
                  <a:srgbClr val="002D58"/>
                </a:solidFill>
              </a:rPr>
              <a:t>Repositories</a:t>
            </a:r>
            <a:r>
              <a:rPr lang="de-DE">
                <a:solidFill>
                  <a:srgbClr val="002D58"/>
                </a:solidFill>
              </a:rPr>
              <a:t> für Frontend, Backend und Dokumentation. </a:t>
            </a:r>
            <a:endParaRPr lang="en-US">
              <a:solidFill>
                <a:srgbClr val="002D58"/>
              </a:solidFill>
            </a:endParaRPr>
          </a:p>
          <a:p>
            <a:pPr marL="171450" indent="-171450">
              <a:spcBef>
                <a:spcPts val="600"/>
              </a:spcBef>
              <a:buFont typeface="Arial,Sans-Serif"/>
              <a:buChar char="•"/>
            </a:pPr>
            <a:r>
              <a:rPr lang="de-DE" b="1" err="1">
                <a:solidFill>
                  <a:srgbClr val="002D58"/>
                </a:solidFill>
              </a:rPr>
              <a:t>Git</a:t>
            </a:r>
            <a:r>
              <a:rPr lang="de-DE" b="1">
                <a:solidFill>
                  <a:srgbClr val="002D58"/>
                </a:solidFill>
              </a:rPr>
              <a:t>-Workflow &amp; Qualität:</a:t>
            </a:r>
            <a:r>
              <a:rPr lang="de-DE">
                <a:solidFill>
                  <a:srgbClr val="002D58"/>
                </a:solidFill>
              </a:rPr>
              <a:t> Feature-Branch-Workflow mit </a:t>
            </a:r>
            <a:r>
              <a:rPr lang="de-DE" err="1">
                <a:solidFill>
                  <a:srgbClr val="002D58"/>
                </a:solidFill>
              </a:rPr>
              <a:t>Conventional</a:t>
            </a:r>
            <a:r>
              <a:rPr lang="de-DE">
                <a:solidFill>
                  <a:srgbClr val="002D58"/>
                </a:solidFill>
              </a:rPr>
              <a:t> </a:t>
            </a:r>
            <a:r>
              <a:rPr lang="de-DE" err="1">
                <a:solidFill>
                  <a:srgbClr val="002D58"/>
                </a:solidFill>
              </a:rPr>
              <a:t>Commits</a:t>
            </a:r>
            <a:r>
              <a:rPr lang="de-DE">
                <a:solidFill>
                  <a:srgbClr val="002D58"/>
                </a:solidFill>
              </a:rPr>
              <a:t>, geschütztem main-Branch und striktem </a:t>
            </a:r>
            <a:r>
              <a:rPr lang="de-DE" b="1">
                <a:solidFill>
                  <a:srgbClr val="002D58"/>
                </a:solidFill>
              </a:rPr>
              <a:t>Vier-Augen-Prinzip</a:t>
            </a:r>
            <a:r>
              <a:rPr lang="de-DE">
                <a:solidFill>
                  <a:srgbClr val="002D58"/>
                </a:solidFill>
              </a:rPr>
              <a:t> (Code-Reviews) vor jedem Merge. </a:t>
            </a:r>
            <a:endParaRPr lang="en-US">
              <a:solidFill>
                <a:srgbClr val="002D58"/>
              </a:solidFill>
            </a:endParaRPr>
          </a:p>
          <a:p>
            <a:pPr marL="171450" indent="-171450"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Automatisierte CI/CD-Pipeline:</a:t>
            </a:r>
            <a:r>
              <a:rPr lang="de-DE">
                <a:solidFill>
                  <a:srgbClr val="002D58"/>
                </a:solidFill>
              </a:rPr>
              <a:t> GitHub Actions zur automatischen Code-Analyse (</a:t>
            </a:r>
            <a:r>
              <a:rPr lang="de-DE" err="1">
                <a:solidFill>
                  <a:srgbClr val="002D58"/>
                </a:solidFill>
              </a:rPr>
              <a:t>SonarQube</a:t>
            </a:r>
            <a:r>
              <a:rPr lang="de-DE">
                <a:solidFill>
                  <a:srgbClr val="002D58"/>
                </a:solidFill>
              </a:rPr>
              <a:t>), Ausführung von Unit- und Integrationstests sowie zum Erstellen der Applikation. </a:t>
            </a:r>
            <a:endParaRPr lang="en-US">
              <a:solidFill>
                <a:srgbClr val="002D58"/>
              </a:solidFill>
            </a:endParaRPr>
          </a:p>
          <a:p>
            <a:pPr marL="171450" indent="-171450"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Container-Registry:</a:t>
            </a:r>
            <a:r>
              <a:rPr lang="de-DE">
                <a:solidFill>
                  <a:srgbClr val="002D58"/>
                </a:solidFill>
              </a:rPr>
              <a:t> Verwaltung der gebauten Docker-Container-Images über GitHub Packages innerhalb der Projektorganisation</a:t>
            </a:r>
            <a:endParaRPr lang="en-US">
              <a:solidFill>
                <a:srgbClr val="002D58"/>
              </a:solidFill>
            </a:endParaRPr>
          </a:p>
          <a:p>
            <a:pPr marL="171450" indent="-171450">
              <a:spcBef>
                <a:spcPts val="600"/>
              </a:spcBef>
              <a:buFont typeface="Arial,Sans-Serif"/>
              <a:buChar char="•"/>
            </a:pPr>
            <a:endParaRPr lang="de-DE">
              <a:solidFill>
                <a:srgbClr val="002D58"/>
              </a:solidFill>
            </a:endParaRPr>
          </a:p>
          <a:p>
            <a:endParaRPr lang="de-DE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443CB-104E-42E2-9311-FC679B87B699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42273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Schnittstellenvertrag:</a:t>
            </a:r>
            <a:r>
              <a:rPr lang="de-DE">
                <a:solidFill>
                  <a:srgbClr val="002D58"/>
                </a:solidFill>
              </a:rPr>
              <a:t> Klare Definition der REST-Schnittstellen zwischen Frontend und Backend vor der eigentlichen Implementierung.</a:t>
            </a:r>
            <a:endParaRPr lang="en-US">
              <a:solidFill>
                <a:srgbClr val="002D58"/>
              </a:solidFill>
            </a:endParaRPr>
          </a:p>
          <a:p>
            <a:pPr marL="285750" indent="-285750"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Automatisierte Generierung:</a:t>
            </a:r>
            <a:r>
              <a:rPr lang="de-DE">
                <a:solidFill>
                  <a:srgbClr val="002D58"/>
                </a:solidFill>
              </a:rPr>
              <a:t> Automatisierte Erstellung von API-Clients und Dokumentationen über Maven/</a:t>
            </a:r>
            <a:r>
              <a:rPr lang="de-DE" err="1">
                <a:solidFill>
                  <a:srgbClr val="002D58"/>
                </a:solidFill>
              </a:rPr>
              <a:t>npm</a:t>
            </a:r>
            <a:r>
              <a:rPr lang="de-DE">
                <a:solidFill>
                  <a:srgbClr val="002D58"/>
                </a:solidFill>
              </a:rPr>
              <a:t>.</a:t>
            </a:r>
            <a:endParaRPr lang="en-US">
              <a:solidFill>
                <a:srgbClr val="002D58"/>
              </a:solidFill>
            </a:endParaRPr>
          </a:p>
          <a:p>
            <a:pPr marL="285750" indent="-285750">
              <a:spcBef>
                <a:spcPts val="600"/>
              </a:spcBef>
              <a:buFont typeface="Arial,Sans-Serif"/>
              <a:buChar char="•"/>
            </a:pPr>
            <a:r>
              <a:rPr lang="de-DE" b="1">
                <a:solidFill>
                  <a:srgbClr val="002D58"/>
                </a:solidFill>
              </a:rPr>
              <a:t>Unabhängige Entwicklung:</a:t>
            </a:r>
            <a:r>
              <a:rPr lang="de-DE">
                <a:solidFill>
                  <a:srgbClr val="002D58"/>
                </a:solidFill>
              </a:rPr>
              <a:t> Ermöglicht die parallele und fehlerfreie Umsetzung von Vue.js-Frontend und Spring Boot-Backend.</a:t>
            </a:r>
            <a:endParaRPr lang="en-US">
              <a:solidFill>
                <a:srgbClr val="002D58"/>
              </a:solidFill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F0365B-FEED-43A0-B32C-3A38024035B3}" type="slidenum">
              <a:rPr lang="de-DE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3053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Nutzen KanBan für Issue Tracking</a:t>
            </a:r>
            <a:endParaRPr lang="de-DE"/>
          </a:p>
          <a:p>
            <a:r>
              <a:rPr lang="en-US">
                <a:ea typeface="Calibri"/>
                <a:cs typeface="Calibri"/>
              </a:rPr>
              <a:t>Schritte </a:t>
            </a:r>
            <a:r>
              <a:rPr lang="en-US" err="1">
                <a:ea typeface="Calibri"/>
                <a:cs typeface="Calibri"/>
              </a:rPr>
              <a:t>aufzählen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A248D-C6CE-4673-9B3B-5AB457FD23B6}" type="slidenum">
              <a:rPr lang="de-DE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79692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Clean Code </a:t>
            </a:r>
            <a:r>
              <a:rPr lang="en-US" err="1"/>
              <a:t>heißt</a:t>
            </a:r>
            <a:r>
              <a:rPr lang="en-US"/>
              <a:t>: </a:t>
            </a:r>
            <a:r>
              <a:rPr lang="en-US" err="1"/>
              <a:t>lesbarer</a:t>
            </a:r>
            <a:r>
              <a:rPr lang="en-US"/>
              <a:t>, </a:t>
            </a:r>
            <a:r>
              <a:rPr lang="en-US" err="1"/>
              <a:t>verständlicher</a:t>
            </a:r>
            <a:r>
              <a:rPr lang="en-US"/>
              <a:t> und </a:t>
            </a:r>
            <a:r>
              <a:rPr lang="en-US" err="1"/>
              <a:t>wartbarer</a:t>
            </a:r>
            <a:r>
              <a:rPr lang="en-US"/>
              <a:t> Code </a:t>
            </a:r>
            <a:r>
              <a:rPr lang="en-US" err="1"/>
              <a:t>mit</a:t>
            </a:r>
            <a:r>
              <a:rPr lang="en-US"/>
              <a:t> </a:t>
            </a:r>
            <a:r>
              <a:rPr lang="en-US" err="1"/>
              <a:t>sinnvollen</a:t>
            </a:r>
            <a:r>
              <a:rPr lang="en-US"/>
              <a:t> Namen und </a:t>
            </a:r>
            <a:r>
              <a:rPr lang="en-US" err="1"/>
              <a:t>ohne</a:t>
            </a:r>
            <a:r>
              <a:rPr lang="en-US"/>
              <a:t> </a:t>
            </a:r>
            <a:r>
              <a:rPr lang="en-US" err="1"/>
              <a:t>unnötige</a:t>
            </a:r>
            <a:r>
              <a:rPr lang="en-US"/>
              <a:t> </a:t>
            </a:r>
            <a:r>
              <a:rPr lang="en-US" err="1"/>
              <a:t>Komplexität</a:t>
            </a:r>
            <a:br>
              <a:rPr lang="en-US">
                <a:cs typeface="+mn-lt"/>
              </a:rPr>
            </a:b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8A248D-C6CE-4673-9B3B-5AB457FD23B6}" type="slidenum">
              <a:rPr lang="de-DE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473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AF29-320B-F551-C92F-FC83788E5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18CC71-694E-6F08-4955-C50E7AEC3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1388C4C-3643-71BC-22B3-B6B940C59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,Sans-Serif"/>
              <a:buChar char="•"/>
            </a:pPr>
            <a:r>
              <a:rPr lang="en-US" b="1"/>
              <a:t>Push auf den Feature-Branch:</a:t>
            </a:r>
            <a:r>
              <a:rPr lang="en-US"/>
              <a:t> Die Pipeline </a:t>
            </a:r>
            <a:r>
              <a:rPr lang="en-US" err="1"/>
              <a:t>startet</a:t>
            </a:r>
            <a:r>
              <a:rPr lang="en-US"/>
              <a:t>. Euer Betreuer </a:t>
            </a:r>
            <a:r>
              <a:rPr lang="en-US" err="1"/>
              <a:t>wollte</a:t>
            </a:r>
            <a:r>
              <a:rPr lang="en-US"/>
              <a:t>, </a:t>
            </a:r>
            <a:r>
              <a:rPr lang="en-US" err="1"/>
              <a:t>dass</a:t>
            </a:r>
            <a:r>
              <a:rPr lang="en-US"/>
              <a:t> GitHub Actions pro Branch </a:t>
            </a:r>
            <a:r>
              <a:rPr lang="en-US" err="1"/>
              <a:t>mitläuft</a:t>
            </a:r>
            <a:r>
              <a:rPr lang="en-US"/>
              <a:t>.</a:t>
            </a:r>
          </a:p>
          <a:p>
            <a:pPr marL="285750" indent="-285750">
              <a:buFont typeface="Arial,Sans-Serif"/>
              <a:buChar char="•"/>
            </a:pPr>
            <a:r>
              <a:rPr lang="en-US" b="1"/>
              <a:t>GitHub Actions baut das Projekt und führt die Tests aus.</a:t>
            </a:r>
            <a:endParaRPr lang="de-DE"/>
          </a:p>
          <a:p>
            <a:pPr marL="285750" indent="-285750">
              <a:buFont typeface="Arial,Sans-Serif"/>
              <a:buChar char="•"/>
            </a:pPr>
            <a:r>
              <a:rPr lang="en-US" b="1" err="1"/>
              <a:t>Codeanalyse</a:t>
            </a:r>
            <a:r>
              <a:rPr lang="en-US" b="1"/>
              <a:t>:</a:t>
            </a:r>
            <a:r>
              <a:rPr lang="en-US"/>
              <a:t> Actions </a:t>
            </a:r>
            <a:r>
              <a:rPr lang="en-US" err="1"/>
              <a:t>schickt</a:t>
            </a:r>
            <a:r>
              <a:rPr lang="en-US"/>
              <a:t> den Code an SonarQube. SonarQube </a:t>
            </a:r>
            <a:r>
              <a:rPr lang="en-US" err="1"/>
              <a:t>meldet</a:t>
            </a:r>
            <a:r>
              <a:rPr lang="en-US"/>
              <a:t> das </a:t>
            </a:r>
            <a:r>
              <a:rPr lang="en-US" err="1"/>
              <a:t>Ergebnis</a:t>
            </a:r>
            <a:r>
              <a:rPr lang="en-US"/>
              <a:t> (Quality Gate </a:t>
            </a:r>
            <a:r>
              <a:rPr lang="en-US" err="1"/>
              <a:t>bestanden</a:t>
            </a:r>
            <a:r>
              <a:rPr lang="en-US"/>
              <a:t> </a:t>
            </a:r>
            <a:r>
              <a:rPr lang="en-US" err="1"/>
              <a:t>oder</a:t>
            </a:r>
            <a:r>
              <a:rPr lang="en-US"/>
              <a:t> nicht) </a:t>
            </a:r>
            <a:r>
              <a:rPr lang="en-US" err="1"/>
              <a:t>zurück</a:t>
            </a:r>
            <a:r>
              <a:rPr lang="en-US"/>
              <a:t>, und es </a:t>
            </a:r>
            <a:r>
              <a:rPr lang="en-US" err="1"/>
              <a:t>erscheint</a:t>
            </a:r>
            <a:r>
              <a:rPr lang="en-US"/>
              <a:t> </a:t>
            </a:r>
            <a:r>
              <a:rPr lang="en-US" err="1"/>
              <a:t>im</a:t>
            </a:r>
            <a:r>
              <a:rPr lang="en-US"/>
              <a:t> Pull Request. SonarQube </a:t>
            </a:r>
            <a:r>
              <a:rPr lang="en-US" err="1"/>
              <a:t>ist</a:t>
            </a:r>
            <a:r>
              <a:rPr lang="en-US"/>
              <a:t> also </a:t>
            </a:r>
            <a:r>
              <a:rPr lang="en-US" err="1"/>
              <a:t>keine</a:t>
            </a:r>
            <a:r>
              <a:rPr lang="en-US"/>
              <a:t> </a:t>
            </a:r>
            <a:r>
              <a:rPr lang="en-US" err="1"/>
              <a:t>eigene</a:t>
            </a:r>
            <a:r>
              <a:rPr lang="en-US"/>
              <a:t> Station, an die der </a:t>
            </a:r>
            <a:r>
              <a:rPr lang="en-US" err="1"/>
              <a:t>Ablauf</a:t>
            </a:r>
            <a:r>
              <a:rPr lang="en-US"/>
              <a:t> „</a:t>
            </a:r>
            <a:r>
              <a:rPr lang="en-US" err="1"/>
              <a:t>weitergereicht</a:t>
            </a:r>
            <a:r>
              <a:rPr lang="en-US"/>
              <a:t>“ </a:t>
            </a:r>
            <a:r>
              <a:rPr lang="en-US" err="1"/>
              <a:t>wird</a:t>
            </a:r>
            <a:r>
              <a:rPr lang="en-US"/>
              <a:t>, </a:t>
            </a:r>
            <a:r>
              <a:rPr lang="en-US" err="1"/>
              <a:t>sondern</a:t>
            </a:r>
            <a:r>
              <a:rPr lang="en-US"/>
              <a:t> </a:t>
            </a:r>
            <a:r>
              <a:rPr lang="en-US" err="1"/>
              <a:t>ein</a:t>
            </a:r>
            <a:r>
              <a:rPr lang="en-US"/>
              <a:t> Schritt, den Actions </a:t>
            </a:r>
            <a:r>
              <a:rPr lang="en-US" err="1"/>
              <a:t>aufruft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b="1"/>
              <a:t>Docker-Images:</a:t>
            </a:r>
            <a:r>
              <a:rPr lang="en-US"/>
              <a:t> Wenn </a:t>
            </a:r>
            <a:r>
              <a:rPr lang="en-US" err="1"/>
              <a:t>alles</a:t>
            </a:r>
            <a:r>
              <a:rPr lang="en-US"/>
              <a:t> </a:t>
            </a:r>
            <a:r>
              <a:rPr lang="en-US" err="1"/>
              <a:t>bestanden</a:t>
            </a:r>
            <a:r>
              <a:rPr lang="en-US"/>
              <a:t> </a:t>
            </a:r>
            <a:r>
              <a:rPr lang="en-US" err="1"/>
              <a:t>ist</a:t>
            </a:r>
            <a:r>
              <a:rPr lang="en-US"/>
              <a:t>, </a:t>
            </a:r>
            <a:r>
              <a:rPr lang="en-US" err="1"/>
              <a:t>baut</a:t>
            </a:r>
            <a:r>
              <a:rPr lang="en-US"/>
              <a:t> Actions die Images und </a:t>
            </a:r>
            <a:r>
              <a:rPr lang="en-US" err="1"/>
              <a:t>legt</a:t>
            </a:r>
            <a:r>
              <a:rPr lang="en-US"/>
              <a:t> </a:t>
            </a:r>
            <a:r>
              <a:rPr lang="en-US" err="1"/>
              <a:t>sie</a:t>
            </a:r>
            <a:r>
              <a:rPr lang="en-US"/>
              <a:t> in GitHub Packages ab.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endParaRPr lang="de-DE">
              <a:ea typeface="Calibri"/>
              <a:cs typeface="Calibri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05AA6F-E326-9DE8-F1E2-C3E748EB0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55253-64D6-4CB0-87E4-548B4F1CBD5A}" type="slidenum">
              <a:rPr lang="de-DE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191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2E49F-8EEF-44DA-BCB4-62106F7E7B4E}" type="slidenum">
              <a:rPr lang="de-DE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7458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_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platzhalter 1"/>
          <p:cNvSpPr>
            <a:spLocks noGrp="1"/>
          </p:cNvSpPr>
          <p:nvPr userDrawn="1">
            <p:ph type="title" hasCustomPrompt="1"/>
          </p:nvPr>
        </p:nvSpPr>
        <p:spPr>
          <a:xfrm>
            <a:off x="609603" y="382827"/>
            <a:ext cx="9076264" cy="1104506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spAutoFit/>
          </a:bodyPr>
          <a:lstStyle>
            <a:lvl1pPr>
              <a:lnSpc>
                <a:spcPct val="90000"/>
              </a:lnSpc>
              <a:defRPr sz="3200" b="1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br>
              <a:rPr lang="de-DE"/>
            </a:br>
            <a:r>
              <a:rPr lang="de-DE"/>
              <a:t>zweizeilige Überschrift</a:t>
            </a:r>
          </a:p>
        </p:txBody>
      </p:sp>
      <p:sp>
        <p:nvSpPr>
          <p:cNvPr id="3" name="Datumsplatzhalter 2"/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smtClean="0"/>
              <a:t>27.10.26</a:t>
            </a:fld>
            <a:endParaRPr lang="hr-HR"/>
          </a:p>
        </p:txBody>
      </p:sp>
      <p:sp>
        <p:nvSpPr>
          <p:cNvPr id="4" name="Fußzeilenplatzhalter 3"/>
          <p:cNvSpPr>
            <a:spLocks noGrp="1"/>
          </p:cNvSpPr>
          <p:nvPr userDrawn="1">
            <p:ph type="ftr" sz="quarter" idx="15"/>
          </p:nvPr>
        </p:nvSpPr>
        <p:spPr/>
        <p:txBody>
          <a:bodyPr/>
          <a:lstStyle/>
          <a:p>
            <a:r>
              <a:rPr lang="de-DE"/>
              <a:t>ProVaCaSy der Hochschule Esslingen</a:t>
            </a:r>
          </a:p>
        </p:txBody>
      </p:sp>
      <p:sp>
        <p:nvSpPr>
          <p:cNvPr id="5" name="Foliennummernplatzhalter 4"/>
          <p:cNvSpPr>
            <a:spLocks noGrp="1"/>
          </p:cNvSpPr>
          <p:nvPr userDrawn="1">
            <p:ph type="sldNum" sz="quarter" idx="16"/>
          </p:nvPr>
        </p:nvSpPr>
        <p:spPr/>
        <p:txBody>
          <a:bodyPr/>
          <a:lstStyle/>
          <a:p>
            <a:fld id="{1E6235D0-FF99-C045-995D-75C61122D1C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999F9DB5-C968-9348-82FD-40CCCAE1ACAD}"/>
              </a:ext>
            </a:extLst>
          </p:cNvPr>
          <p:cNvSpPr/>
          <p:nvPr userDrawn="1"/>
        </p:nvSpPr>
        <p:spPr>
          <a:xfrm>
            <a:off x="10032001" y="-3"/>
            <a:ext cx="2159561" cy="6858004"/>
          </a:xfrm>
          <a:custGeom>
            <a:avLst/>
            <a:gdLst>
              <a:gd name="connsiteX0" fmla="*/ 0 w 1619671"/>
              <a:gd name="connsiteY0" fmla="*/ 0 h 5143502"/>
              <a:gd name="connsiteX1" fmla="*/ 1619671 w 1619671"/>
              <a:gd name="connsiteY1" fmla="*/ 0 h 5143502"/>
              <a:gd name="connsiteX2" fmla="*/ 1619671 w 1619671"/>
              <a:gd name="connsiteY2" fmla="*/ 722711 h 5143502"/>
              <a:gd name="connsiteX3" fmla="*/ 1619671 w 1619671"/>
              <a:gd name="connsiteY3" fmla="*/ 722711 h 5143502"/>
              <a:gd name="connsiteX4" fmla="*/ 1619671 w 1619671"/>
              <a:gd name="connsiteY4" fmla="*/ 4952068 h 5143502"/>
              <a:gd name="connsiteX5" fmla="*/ 1619671 w 1619671"/>
              <a:gd name="connsiteY5" fmla="*/ 4952068 h 5143502"/>
              <a:gd name="connsiteX6" fmla="*/ 1619671 w 1619671"/>
              <a:gd name="connsiteY6" fmla="*/ 5143501 h 5143502"/>
              <a:gd name="connsiteX7" fmla="*/ 1619671 w 1619671"/>
              <a:gd name="connsiteY7" fmla="*/ 5143501 h 5143502"/>
              <a:gd name="connsiteX8" fmla="*/ 1619671 w 1619671"/>
              <a:gd name="connsiteY8" fmla="*/ 5143502 h 5143502"/>
              <a:gd name="connsiteX9" fmla="*/ 1428238 w 1619671"/>
              <a:gd name="connsiteY9" fmla="*/ 5143502 h 5143502"/>
              <a:gd name="connsiteX10" fmla="*/ 1428238 w 1619671"/>
              <a:gd name="connsiteY10" fmla="*/ 5143501 h 5143502"/>
              <a:gd name="connsiteX11" fmla="*/ 0 w 1619671"/>
              <a:gd name="connsiteY11" fmla="*/ 5143501 h 5143502"/>
              <a:gd name="connsiteX12" fmla="*/ 0 w 1619671"/>
              <a:gd name="connsiteY12" fmla="*/ 4952068 h 5143502"/>
              <a:gd name="connsiteX13" fmla="*/ 1428238 w 1619671"/>
              <a:gd name="connsiteY13" fmla="*/ 4952068 h 5143502"/>
              <a:gd name="connsiteX14" fmla="*/ 1428238 w 1619671"/>
              <a:gd name="connsiteY14" fmla="*/ 722711 h 5143502"/>
              <a:gd name="connsiteX15" fmla="*/ 0 w 1619671"/>
              <a:gd name="connsiteY15" fmla="*/ 722711 h 51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619671" h="5143502">
                <a:moveTo>
                  <a:pt x="0" y="0"/>
                </a:moveTo>
                <a:lnTo>
                  <a:pt x="1619671" y="0"/>
                </a:lnTo>
                <a:lnTo>
                  <a:pt x="1619671" y="722711"/>
                </a:lnTo>
                <a:lnTo>
                  <a:pt x="1619671" y="722711"/>
                </a:lnTo>
                <a:lnTo>
                  <a:pt x="1619671" y="4952068"/>
                </a:lnTo>
                <a:lnTo>
                  <a:pt x="1619671" y="4952068"/>
                </a:lnTo>
                <a:lnTo>
                  <a:pt x="1619671" y="5143501"/>
                </a:lnTo>
                <a:lnTo>
                  <a:pt x="1619671" y="5143501"/>
                </a:lnTo>
                <a:lnTo>
                  <a:pt x="1619671" y="5143502"/>
                </a:lnTo>
                <a:lnTo>
                  <a:pt x="1428238" y="5143502"/>
                </a:lnTo>
                <a:lnTo>
                  <a:pt x="1428238" y="5143501"/>
                </a:lnTo>
                <a:lnTo>
                  <a:pt x="0" y="5143501"/>
                </a:lnTo>
                <a:lnTo>
                  <a:pt x="0" y="4952068"/>
                </a:lnTo>
                <a:lnTo>
                  <a:pt x="1428238" y="4952068"/>
                </a:lnTo>
                <a:lnTo>
                  <a:pt x="1428238" y="722711"/>
                </a:lnTo>
                <a:lnTo>
                  <a:pt x="0" y="72271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pic>
        <p:nvPicPr>
          <p:cNvPr id="2" name="Grafik 4" descr="Ein Bild, das Schrift, Grafiken, Logo, Text enthält.  KI-generierte Inhalte können fehlerhaft sein.">
            <a:extLst>
              <a:ext uri="{FF2B5EF4-FFF2-40B4-BE49-F238E27FC236}">
                <a16:creationId xmlns:a16="http://schemas.microsoft.com/office/drawing/2014/main" id="{EF9489C2-ECF1-A66F-932E-B41EFA8E05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37813" y="382827"/>
            <a:ext cx="1714115" cy="45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1063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184880" y="6646956"/>
            <a:ext cx="767048" cy="211045"/>
          </a:xfrm>
          <a:prstGeom prst="rect">
            <a:avLst/>
          </a:prstGeom>
        </p:spPr>
        <p:txBody>
          <a:bodyPr tIns="0" anchor="t"/>
          <a:lstStyle>
            <a:lvl1pPr algn="r">
              <a:defRPr sz="1000">
                <a:solidFill>
                  <a:srgbClr val="002D58"/>
                </a:solidFill>
              </a:defRPr>
            </a:lvl1pPr>
          </a:lstStyle>
          <a:p>
            <a:fld id="{1E6235D0-FF99-C045-995D-75C61122D1C1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624000" y="6646956"/>
            <a:ext cx="960000" cy="211045"/>
          </a:xfrm>
          <a:prstGeom prst="rect">
            <a:avLst/>
          </a:prstGeom>
        </p:spPr>
        <p:txBody>
          <a:bodyPr vert="horz" lIns="0" tIns="0" rIns="91440" bIns="45720" rtlCol="0" anchor="ctr"/>
          <a:lstStyle>
            <a:lvl1pPr algn="l">
              <a:defRPr lang="de-DE" sz="1000" kern="1200" smtClean="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0F4A2C6-CB6B-4C76-930D-5D1F3E4D542C}" type="datetime1">
              <a:rPr lang="de-DE" smtClean="0"/>
              <a:t>27.10.26</a:t>
            </a:fld>
            <a:endParaRPr lang="hr-HR"/>
          </a:p>
        </p:txBody>
      </p:sp>
      <p:sp>
        <p:nvSpPr>
          <p:cNvPr id="2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718423" y="6646956"/>
            <a:ext cx="7933580" cy="211045"/>
          </a:xfrm>
          <a:prstGeom prst="rect">
            <a:avLst/>
          </a:prstGeom>
        </p:spPr>
        <p:txBody>
          <a:bodyPr lIns="0" tIns="0" anchor="t"/>
          <a:lstStyle>
            <a:lvl1pPr>
              <a:defRPr sz="1000">
                <a:solidFill>
                  <a:srgbClr val="002D58"/>
                </a:solidFill>
              </a:defRPr>
            </a:lvl1pPr>
          </a:lstStyle>
          <a:p>
            <a:r>
              <a:rPr lang="de-DE"/>
              <a:t>LeihSy der Hochschule Esslingen</a:t>
            </a:r>
          </a:p>
        </p:txBody>
      </p:sp>
      <p:sp>
        <p:nvSpPr>
          <p:cNvPr id="30" name="Textplatzhalter 29"/>
          <p:cNvSpPr>
            <a:spLocks noGrp="1"/>
          </p:cNvSpPr>
          <p:nvPr>
            <p:ph type="body" idx="1"/>
          </p:nvPr>
        </p:nvSpPr>
        <p:spPr>
          <a:xfrm>
            <a:off x="624417" y="1670049"/>
            <a:ext cx="8623071" cy="4624555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2"/>
            <a:r>
              <a:rPr lang="de-DE"/>
              <a:t>Zweite Ebene</a:t>
            </a:r>
          </a:p>
          <a:p>
            <a:pPr lvl="3"/>
            <a:r>
              <a:rPr lang="de-DE"/>
              <a:t>Dritte Ebene</a:t>
            </a:r>
          </a:p>
          <a:p>
            <a:pPr lvl="4"/>
            <a:r>
              <a:rPr lang="de-DE"/>
              <a:t>Vierte Ebene</a:t>
            </a:r>
          </a:p>
          <a:p>
            <a:pPr lvl="5"/>
            <a:r>
              <a:rPr lang="de-DE"/>
              <a:t>Fünfte Ebene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383EC97-862D-124A-A9AF-50EB6DBD3940}"/>
              </a:ext>
            </a:extLst>
          </p:cNvPr>
          <p:cNvSpPr txBox="1"/>
          <p:nvPr userDrawn="1"/>
        </p:nvSpPr>
        <p:spPr>
          <a:xfrm>
            <a:off x="11706056" y="6294604"/>
            <a:ext cx="248877" cy="288595"/>
          </a:xfrm>
          <a:prstGeom prst="rect">
            <a:avLst/>
          </a:prstGeom>
          <a:noFill/>
        </p:spPr>
        <p:txBody>
          <a:bodyPr vert="horz" wrap="square" lIns="0" tIns="62400" rIns="121920" bIns="60960" rtlCol="0" anchor="t">
            <a:noAutofit/>
          </a:bodyPr>
          <a:lstStyle/>
          <a:p>
            <a:pPr>
              <a:lnSpc>
                <a:spcPts val="1333"/>
              </a:lnSpc>
            </a:pPr>
            <a:endParaRPr lang="de-DE" sz="2667" cap="none" baseline="0"/>
          </a:p>
        </p:txBody>
      </p:sp>
    </p:spTree>
    <p:extLst>
      <p:ext uri="{BB962C8B-B14F-4D97-AF65-F5344CB8AC3E}">
        <p14:creationId xmlns:p14="http://schemas.microsoft.com/office/powerpoint/2010/main" val="105154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 spd="slow">
    <p:wipe/>
  </p:transition>
  <p:hf sldNum="0" hdr="0"/>
  <p:txStyles>
    <p:titleStyle>
      <a:lvl1pPr algn="l" defTabSz="457189" rtl="0" eaLnBrk="1" latinLnBrk="0" hangingPunct="1">
        <a:lnSpc>
          <a:spcPts val="1300"/>
        </a:lnSpc>
        <a:spcBef>
          <a:spcPct val="0"/>
        </a:spcBef>
        <a:buNone/>
        <a:defRPr sz="2400" kern="1200" cap="all" baseline="0">
          <a:solidFill>
            <a:srgbClr val="D7193C"/>
          </a:solidFill>
          <a:latin typeface="+mj-lt"/>
          <a:ea typeface="+mj-ea"/>
          <a:cs typeface="+mj-cs"/>
        </a:defRPr>
      </a:lvl1pPr>
    </p:titleStyle>
    <p:bodyStyle>
      <a:lvl1pPr marL="380990" indent="-380990" algn="l" defTabSz="457189" rtl="0" eaLnBrk="1" latinLnBrk="0" hangingPunct="1">
        <a:lnSpc>
          <a:spcPct val="100000"/>
        </a:lnSpc>
        <a:spcBef>
          <a:spcPts val="0"/>
        </a:spcBef>
        <a:buSzPct val="90000"/>
        <a:buFont typeface="Calibri" panose="020F0502020204030204" pitchFamily="34" charset="0"/>
        <a:buChar char="l"/>
        <a:defRPr sz="2200" kern="1200">
          <a:solidFill>
            <a:srgbClr val="002D58"/>
          </a:solidFill>
          <a:latin typeface="+mn-lt"/>
          <a:ea typeface="+mn-ea"/>
          <a:cs typeface="+mn-cs"/>
        </a:defRPr>
      </a:lvl1pPr>
      <a:lvl2pPr marL="342891" indent="-342891" algn="l" defTabSz="457189" rtl="0" eaLnBrk="1" latinLnBrk="0" hangingPunct="1">
        <a:lnSpc>
          <a:spcPct val="100000"/>
        </a:lnSpc>
        <a:spcBef>
          <a:spcPts val="0"/>
        </a:spcBef>
        <a:buSzPct val="90000"/>
        <a:buFont typeface="Calibri" panose="020F0502020204030204" pitchFamily="34" charset="0"/>
        <a:buChar char="l"/>
        <a:defRPr sz="1800" kern="1200">
          <a:solidFill>
            <a:srgbClr val="002D58"/>
          </a:solidFill>
          <a:latin typeface="+mn-lt"/>
          <a:ea typeface="+mn-ea"/>
          <a:cs typeface="+mn-cs"/>
        </a:defRPr>
      </a:lvl2pPr>
      <a:lvl3pPr marL="714357" indent="-357179" algn="l" defTabSz="457189" rtl="0" eaLnBrk="1" latinLnBrk="0" hangingPunct="1">
        <a:lnSpc>
          <a:spcPct val="100000"/>
        </a:lnSpc>
        <a:spcBef>
          <a:spcPts val="0"/>
        </a:spcBef>
        <a:buSzPct val="90000"/>
        <a:buFont typeface="Calibri" panose="020F0502020204030204" pitchFamily="34" charset="0"/>
        <a:buChar char="l"/>
        <a:defRPr sz="1800" kern="1200">
          <a:solidFill>
            <a:srgbClr val="002D58"/>
          </a:solidFill>
          <a:latin typeface="+mn-lt"/>
          <a:ea typeface="+mn-ea"/>
          <a:cs typeface="+mn-cs"/>
        </a:defRPr>
      </a:lvl3pPr>
      <a:lvl4pPr marL="1073124" indent="-358766" algn="l" defTabSz="457189" rtl="0" eaLnBrk="1" latinLnBrk="0" hangingPunct="1">
        <a:lnSpc>
          <a:spcPct val="100000"/>
        </a:lnSpc>
        <a:spcBef>
          <a:spcPts val="0"/>
        </a:spcBef>
        <a:buSzPct val="90000"/>
        <a:buFont typeface="Calibri" panose="020F0502020204030204" pitchFamily="34" charset="0"/>
        <a:buChar char="l"/>
        <a:defRPr sz="1800" kern="1200">
          <a:solidFill>
            <a:srgbClr val="002D58"/>
          </a:solidFill>
          <a:latin typeface="+mn-lt"/>
          <a:ea typeface="+mn-ea"/>
          <a:cs typeface="+mn-cs"/>
        </a:defRPr>
      </a:lvl4pPr>
      <a:lvl5pPr marL="1439827" indent="-366704" algn="l" defTabSz="457189" rtl="0" eaLnBrk="1" latinLnBrk="0" hangingPunct="1">
        <a:lnSpc>
          <a:spcPct val="100000"/>
        </a:lnSpc>
        <a:spcBef>
          <a:spcPts val="0"/>
        </a:spcBef>
        <a:buSzPct val="90000"/>
        <a:buFont typeface="Calibri" panose="020F0502020204030204" pitchFamily="34" charset="0"/>
        <a:buChar char="l"/>
        <a:defRPr sz="1800" kern="1200">
          <a:solidFill>
            <a:srgbClr val="002D58"/>
          </a:solidFill>
          <a:latin typeface="+mn-lt"/>
          <a:ea typeface="+mn-ea"/>
          <a:cs typeface="+mn-cs"/>
        </a:defRPr>
      </a:lvl5pPr>
      <a:lvl6pPr marL="1792773" indent="-355591" algn="l" defTabSz="336542" rtl="0" eaLnBrk="1" latinLnBrk="0" hangingPunct="1">
        <a:spcBef>
          <a:spcPts val="0"/>
        </a:spcBef>
        <a:buSzPct val="90000"/>
        <a:buFont typeface="Calibri" panose="020F0502020204030204" pitchFamily="34" charset="0"/>
        <a:buChar char="l"/>
        <a:tabLst>
          <a:tab pos="1792773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0">
          <p15:clr>
            <a:srgbClr val="F26B43"/>
          </p15:clr>
        </p15:guide>
        <p15:guide id="2" pos="295">
          <p15:clr>
            <a:srgbClr val="F26B43"/>
          </p15:clr>
        </p15:guide>
        <p15:guide id="5" pos="4740">
          <p15:clr>
            <a:srgbClr val="F26B43"/>
          </p15:clr>
        </p15:guide>
        <p15:guide id="7" pos="5647">
          <p15:clr>
            <a:srgbClr val="F26B43"/>
          </p15:clr>
        </p15:guide>
        <p15:guide id="8" orient="horz" pos="2981">
          <p15:clr>
            <a:srgbClr val="F26B43"/>
          </p15:clr>
        </p15:guide>
        <p15:guide id="9" pos="5519">
          <p15:clr>
            <a:srgbClr val="F26B43"/>
          </p15:clr>
        </p15:guide>
        <p15:guide id="10" orient="horz" pos="3117">
          <p15:clr>
            <a:srgbClr val="F26B43"/>
          </p15:clr>
        </p15:guide>
        <p15:guide id="11" pos="4377">
          <p15:clr>
            <a:srgbClr val="F26B43"/>
          </p15:clr>
        </p15:guide>
        <p15:guide id="12" pos="4490">
          <p15:clr>
            <a:srgbClr val="F26B43"/>
          </p15:clr>
        </p15:guide>
        <p15:guide id="13" orient="horz" pos="69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8.wdp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figma.com/make/1AZNUv3UXnG95ia6faE5eR/Kalender-Webapplikation-erstellen?t=oZ6QitYKeaTORc9j-20&amp;fullscreen=1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platzhalter 6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7"/>
          <a:stretch/>
        </p:blipFill>
        <p:spPr>
          <a:xfrm>
            <a:off x="1" y="1"/>
            <a:ext cx="11952817" cy="6858000"/>
          </a:xfrm>
        </p:spPr>
      </p:pic>
      <p:sp>
        <p:nvSpPr>
          <p:cNvPr id="12" name="Foliennummernplatzhalter 5"/>
          <p:cNvSpPr txBox="1">
            <a:spLocks/>
          </p:cNvSpPr>
          <p:nvPr/>
        </p:nvSpPr>
        <p:spPr>
          <a:xfrm>
            <a:off x="9912661" y="6694284"/>
            <a:ext cx="575287" cy="211045"/>
          </a:xfrm>
          <a:prstGeom prst="rect">
            <a:avLst/>
          </a:prstGeom>
        </p:spPr>
        <p:txBody>
          <a:bodyPr tIns="0" anchor="t"/>
          <a:lstStyle>
            <a:defPPr>
              <a:defRPr lang="de-DE"/>
            </a:defPPr>
            <a:lvl1pPr marL="0" algn="r" defTabSz="457200" rtl="0" eaLnBrk="1" latinLnBrk="0" hangingPunct="1">
              <a:defRPr sz="10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/>
            <a:endParaRPr lang="de-DE" noProof="0">
              <a:latin typeface="Calibri"/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426426" y="3766903"/>
            <a:ext cx="8021365" cy="2711100"/>
          </a:xfrm>
          <a:solidFill>
            <a:srgbClr val="C00000">
              <a:alpha val="85000"/>
            </a:srgbClr>
          </a:solidFill>
        </p:spPr>
        <p:txBody>
          <a:bodyPr/>
          <a:lstStyle/>
          <a:p>
            <a:r>
              <a:rPr lang="de-DE" sz="2000" spc="100" noProof="0">
                <a:solidFill>
                  <a:schemeClr val="bg1"/>
                </a:solidFill>
                <a:latin typeface="Calibri Light"/>
                <a:ea typeface="+mn-ea"/>
                <a:cs typeface="+mn-cs"/>
              </a:rPr>
              <a:t>Osman Sallamaci, Tommy Luu, Dominique Sluga</a:t>
            </a:r>
            <a:br>
              <a:rPr lang="de-DE" sz="2000" spc="100" noProof="0">
                <a:latin typeface="Calibri Light"/>
                <a:ea typeface="+mn-ea"/>
                <a:cs typeface="+mn-cs"/>
              </a:rPr>
            </a:br>
            <a:br>
              <a:rPr lang="de-DE" spc="100" noProof="0">
                <a:latin typeface="Calibri Light"/>
              </a:rPr>
            </a:br>
            <a:r>
              <a:rPr lang="de-DE" sz="5300" noProof="0" err="1">
                <a:solidFill>
                  <a:schemeClr val="bg1"/>
                </a:solidFill>
                <a:cs typeface="Calibri"/>
              </a:rPr>
              <a:t>ProVaCaSy</a:t>
            </a:r>
            <a:r>
              <a:rPr lang="de-DE" sz="5300" noProof="0">
                <a:solidFill>
                  <a:schemeClr val="bg1"/>
                </a:solidFill>
                <a:cs typeface="Calibri"/>
              </a:rPr>
              <a:t> – </a:t>
            </a:r>
            <a:r>
              <a:rPr lang="de-DE" sz="5400" u="sng">
                <a:solidFill>
                  <a:schemeClr val="bg1"/>
                </a:solidFill>
              </a:rPr>
              <a:t>Pro</a:t>
            </a:r>
            <a:r>
              <a:rPr lang="de-DE" sz="5400" b="0">
                <a:solidFill>
                  <a:schemeClr val="bg1"/>
                </a:solidFill>
              </a:rPr>
              <a:t>fessoren </a:t>
            </a:r>
            <a:r>
              <a:rPr lang="de-DE" sz="5400" u="sng" err="1">
                <a:solidFill>
                  <a:schemeClr val="bg1"/>
                </a:solidFill>
              </a:rPr>
              <a:t>Va</a:t>
            </a:r>
            <a:r>
              <a:rPr lang="de-DE" sz="5400" b="0" err="1">
                <a:solidFill>
                  <a:schemeClr val="bg1"/>
                </a:solidFill>
              </a:rPr>
              <a:t>cation</a:t>
            </a:r>
            <a:r>
              <a:rPr lang="de-DE" sz="5400" b="0">
                <a:solidFill>
                  <a:schemeClr val="bg1"/>
                </a:solidFill>
              </a:rPr>
              <a:t> </a:t>
            </a:r>
            <a:r>
              <a:rPr lang="de-DE" sz="5400" u="sng" err="1">
                <a:solidFill>
                  <a:schemeClr val="bg1"/>
                </a:solidFill>
              </a:rPr>
              <a:t>Ca</a:t>
            </a:r>
            <a:r>
              <a:rPr lang="de-DE" sz="5400" b="0" err="1">
                <a:solidFill>
                  <a:schemeClr val="bg1"/>
                </a:solidFill>
              </a:rPr>
              <a:t>lender</a:t>
            </a:r>
            <a:r>
              <a:rPr lang="de-DE" sz="5400" b="0">
                <a:solidFill>
                  <a:schemeClr val="bg1"/>
                </a:solidFill>
              </a:rPr>
              <a:t> </a:t>
            </a:r>
            <a:r>
              <a:rPr lang="de-DE" sz="5400" u="sng">
                <a:solidFill>
                  <a:schemeClr val="bg1"/>
                </a:solidFill>
              </a:rPr>
              <a:t>Sy</a:t>
            </a:r>
            <a:r>
              <a:rPr lang="de-DE" sz="5400" b="0">
                <a:solidFill>
                  <a:schemeClr val="bg1"/>
                </a:solidFill>
              </a:rPr>
              <a:t>stem</a:t>
            </a:r>
            <a:br>
              <a:rPr lang="de-DE" sz="5300" noProof="0">
                <a:latin typeface="Calibri"/>
                <a:ea typeface="+mn-ea"/>
                <a:cs typeface="Calibri"/>
              </a:rPr>
            </a:br>
            <a:endParaRPr lang="de-DE" sz="2000" spc="100" noProof="0">
              <a:latin typeface="Calibri Light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61FE4E7-5D90-464E-94A6-46D2726FD95E}"/>
              </a:ext>
            </a:extLst>
          </p:cNvPr>
          <p:cNvSpPr txBox="1"/>
          <p:nvPr/>
        </p:nvSpPr>
        <p:spPr>
          <a:xfrm>
            <a:off x="12337773" y="5155096"/>
            <a:ext cx="0" cy="0"/>
          </a:xfrm>
          <a:prstGeom prst="rect">
            <a:avLst/>
          </a:prstGeom>
        </p:spPr>
        <p:txBody>
          <a:bodyPr vert="horz" wrap="none" lIns="0" tIns="60960" rIns="121920" bIns="60960" rtlCol="0">
            <a:normAutofit fontScale="25000" lnSpcReduction="20000"/>
          </a:bodyPr>
          <a:lstStyle/>
          <a:p>
            <a:pPr defTabSz="609585"/>
            <a:endParaRPr lang="de-DE" sz="2400" noProof="0">
              <a:solidFill>
                <a:srgbClr val="002D58"/>
              </a:solidFill>
              <a:latin typeface="Calibri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3CF64CFF-F137-0B4F-8E9F-18A136F98FDA}"/>
              </a:ext>
            </a:extLst>
          </p:cNvPr>
          <p:cNvSpPr txBox="1"/>
          <p:nvPr/>
        </p:nvSpPr>
        <p:spPr>
          <a:xfrm>
            <a:off x="4562764" y="-1311564"/>
            <a:ext cx="0" cy="0"/>
          </a:xfrm>
          <a:prstGeom prst="rect">
            <a:avLst/>
          </a:prstGeom>
        </p:spPr>
        <p:txBody>
          <a:bodyPr vert="horz" wrap="none" lIns="0" tIns="60960" rIns="121920" bIns="60960" rtlCol="0">
            <a:normAutofit fontScale="25000" lnSpcReduction="20000"/>
          </a:bodyPr>
          <a:lstStyle/>
          <a:p>
            <a:pPr defTabSz="609585"/>
            <a:endParaRPr lang="de-DE" sz="2400" noProof="0">
              <a:solidFill>
                <a:srgbClr val="002D58"/>
              </a:solidFill>
              <a:latin typeface="Calibr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52C1212-A398-8143-BAE8-0E8BB3C35BF8}"/>
              </a:ext>
            </a:extLst>
          </p:cNvPr>
          <p:cNvSpPr txBox="1"/>
          <p:nvPr/>
        </p:nvSpPr>
        <p:spPr>
          <a:xfrm>
            <a:off x="-555172" y="3907972"/>
            <a:ext cx="0" cy="0"/>
          </a:xfrm>
          <a:prstGeom prst="rect">
            <a:avLst/>
          </a:prstGeom>
        </p:spPr>
        <p:txBody>
          <a:bodyPr vert="horz" wrap="none" lIns="0" tIns="60960" rIns="121920" bIns="60960" rtlCol="0">
            <a:normAutofit fontScale="25000" lnSpcReduction="20000"/>
          </a:bodyPr>
          <a:lstStyle/>
          <a:p>
            <a:pPr defTabSz="609585"/>
            <a:endParaRPr lang="de-DE" sz="2400" noProof="0">
              <a:solidFill>
                <a:srgbClr val="002D58"/>
              </a:solidFill>
              <a:latin typeface="Calibri"/>
            </a:endParaRPr>
          </a:p>
        </p:txBody>
      </p:sp>
      <p:pic>
        <p:nvPicPr>
          <p:cNvPr id="8" name="Grafik 4" descr="Ein Bild, das Schrift, Grafiken, Logo, Text enthält.  KI-generierte Inhalte können fehlerhaft sein.">
            <a:extLst>
              <a:ext uri="{FF2B5EF4-FFF2-40B4-BE49-F238E27FC236}">
                <a16:creationId xmlns:a16="http://schemas.microsoft.com/office/drawing/2014/main" id="{1DD3FEB4-4EB4-B565-DE8B-9EE663A22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7813" y="400287"/>
            <a:ext cx="1754755" cy="452512"/>
          </a:xfrm>
          <a:prstGeom prst="rect">
            <a:avLst/>
          </a:prstGeom>
        </p:spPr>
      </p:pic>
      <p:pic>
        <p:nvPicPr>
          <p:cNvPr id="5" name="Grafik 4" descr="Ein Bild, das Text, Schrift, Grafiken, Logo enthält.  KI-generierte Inhalte können fehlerhaft sein.">
            <a:extLst>
              <a:ext uri="{FF2B5EF4-FFF2-40B4-BE49-F238E27FC236}">
                <a16:creationId xmlns:a16="http://schemas.microsoft.com/office/drawing/2014/main" id="{C6503577-9C35-E612-9CAB-A4ADC70553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265" y="843299"/>
            <a:ext cx="1753377" cy="64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6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977945-5CF0-CD79-4877-EB58421263A9}"/>
              </a:ext>
            </a:extLst>
          </p:cNvPr>
          <p:cNvSpPr/>
          <p:nvPr/>
        </p:nvSpPr>
        <p:spPr>
          <a:xfrm>
            <a:off x="8002149" y="3979652"/>
            <a:ext cx="3271520" cy="2282715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E5B1E2-87A9-5FD7-43CB-437CC915C351}"/>
              </a:ext>
            </a:extLst>
          </p:cNvPr>
          <p:cNvSpPr/>
          <p:nvPr/>
        </p:nvSpPr>
        <p:spPr>
          <a:xfrm>
            <a:off x="777605" y="3979654"/>
            <a:ext cx="3277616" cy="2282714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194B-E4BD-4947-6CFF-BDEBB73DA2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48E32DCD-E2C4-72B9-92D4-B3D16C1DDF56}"/>
              </a:ext>
            </a:extLst>
          </p:cNvPr>
          <p:cNvSpPr txBox="1">
            <a:spLocks/>
          </p:cNvSpPr>
          <p:nvPr/>
        </p:nvSpPr>
        <p:spPr>
          <a:xfrm>
            <a:off x="609603" y="382827"/>
            <a:ext cx="9076264" cy="661308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spAutoFit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  <a:ea typeface="Calibri"/>
                <a:cs typeface="Calibri"/>
              </a:rPr>
              <a:t>Aktueller Stand: Outlook und Handarbeit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374F3D-B181-F3A2-AE0E-0FF9D7293A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39" r="757" b="46417"/>
          <a:stretch>
            <a:fillRect/>
          </a:stretch>
        </p:blipFill>
        <p:spPr>
          <a:xfrm>
            <a:off x="2029943" y="1127760"/>
            <a:ext cx="7315716" cy="267499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884664B-D701-6647-A5CF-F15EB8E3CB07}"/>
              </a:ext>
            </a:extLst>
          </p:cNvPr>
          <p:cNvSpPr/>
          <p:nvPr/>
        </p:nvSpPr>
        <p:spPr>
          <a:xfrm>
            <a:off x="4392925" y="3979653"/>
            <a:ext cx="3271520" cy="2282714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CAF8E1-F382-82C9-769E-B704043F6983}"/>
              </a:ext>
            </a:extLst>
          </p:cNvPr>
          <p:cNvSpPr txBox="1"/>
          <p:nvPr/>
        </p:nvSpPr>
        <p:spPr>
          <a:xfrm>
            <a:off x="1120788" y="4696144"/>
            <a:ext cx="2757339" cy="270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000"/>
              </a:lnSpc>
            </a:pPr>
            <a:r>
              <a:rPr lang="de-DE" sz="2400" b="1" noProof="0">
                <a:ea typeface="Calibri"/>
                <a:cs typeface="Calibri"/>
              </a:rPr>
              <a:t>Dezentrale Pflege</a:t>
            </a:r>
            <a:endParaRPr lang="de-DE" sz="2400" b="1" cap="none" baseline="0" noProof="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85E65-3F3D-C50F-E45A-B0215714ED3D}"/>
              </a:ext>
            </a:extLst>
          </p:cNvPr>
          <p:cNvSpPr txBox="1"/>
          <p:nvPr/>
        </p:nvSpPr>
        <p:spPr>
          <a:xfrm>
            <a:off x="8406408" y="4696142"/>
            <a:ext cx="2757339" cy="270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000"/>
              </a:lnSpc>
            </a:pPr>
            <a:r>
              <a:rPr lang="de-DE" sz="2400" b="1" noProof="0">
                <a:ea typeface="Calibri"/>
                <a:cs typeface="Calibri"/>
              </a:rPr>
              <a:t>Fehlende Übersicht</a:t>
            </a:r>
            <a:endParaRPr lang="de-DE" sz="2000" noProof="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064FD7-9603-F1FE-026B-F9C252EA9ED4}"/>
              </a:ext>
            </a:extLst>
          </p:cNvPr>
          <p:cNvSpPr txBox="1"/>
          <p:nvPr/>
        </p:nvSpPr>
        <p:spPr>
          <a:xfrm>
            <a:off x="4686509" y="4696142"/>
            <a:ext cx="2757339" cy="2708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000"/>
              </a:lnSpc>
            </a:pPr>
            <a:r>
              <a:rPr lang="de-DE" sz="2400" b="1" noProof="0">
                <a:ea typeface="Calibri"/>
                <a:cs typeface="Calibri"/>
              </a:rPr>
              <a:t>Fehleranfälligkeit</a:t>
            </a:r>
            <a:endParaRPr lang="de-DE" sz="2000" noProof="0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208C91-DA59-684F-6485-517D1F06B2AC}"/>
              </a:ext>
            </a:extLst>
          </p:cNvPr>
          <p:cNvSpPr txBox="1"/>
          <p:nvPr/>
        </p:nvSpPr>
        <p:spPr>
          <a:xfrm>
            <a:off x="1120788" y="4971439"/>
            <a:ext cx="2934429" cy="401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noProof="0">
                <a:ea typeface="Calibri"/>
                <a:cs typeface="Calibri"/>
              </a:rPr>
              <a:t>Isolierte Kalendereinträge</a:t>
            </a:r>
            <a:endParaRPr lang="de-DE" sz="2000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2EE82A-0130-6FB1-1081-F8DB65E3F71B}"/>
              </a:ext>
            </a:extLst>
          </p:cNvPr>
          <p:cNvSpPr txBox="1"/>
          <p:nvPr/>
        </p:nvSpPr>
        <p:spPr>
          <a:xfrm>
            <a:off x="4700861" y="4971437"/>
            <a:ext cx="2757339" cy="708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noProof="0">
                <a:ea typeface="Calibri"/>
                <a:cs typeface="Calibri"/>
              </a:rPr>
              <a:t>Gefahr von Doppelbuchungen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CE6739-2B2B-D6C0-BE68-19409ED5511F}"/>
              </a:ext>
            </a:extLst>
          </p:cNvPr>
          <p:cNvSpPr txBox="1"/>
          <p:nvPr/>
        </p:nvSpPr>
        <p:spPr>
          <a:xfrm>
            <a:off x="8406408" y="4971438"/>
            <a:ext cx="2655651" cy="708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noProof="0">
                <a:ea typeface="Calibri"/>
                <a:cs typeface="Calibri"/>
              </a:rPr>
              <a:t>Resturlaub nicht einsehbar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2BD82E7A-799F-8F63-6A74-49A606F2DE0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3682" y="4206659"/>
            <a:ext cx="296562" cy="3429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D1A9CBA5-269F-BF98-90AB-8041B9BEDDC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6509" y="4176183"/>
            <a:ext cx="342900" cy="342900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5218B3C9-4E92-AF86-2578-261947CEABB2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12200" y="4176183"/>
            <a:ext cx="417040" cy="342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C95663-FE9C-041F-97DD-D46DFE622647}"/>
              </a:ext>
            </a:extLst>
          </p:cNvPr>
          <p:cNvSpPr txBox="1"/>
          <p:nvPr/>
        </p:nvSpPr>
        <p:spPr>
          <a:xfrm>
            <a:off x="4210050" y="594995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de-DE" sz="2400" cap="none" baseline="0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D08F50-54D0-8E42-1F5A-7F6AD8D8AF36}"/>
              </a:ext>
            </a:extLst>
          </p:cNvPr>
          <p:cNvSpPr txBox="1"/>
          <p:nvPr/>
        </p:nvSpPr>
        <p:spPr>
          <a:xfrm>
            <a:off x="765243" y="3690026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de-DE" sz="2000" cap="none" baseline="0" noProof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A8F9EB0C-89DC-5BB8-F742-36758BB6CD2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718423" y="6646956"/>
            <a:ext cx="7933580" cy="211045"/>
          </a:xfrm>
        </p:spPr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6946D6A-9C5B-CCE9-137A-6B91B6EB2E3F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47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04B7B-4F05-3242-7C45-127C1B6AF8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B419D-65AB-7AC0-60E1-507528D3C5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7647430-1027-6620-13BA-9ACEAD02A340}"/>
              </a:ext>
            </a:extLst>
          </p:cNvPr>
          <p:cNvSpPr txBox="1">
            <a:spLocks/>
          </p:cNvSpPr>
          <p:nvPr/>
        </p:nvSpPr>
        <p:spPr>
          <a:xfrm>
            <a:off x="621792" y="2359152"/>
            <a:ext cx="5806440" cy="292608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0" rIns="73152" bIns="0" rtlCol="0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2700" b="1" noProof="0">
                <a:solidFill>
                  <a:srgbClr val="003663"/>
                </a:solidFill>
              </a:rPr>
              <a:t>Anforderungen an die Anwendung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High-Level-Architektur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Technologien &amp; Tech-Stack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Entwicklungsumgebung &amp; </a:t>
            </a:r>
            <a:r>
              <a:rPr lang="de-DE" sz="1900" b="0" noProof="0" err="1">
                <a:solidFill>
                  <a:srgbClr val="4F6576"/>
                </a:solidFill>
              </a:rPr>
              <a:t>Toolchain</a:t>
            </a:r>
            <a:endParaRPr lang="de-DE" sz="1900" noProof="0">
              <a:solidFill>
                <a:schemeClr val="tx1"/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Nutzerinteraktion &amp; UI Mockups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Teamzusammenarbeit: Methode, Rollen &amp; Tools</a:t>
            </a:r>
          </a:p>
          <a:p>
            <a:endParaRPr lang="de-DE" sz="2400" noProof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7D8C62B-9BC2-769A-0054-8FD4989DEDD2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0" name="Kalender Kopf Mo"/>
          <p:cNvSpPr txBox="1"/>
          <p:nvPr/>
        </p:nvSpPr>
        <p:spPr>
          <a:xfrm>
            <a:off x="700430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Mo</a:t>
            </a:r>
          </a:p>
        </p:txBody>
      </p:sp>
      <p:sp>
        <p:nvSpPr>
          <p:cNvPr id="11" name="Kalender Kopf Di"/>
          <p:cNvSpPr txBox="1"/>
          <p:nvPr/>
        </p:nvSpPr>
        <p:spPr>
          <a:xfrm>
            <a:off x="760780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Di</a:t>
            </a:r>
          </a:p>
        </p:txBody>
      </p:sp>
      <p:sp>
        <p:nvSpPr>
          <p:cNvPr id="12" name="Kalender Kopf Mi"/>
          <p:cNvSpPr txBox="1"/>
          <p:nvPr/>
        </p:nvSpPr>
        <p:spPr>
          <a:xfrm>
            <a:off x="8211312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Mi</a:t>
            </a:r>
          </a:p>
        </p:txBody>
      </p:sp>
      <p:sp>
        <p:nvSpPr>
          <p:cNvPr id="13" name="Kalender Kopf Do"/>
          <p:cNvSpPr txBox="1"/>
          <p:nvPr/>
        </p:nvSpPr>
        <p:spPr>
          <a:xfrm>
            <a:off x="8814816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Do</a:t>
            </a:r>
          </a:p>
        </p:txBody>
      </p:sp>
      <p:sp>
        <p:nvSpPr>
          <p:cNvPr id="14" name="Kalender Kopf Fr"/>
          <p:cNvSpPr txBox="1"/>
          <p:nvPr/>
        </p:nvSpPr>
        <p:spPr>
          <a:xfrm>
            <a:off x="9418320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Fr</a:t>
            </a:r>
          </a:p>
        </p:txBody>
      </p:sp>
      <p:sp>
        <p:nvSpPr>
          <p:cNvPr id="15" name="Kalender Kopf Sa"/>
          <p:cNvSpPr txBox="1"/>
          <p:nvPr/>
        </p:nvSpPr>
        <p:spPr>
          <a:xfrm>
            <a:off x="1002182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Sa</a:t>
            </a:r>
          </a:p>
        </p:txBody>
      </p:sp>
      <p:sp>
        <p:nvSpPr>
          <p:cNvPr id="16" name="Kalender Kopf So"/>
          <p:cNvSpPr txBox="1"/>
          <p:nvPr/>
        </p:nvSpPr>
        <p:spPr>
          <a:xfrm>
            <a:off x="1062532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So</a:t>
            </a:r>
          </a:p>
        </p:txBody>
      </p:sp>
      <p:sp>
        <p:nvSpPr>
          <p:cNvPr id="17" name="Kalender Woche 1 Tag 1"/>
          <p:cNvSpPr/>
          <p:nvPr/>
        </p:nvSpPr>
        <p:spPr>
          <a:xfrm>
            <a:off x="7004304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Kalender Woche 1 Tag 2"/>
          <p:cNvSpPr/>
          <p:nvPr/>
        </p:nvSpPr>
        <p:spPr>
          <a:xfrm>
            <a:off x="7607808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Kalender Woche 1 Tag 3"/>
          <p:cNvSpPr/>
          <p:nvPr/>
        </p:nvSpPr>
        <p:spPr>
          <a:xfrm>
            <a:off x="8211312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Kalender Woche 1 Tag 4"/>
          <p:cNvSpPr/>
          <p:nvPr/>
        </p:nvSpPr>
        <p:spPr>
          <a:xfrm>
            <a:off x="8814816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Kalender Woche 1 Tag 5"/>
          <p:cNvSpPr/>
          <p:nvPr/>
        </p:nvSpPr>
        <p:spPr>
          <a:xfrm>
            <a:off x="9418320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Kalender Woche 1 Tag 6"/>
          <p:cNvSpPr/>
          <p:nvPr/>
        </p:nvSpPr>
        <p:spPr>
          <a:xfrm>
            <a:off x="10021824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Kalender Woche 1 Tag 7"/>
          <p:cNvSpPr/>
          <p:nvPr/>
        </p:nvSpPr>
        <p:spPr>
          <a:xfrm>
            <a:off x="10625328" y="202996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Kalender Woche 2 Tag 1"/>
          <p:cNvSpPr/>
          <p:nvPr/>
        </p:nvSpPr>
        <p:spPr>
          <a:xfrm>
            <a:off x="7004304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Kalender Woche 2 Tag 2"/>
          <p:cNvSpPr/>
          <p:nvPr/>
        </p:nvSpPr>
        <p:spPr>
          <a:xfrm>
            <a:off x="7607808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Kalender Woche 2 Tag 3"/>
          <p:cNvSpPr/>
          <p:nvPr/>
        </p:nvSpPr>
        <p:spPr>
          <a:xfrm>
            <a:off x="8211312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Kalender Woche 2 Tag 4"/>
          <p:cNvSpPr/>
          <p:nvPr/>
        </p:nvSpPr>
        <p:spPr>
          <a:xfrm>
            <a:off x="8814816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Kalender Woche 2 Tag 5"/>
          <p:cNvSpPr/>
          <p:nvPr/>
        </p:nvSpPr>
        <p:spPr>
          <a:xfrm>
            <a:off x="9418320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Kalender Woche 2 Tag 6"/>
          <p:cNvSpPr/>
          <p:nvPr/>
        </p:nvSpPr>
        <p:spPr>
          <a:xfrm>
            <a:off x="10021824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Kalender Woche 2 Tag 7"/>
          <p:cNvSpPr/>
          <p:nvPr/>
        </p:nvSpPr>
        <p:spPr>
          <a:xfrm>
            <a:off x="10625328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Kalender Woche 3 Tag 1"/>
          <p:cNvSpPr/>
          <p:nvPr/>
        </p:nvSpPr>
        <p:spPr>
          <a:xfrm>
            <a:off x="7004304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Kalender Woche 3 Tag 2"/>
          <p:cNvSpPr/>
          <p:nvPr/>
        </p:nvSpPr>
        <p:spPr>
          <a:xfrm>
            <a:off x="7607808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Kalender Woche 3 Tag 3"/>
          <p:cNvSpPr/>
          <p:nvPr/>
        </p:nvSpPr>
        <p:spPr>
          <a:xfrm>
            <a:off x="8211312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Kalender Woche 3 Tag 4"/>
          <p:cNvSpPr/>
          <p:nvPr/>
        </p:nvSpPr>
        <p:spPr>
          <a:xfrm>
            <a:off x="8814816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Kalender Woche 3 Tag 5"/>
          <p:cNvSpPr/>
          <p:nvPr/>
        </p:nvSpPr>
        <p:spPr>
          <a:xfrm>
            <a:off x="9418320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Kalender Woche 3 Tag 6"/>
          <p:cNvSpPr/>
          <p:nvPr/>
        </p:nvSpPr>
        <p:spPr>
          <a:xfrm>
            <a:off x="10021824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Kalender Woche 3 Tag 7"/>
          <p:cNvSpPr/>
          <p:nvPr/>
        </p:nvSpPr>
        <p:spPr>
          <a:xfrm>
            <a:off x="10625328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Kalender Woche 4 Tag 1"/>
          <p:cNvSpPr/>
          <p:nvPr/>
        </p:nvSpPr>
        <p:spPr>
          <a:xfrm>
            <a:off x="7004304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Kalender Woche 4 Tag 2"/>
          <p:cNvSpPr/>
          <p:nvPr/>
        </p:nvSpPr>
        <p:spPr>
          <a:xfrm>
            <a:off x="7607808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Kalender Woche 4 Tag 3"/>
          <p:cNvSpPr/>
          <p:nvPr/>
        </p:nvSpPr>
        <p:spPr>
          <a:xfrm>
            <a:off x="8211312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Kalender Woche 4 Tag 4"/>
          <p:cNvSpPr/>
          <p:nvPr/>
        </p:nvSpPr>
        <p:spPr>
          <a:xfrm>
            <a:off x="8814816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Kalender Woche 4 Tag 5"/>
          <p:cNvSpPr/>
          <p:nvPr/>
        </p:nvSpPr>
        <p:spPr>
          <a:xfrm>
            <a:off x="9418320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Kalender Woche 4 Tag 6"/>
          <p:cNvSpPr/>
          <p:nvPr/>
        </p:nvSpPr>
        <p:spPr>
          <a:xfrm>
            <a:off x="10021824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Kalender Woche 4 Tag 7"/>
          <p:cNvSpPr/>
          <p:nvPr/>
        </p:nvSpPr>
        <p:spPr>
          <a:xfrm>
            <a:off x="10625328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Kalender Woche 5 Tag 1"/>
          <p:cNvSpPr/>
          <p:nvPr/>
        </p:nvSpPr>
        <p:spPr>
          <a:xfrm>
            <a:off x="7004304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Kalender Woche 5 Tag 2"/>
          <p:cNvSpPr/>
          <p:nvPr/>
        </p:nvSpPr>
        <p:spPr>
          <a:xfrm>
            <a:off x="7607808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Kalender Woche 5 Tag 3"/>
          <p:cNvSpPr/>
          <p:nvPr/>
        </p:nvSpPr>
        <p:spPr>
          <a:xfrm>
            <a:off x="8211312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Kalender Woche 5 Tag 4"/>
          <p:cNvSpPr/>
          <p:nvPr/>
        </p:nvSpPr>
        <p:spPr>
          <a:xfrm>
            <a:off x="8814816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Kalender Woche 5 Tag 5"/>
          <p:cNvSpPr/>
          <p:nvPr/>
        </p:nvSpPr>
        <p:spPr>
          <a:xfrm>
            <a:off x="9418320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Kalender Woche 5 Tag 6"/>
          <p:cNvSpPr/>
          <p:nvPr/>
        </p:nvSpPr>
        <p:spPr>
          <a:xfrm>
            <a:off x="10021824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Kalender Woche 5 Tag 7"/>
          <p:cNvSpPr/>
          <p:nvPr/>
        </p:nvSpPr>
        <p:spPr>
          <a:xfrm>
            <a:off x="10625328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Kalender Woche 6 Tag 1"/>
          <p:cNvSpPr/>
          <p:nvPr/>
        </p:nvSpPr>
        <p:spPr>
          <a:xfrm>
            <a:off x="7004304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Kalender Woche 6 Tag 2"/>
          <p:cNvSpPr/>
          <p:nvPr/>
        </p:nvSpPr>
        <p:spPr>
          <a:xfrm>
            <a:off x="7607808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Kalender Woche 6 Tag 3"/>
          <p:cNvSpPr/>
          <p:nvPr/>
        </p:nvSpPr>
        <p:spPr>
          <a:xfrm>
            <a:off x="8211312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Kalender Woche 6 Tag 4"/>
          <p:cNvSpPr/>
          <p:nvPr/>
        </p:nvSpPr>
        <p:spPr>
          <a:xfrm>
            <a:off x="8814816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Kalender Woche 6 Tag 5"/>
          <p:cNvSpPr/>
          <p:nvPr/>
        </p:nvSpPr>
        <p:spPr>
          <a:xfrm>
            <a:off x="9418320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Kalender Woche 6 Tag 6"/>
          <p:cNvSpPr/>
          <p:nvPr/>
        </p:nvSpPr>
        <p:spPr>
          <a:xfrm>
            <a:off x="10021824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Kalender Woche 6 Tag 7"/>
          <p:cNvSpPr/>
          <p:nvPr/>
        </p:nvSpPr>
        <p:spPr>
          <a:xfrm>
            <a:off x="10625328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013F0AF5-C92C-878D-37B6-C640A28C8191}"/>
              </a:ext>
            </a:extLst>
          </p:cNvPr>
          <p:cNvSpPr txBox="1">
            <a:spLocks/>
          </p:cNvSpPr>
          <p:nvPr/>
        </p:nvSpPr>
        <p:spPr>
          <a:xfrm>
            <a:off x="621792" y="1746504"/>
            <a:ext cx="2953512" cy="62179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noAutofit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26136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355476-9205-FDB5-8649-59B5991BF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Ziel: Der Soll Zustand</a:t>
            </a:r>
            <a:endParaRPr lang="de-DE" sz="3600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829C0-1E6D-4E6B-792A-1800FA9387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791B4-EBB1-8520-0192-648BAAFFCA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74DFD08F-5BD2-64A3-3584-19A90BDE872A}"/>
              </a:ext>
            </a:extLst>
          </p:cNvPr>
          <p:cNvSpPr/>
          <p:nvPr/>
        </p:nvSpPr>
        <p:spPr>
          <a:xfrm>
            <a:off x="8044762" y="2237541"/>
            <a:ext cx="3619500" cy="2492822"/>
          </a:xfrm>
          <a:prstGeom prst="roundRect">
            <a:avLst>
              <a:gd name="adj" fmla="val 6557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3CB960-BE74-9C50-3697-5BFF441CC5E0}"/>
              </a:ext>
            </a:extLst>
          </p:cNvPr>
          <p:cNvSpPr txBox="1"/>
          <p:nvPr/>
        </p:nvSpPr>
        <p:spPr>
          <a:xfrm>
            <a:off x="9424909" y="2618541"/>
            <a:ext cx="859211" cy="8005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de-DE" sz="6600" b="1" noProof="0">
                <a:solidFill>
                  <a:schemeClr val="tx2"/>
                </a:solidFill>
                <a:ea typeface="Calibri"/>
                <a:cs typeface="Calibri"/>
              </a:rPr>
              <a:t>30</a:t>
            </a:r>
            <a:endParaRPr lang="de-DE" sz="5400" b="1" noProof="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EF7D6B-01F3-10EC-7A13-649924A59DBA}"/>
              </a:ext>
            </a:extLst>
          </p:cNvPr>
          <p:cNvSpPr txBox="1"/>
          <p:nvPr/>
        </p:nvSpPr>
        <p:spPr>
          <a:xfrm>
            <a:off x="8552185" y="3394631"/>
            <a:ext cx="264271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de-DE" sz="2400" b="1" noProof="0">
                <a:ea typeface="Calibri"/>
                <a:cs typeface="Calibri"/>
              </a:rPr>
              <a:t>Urlaubstage pro Jahr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064322-99F9-81FD-5E96-3F850BD1EDBE}"/>
              </a:ext>
            </a:extLst>
          </p:cNvPr>
          <p:cNvSpPr txBox="1"/>
          <p:nvPr/>
        </p:nvSpPr>
        <p:spPr>
          <a:xfrm>
            <a:off x="8087602" y="3800081"/>
            <a:ext cx="3571875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de-DE" noProof="0">
                <a:ea typeface="Calibri"/>
                <a:cs typeface="Calibri"/>
              </a:rPr>
              <a:t>Automatisch berechnet mit Feiertagen für Baden-Württemberg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92F7C7-2618-4F70-7A0E-7B71DBCAC44B}"/>
              </a:ext>
            </a:extLst>
          </p:cNvPr>
          <p:cNvSpPr txBox="1"/>
          <p:nvPr/>
        </p:nvSpPr>
        <p:spPr>
          <a:xfrm>
            <a:off x="624000" y="2130126"/>
            <a:ext cx="7435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400" b="1" noProof="0">
                <a:ea typeface="Calibri"/>
                <a:cs typeface="Calibri"/>
              </a:rPr>
              <a:t>Zentrale Webplattform</a:t>
            </a:r>
            <a:endParaRPr lang="de-DE" sz="2400" noProof="0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2E2D02-9A75-2C40-B91F-9EB634A1ED8F}"/>
              </a:ext>
            </a:extLst>
          </p:cNvPr>
          <p:cNvSpPr txBox="1"/>
          <p:nvPr/>
        </p:nvSpPr>
        <p:spPr>
          <a:xfrm>
            <a:off x="624000" y="2692341"/>
            <a:ext cx="7435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noProof="0">
                <a:ea typeface="Calibri"/>
                <a:cs typeface="Calibri"/>
              </a:rPr>
              <a:t>Automatische Berechnung</a:t>
            </a:r>
            <a:endParaRPr lang="de-DE" sz="2400" noProof="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97274B-7EAC-465E-6D17-D8B7C006CE0D}"/>
              </a:ext>
            </a:extLst>
          </p:cNvPr>
          <p:cNvSpPr txBox="1"/>
          <p:nvPr/>
        </p:nvSpPr>
        <p:spPr>
          <a:xfrm>
            <a:off x="608911" y="3247363"/>
            <a:ext cx="74358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noProof="0">
                <a:ea typeface="Calibri"/>
                <a:cs typeface="Calibri"/>
              </a:rPr>
              <a:t>Integrierte Validierung</a:t>
            </a:r>
            <a:endParaRPr lang="de-DE" sz="2400" noProof="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8BEF20-40B3-6BB8-182E-91012400890E}"/>
              </a:ext>
            </a:extLst>
          </p:cNvPr>
          <p:cNvSpPr txBox="1"/>
          <p:nvPr/>
        </p:nvSpPr>
        <p:spPr>
          <a:xfrm>
            <a:off x="608911" y="3779750"/>
            <a:ext cx="560707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400" b="1" noProof="0">
                <a:ea typeface="Calibri"/>
                <a:cs typeface="Calibri"/>
              </a:rPr>
              <a:t>Hochschul-Login</a:t>
            </a:r>
            <a:endParaRPr lang="de-DE" sz="2400" noProof="0">
              <a:ea typeface="Calibri"/>
              <a:cs typeface="Calibri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3EA25E-71CC-213C-BDD8-684227936C81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4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222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2BBF78-0A3E-4794-FAA0-A8EDB877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Zielgruppen und Benutzerrollen</a:t>
            </a:r>
            <a:endParaRPr lang="de-DE" sz="3600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8B396-9105-02A5-DF45-DC2D3163A2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C146C-15C7-EE23-1E74-758B10E89CA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151" name="Rounded Rectangle 1">
            <a:extLst>
              <a:ext uri="{FF2B5EF4-FFF2-40B4-BE49-F238E27FC236}">
                <a16:creationId xmlns:a16="http://schemas.microsoft.com/office/drawing/2014/main" id="{097CCB3B-2925-A9BC-BB57-C232A87D34B4}"/>
              </a:ext>
            </a:extLst>
          </p:cNvPr>
          <p:cNvSpPr/>
          <p:nvPr/>
        </p:nvSpPr>
        <p:spPr>
          <a:xfrm>
            <a:off x="609603" y="2659062"/>
            <a:ext cx="3505200" cy="3735251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53" name="Rounded Rectangle 2">
            <a:extLst>
              <a:ext uri="{FF2B5EF4-FFF2-40B4-BE49-F238E27FC236}">
                <a16:creationId xmlns:a16="http://schemas.microsoft.com/office/drawing/2014/main" id="{59371841-0F80-ED80-C6DA-AC1910E677D2}"/>
              </a:ext>
            </a:extLst>
          </p:cNvPr>
          <p:cNvSpPr/>
          <p:nvPr/>
        </p:nvSpPr>
        <p:spPr>
          <a:xfrm>
            <a:off x="4343403" y="2659062"/>
            <a:ext cx="3505200" cy="3735251"/>
          </a:xfrm>
          <a:prstGeom prst="roundRect">
            <a:avLst>
              <a:gd name="adj" fmla="val 49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55" name="Rounded Rectangle 3">
            <a:extLst>
              <a:ext uri="{FF2B5EF4-FFF2-40B4-BE49-F238E27FC236}">
                <a16:creationId xmlns:a16="http://schemas.microsoft.com/office/drawing/2014/main" id="{A78EE060-7728-E368-BEC1-8ED54FCAA12A}"/>
              </a:ext>
            </a:extLst>
          </p:cNvPr>
          <p:cNvSpPr/>
          <p:nvPr/>
        </p:nvSpPr>
        <p:spPr>
          <a:xfrm>
            <a:off x="8077203" y="2659061"/>
            <a:ext cx="3505200" cy="3735253"/>
          </a:xfrm>
          <a:prstGeom prst="roundRect">
            <a:avLst>
              <a:gd name="adj" fmla="val 45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/>
          </a:p>
        </p:txBody>
      </p:sp>
      <p:pic>
        <p:nvPicPr>
          <p:cNvPr id="157" name="Picture 156" descr="image.png">
            <a:extLst>
              <a:ext uri="{FF2B5EF4-FFF2-40B4-BE49-F238E27FC236}">
                <a16:creationId xmlns:a16="http://schemas.microsoft.com/office/drawing/2014/main" id="{15524E07-76B1-872E-61D0-C930761F5A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4402" y="2917193"/>
            <a:ext cx="395047" cy="451483"/>
          </a:xfrm>
          <a:prstGeom prst="rect">
            <a:avLst/>
          </a:prstGeom>
        </p:spPr>
      </p:pic>
      <p:pic>
        <p:nvPicPr>
          <p:cNvPr id="159" name="Picture 158" descr="image.png">
            <a:extLst>
              <a:ext uri="{FF2B5EF4-FFF2-40B4-BE49-F238E27FC236}">
                <a16:creationId xmlns:a16="http://schemas.microsoft.com/office/drawing/2014/main" id="{EB57B400-7C9E-32C3-865C-3E64D7E1225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8202" y="2917828"/>
            <a:ext cx="450848" cy="450848"/>
          </a:xfrm>
          <a:prstGeom prst="rect">
            <a:avLst/>
          </a:prstGeom>
        </p:spPr>
      </p:pic>
      <p:pic>
        <p:nvPicPr>
          <p:cNvPr id="161" name="Picture 160" descr="image.png">
            <a:extLst>
              <a:ext uri="{FF2B5EF4-FFF2-40B4-BE49-F238E27FC236}">
                <a16:creationId xmlns:a16="http://schemas.microsoft.com/office/drawing/2014/main" id="{8E962761-44C4-C322-AEAB-112C1067FB33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82003" y="2968800"/>
            <a:ext cx="426024" cy="35147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CA0DCA7C-5CB2-80DE-DF08-8136ACAE1617}"/>
              </a:ext>
            </a:extLst>
          </p:cNvPr>
          <p:cNvSpPr txBox="1"/>
          <p:nvPr/>
        </p:nvSpPr>
        <p:spPr>
          <a:xfrm>
            <a:off x="914403" y="3521075"/>
            <a:ext cx="297180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2400" b="1" i="0" u="none" noProof="0">
                <a:latin typeface="+mj-lt"/>
              </a:rPr>
              <a:t>Professor (Self-Service</a:t>
            </a:r>
            <a:r>
              <a:rPr lang="de-DE" sz="2000" b="1" i="0" u="none" noProof="0">
                <a:latin typeface="+mj-lt"/>
              </a:rPr>
              <a:t>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52F2FD6-FBA3-72B9-7362-55B18D75F91C}"/>
              </a:ext>
            </a:extLst>
          </p:cNvPr>
          <p:cNvSpPr txBox="1"/>
          <p:nvPr/>
        </p:nvSpPr>
        <p:spPr>
          <a:xfrm>
            <a:off x="914403" y="3889952"/>
            <a:ext cx="299085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/>
              <a:t>Trägt</a:t>
            </a:r>
            <a:r>
              <a:rPr lang="de-DE" sz="2000" noProof="0"/>
              <a:t> Urlaube und Konferenzen </a:t>
            </a:r>
            <a:r>
              <a:rPr lang="de-DE" sz="2000"/>
              <a:t>ein</a:t>
            </a:r>
            <a:r>
              <a:rPr lang="de-DE" sz="2000" noProof="0"/>
              <a:t>, </a:t>
            </a:r>
            <a:r>
              <a:rPr lang="de-DE" sz="2000"/>
              <a:t>sieht </a:t>
            </a:r>
            <a:r>
              <a:rPr lang="de-DE" sz="2000" noProof="0"/>
              <a:t>Resturlaub</a:t>
            </a:r>
            <a:r>
              <a:rPr lang="de-DE" sz="2000"/>
              <a:t>,</a:t>
            </a:r>
            <a:r>
              <a:rPr lang="de-DE" sz="2000" noProof="0"/>
              <a:t> sowie </a:t>
            </a:r>
            <a:r>
              <a:rPr lang="de-DE" sz="2000"/>
              <a:t>den Teamkalender</a:t>
            </a:r>
            <a:endParaRPr lang="de-DE" sz="2000" b="0" i="0" u="none" noProof="0">
              <a:latin typeface="+mj-lt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78ED0A3-9482-B997-07D5-67CAF295336E}"/>
              </a:ext>
            </a:extLst>
          </p:cNvPr>
          <p:cNvSpPr txBox="1"/>
          <p:nvPr/>
        </p:nvSpPr>
        <p:spPr>
          <a:xfrm>
            <a:off x="4648203" y="3521075"/>
            <a:ext cx="265463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DE" sz="2400" b="1" i="0" u="none" noProof="0">
                <a:latin typeface="+mj-lt"/>
              </a:rPr>
              <a:t>Sekretariat (Einsicht)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05260C1-01EB-A575-8235-2969A63AFBB1}"/>
              </a:ext>
            </a:extLst>
          </p:cNvPr>
          <p:cNvSpPr txBox="1"/>
          <p:nvPr/>
        </p:nvSpPr>
        <p:spPr>
          <a:xfrm>
            <a:off x="4648203" y="3889952"/>
            <a:ext cx="29908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Kann Abwesenheiten stellvertretend eintragen </a:t>
            </a:r>
            <a:r>
              <a:rPr lang="de-DE" sz="2000"/>
              <a:t>und Statistiken einsehen</a:t>
            </a:r>
            <a:endParaRPr lang="de-DE" sz="2000" noProof="0">
              <a:latin typeface="+mj-lt"/>
              <a:ea typeface="Calibri"/>
              <a:cs typeface="Calibri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3AB9905-213A-11D4-9776-3C4E5E759698}"/>
              </a:ext>
            </a:extLst>
          </p:cNvPr>
          <p:cNvSpPr txBox="1"/>
          <p:nvPr/>
        </p:nvSpPr>
        <p:spPr>
          <a:xfrm>
            <a:off x="8382003" y="3477551"/>
            <a:ext cx="24384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2400" b="1" i="0" u="none" noProof="0">
                <a:latin typeface="+mj-lt"/>
              </a:rPr>
              <a:t>Dekanat (Freigabe)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6F94FE83-C830-518C-E64E-684E959B39DB}"/>
              </a:ext>
            </a:extLst>
          </p:cNvPr>
          <p:cNvSpPr txBox="1"/>
          <p:nvPr/>
        </p:nvSpPr>
        <p:spPr>
          <a:xfrm>
            <a:off x="8382003" y="3889951"/>
            <a:ext cx="2990850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/>
              <a:t>Kann Abwesenheiten stellvertretend eintragen, Statistiken einsehen und Abwesenheiten genehmigen oder ablehnen</a:t>
            </a:r>
            <a:endParaRPr lang="de-DE" sz="2000">
              <a:ea typeface="Calibri"/>
              <a:cs typeface="Calibri"/>
            </a:endParaRPr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11AD201C-107B-A462-3908-A8786C6670F4}"/>
              </a:ext>
            </a:extLst>
          </p:cNvPr>
          <p:cNvSpPr txBox="1"/>
          <p:nvPr/>
        </p:nvSpPr>
        <p:spPr>
          <a:xfrm>
            <a:off x="1974850" y="135890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de-DE" sz="2000" cap="none" baseline="0" noProof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74B9D035-F8B4-D3B6-20F0-D3682374E5B1}"/>
              </a:ext>
            </a:extLst>
          </p:cNvPr>
          <p:cNvSpPr txBox="1"/>
          <p:nvPr/>
        </p:nvSpPr>
        <p:spPr>
          <a:xfrm>
            <a:off x="901700" y="142875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de-DE" sz="2000" cap="none" baseline="0" noProof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074C8706-040E-478F-C665-0A60AA41E3D8}"/>
              </a:ext>
            </a:extLst>
          </p:cNvPr>
          <p:cNvSpPr txBox="1"/>
          <p:nvPr/>
        </p:nvSpPr>
        <p:spPr>
          <a:xfrm>
            <a:off x="660400" y="1441450"/>
            <a:ext cx="0" cy="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>
              <a:lnSpc>
                <a:spcPts val="1000"/>
              </a:lnSpc>
            </a:pPr>
            <a:endParaRPr lang="de-DE" sz="2000" cap="none" baseline="0" noProof="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B36DBA6D-D41F-CDC0-4AFD-529D87575DBE}"/>
              </a:ext>
            </a:extLst>
          </p:cNvPr>
          <p:cNvSpPr txBox="1"/>
          <p:nvPr/>
        </p:nvSpPr>
        <p:spPr>
          <a:xfrm>
            <a:off x="624000" y="1327150"/>
            <a:ext cx="10502900" cy="1135855"/>
          </a:xfrm>
          <a:prstGeom prst="rect">
            <a:avLst/>
          </a:prstGeom>
          <a:noFill/>
        </p:spPr>
        <p:txBody>
          <a:bodyPr vert="horz" wrap="square" lIns="0" tIns="46800" rIns="91440" bIns="45720" rtlCol="0" anchor="t">
            <a:noAutofit/>
          </a:bodyPr>
          <a:lstStyle/>
          <a:p>
            <a:r>
              <a:rPr lang="de-DE" sz="2100" noProof="0"/>
              <a:t>ProVaCaSy wurde speziell für Professoren, das Sekretariat und das Dekanat der Hochschule Esslingen entwickelt und unterstützt drei unterschiedliche Benutzerrollen</a:t>
            </a:r>
            <a:endParaRPr lang="de-DE" sz="2100" cap="none" baseline="0" noProof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710BDC5-1CFD-08DA-2B02-C23599D0DF82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5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45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0D78D-FC07-A78B-DD66-E4BF2D7D1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BA473A-EF12-A488-0BEC-FE80817E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Die wichtigsten Must-Haves (MVP)</a:t>
            </a:r>
            <a:endParaRPr lang="de-DE" sz="3600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AC39F-5627-A1A1-6BD5-28765B9AA4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7B1C8-B309-0D63-9E20-CAD60A7D28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31" name="Rounded Rectangle 1">
            <a:extLst>
              <a:ext uri="{FF2B5EF4-FFF2-40B4-BE49-F238E27FC236}">
                <a16:creationId xmlns:a16="http://schemas.microsoft.com/office/drawing/2014/main" id="{C3B9C8D9-5DAB-5D26-33F7-31AA4FC09A00}"/>
              </a:ext>
            </a:extLst>
          </p:cNvPr>
          <p:cNvSpPr/>
          <p:nvPr/>
        </p:nvSpPr>
        <p:spPr>
          <a:xfrm>
            <a:off x="609600" y="1716880"/>
            <a:ext cx="5372100" cy="1647276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28182FAE-D3EF-B9E4-1FD2-E282EECD92BA}"/>
              </a:ext>
            </a:extLst>
          </p:cNvPr>
          <p:cNvSpPr/>
          <p:nvPr/>
        </p:nvSpPr>
        <p:spPr>
          <a:xfrm>
            <a:off x="6210300" y="1716880"/>
            <a:ext cx="5372100" cy="1647276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35" name="Rounded Rectangle 3">
            <a:extLst>
              <a:ext uri="{FF2B5EF4-FFF2-40B4-BE49-F238E27FC236}">
                <a16:creationId xmlns:a16="http://schemas.microsoft.com/office/drawing/2014/main" id="{82E8D3CE-A0FD-383C-A087-F25C9D572BDA}"/>
              </a:ext>
            </a:extLst>
          </p:cNvPr>
          <p:cNvSpPr/>
          <p:nvPr/>
        </p:nvSpPr>
        <p:spPr>
          <a:xfrm>
            <a:off x="624000" y="3801272"/>
            <a:ext cx="5372100" cy="1647276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4475C614-BF7D-2B32-882F-58D12A4010D6}"/>
              </a:ext>
            </a:extLst>
          </p:cNvPr>
          <p:cNvSpPr/>
          <p:nvPr/>
        </p:nvSpPr>
        <p:spPr>
          <a:xfrm>
            <a:off x="6261343" y="3801272"/>
            <a:ext cx="5372100" cy="1723228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A6F017-F3BC-40EB-6690-2D49056EA757}"/>
              </a:ext>
            </a:extLst>
          </p:cNvPr>
          <p:cNvSpPr txBox="1"/>
          <p:nvPr/>
        </p:nvSpPr>
        <p:spPr>
          <a:xfrm>
            <a:off x="876300" y="1924211"/>
            <a:ext cx="273818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 err="1">
                <a:latin typeface="+mj-lt"/>
              </a:rPr>
              <a:t>Keycloak</a:t>
            </a:r>
            <a:r>
              <a:rPr lang="de-DE" sz="2400" b="1" noProof="0">
                <a:latin typeface="+mj-lt"/>
              </a:rPr>
              <a:t> SSO &amp; RBAC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833E9B4-8684-1CC5-957F-F445FEF3D24F}"/>
              </a:ext>
            </a:extLst>
          </p:cNvPr>
          <p:cNvSpPr txBox="1"/>
          <p:nvPr/>
        </p:nvSpPr>
        <p:spPr>
          <a:xfrm>
            <a:off x="876300" y="2288381"/>
            <a:ext cx="49339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2000" noProof="0"/>
              <a:t>Sicherer Login mit automatischer Rollenerkennung</a:t>
            </a:r>
            <a:endParaRPr lang="de-DE" sz="2000" noProof="0">
              <a:ea typeface="Calibri"/>
              <a:cs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0C05C1-3928-7CCE-B532-6F8D75E6957A}"/>
              </a:ext>
            </a:extLst>
          </p:cNvPr>
          <p:cNvSpPr txBox="1"/>
          <p:nvPr/>
        </p:nvSpPr>
        <p:spPr>
          <a:xfrm>
            <a:off x="6477000" y="1919049"/>
            <a:ext cx="324473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Abwesenheitsverwaltung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B8458C-EF94-A996-F885-2B3CACB413FB}"/>
              </a:ext>
            </a:extLst>
          </p:cNvPr>
          <p:cNvSpPr txBox="1"/>
          <p:nvPr/>
        </p:nvSpPr>
        <p:spPr>
          <a:xfrm>
            <a:off x="6477000" y="2288381"/>
            <a:ext cx="49339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Erfassung von Urlaub</a:t>
            </a:r>
            <a:r>
              <a:rPr lang="de-DE" sz="2000"/>
              <a:t> / </a:t>
            </a:r>
            <a:r>
              <a:rPr lang="de-DE" sz="2000" noProof="0"/>
              <a:t>Konferenz inklusive automatischer Doppelbuchungsprüfung, sowie optische Warnung ab 30 Tagen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D75193-0EF3-0D0A-8B23-46E44DD573B4}"/>
              </a:ext>
            </a:extLst>
          </p:cNvPr>
          <p:cNvSpPr txBox="1"/>
          <p:nvPr/>
        </p:nvSpPr>
        <p:spPr>
          <a:xfrm>
            <a:off x="890700" y="4013764"/>
            <a:ext cx="189930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ICS-Integration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6B4CA9-5BBE-827D-FF45-859FE01789AD}"/>
              </a:ext>
            </a:extLst>
          </p:cNvPr>
          <p:cNvSpPr txBox="1"/>
          <p:nvPr/>
        </p:nvSpPr>
        <p:spPr>
          <a:xfrm>
            <a:off x="890700" y="4372773"/>
            <a:ext cx="49339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Bereitstellung von ICS-Dateien zur unkomplizierten Übernahme von Terminen in den Outlook-Kalender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022ACC-D5EC-5E8E-352E-3ADEE88CBF04}"/>
              </a:ext>
            </a:extLst>
          </p:cNvPr>
          <p:cNvSpPr txBox="1"/>
          <p:nvPr/>
        </p:nvSpPr>
        <p:spPr>
          <a:xfrm>
            <a:off x="6491400" y="4013764"/>
            <a:ext cx="294708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Kontingent &amp; Feiertage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7EC6574-9A8B-24B3-A068-71466A09EED7}"/>
              </a:ext>
            </a:extLst>
          </p:cNvPr>
          <p:cNvSpPr txBox="1"/>
          <p:nvPr/>
        </p:nvSpPr>
        <p:spPr>
          <a:xfrm>
            <a:off x="6491400" y="4372773"/>
            <a:ext cx="49339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Dashboard </a:t>
            </a:r>
            <a:r>
              <a:rPr lang="de-DE" sz="2000"/>
              <a:t>des </a:t>
            </a:r>
            <a:r>
              <a:rPr lang="de-DE" sz="2000" noProof="0"/>
              <a:t>persönlichen Urlaubskontigents, dynamische Feiertagsberechnung für Baden-Württemberg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4A12DF1-7135-C75E-C362-01235F99BD38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6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463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D67122-A7F4-3E08-71F8-0857377B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Nice-to-Have Features</a:t>
            </a:r>
            <a:endParaRPr lang="de-DE" sz="3600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E4637-C2E5-C15E-4C23-B3CDF3A5F9B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9DF2-48F4-6ADD-A04A-EA4A67B5AF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E0BA9258-AE3E-4F03-80AB-E0F18DDA2DD6}"/>
              </a:ext>
            </a:extLst>
          </p:cNvPr>
          <p:cNvSpPr/>
          <p:nvPr/>
        </p:nvSpPr>
        <p:spPr>
          <a:xfrm>
            <a:off x="609603" y="2355940"/>
            <a:ext cx="5334000" cy="2597059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753D99B6-84D5-6134-7D81-EF5A8D73C3BB}"/>
              </a:ext>
            </a:extLst>
          </p:cNvPr>
          <p:cNvSpPr/>
          <p:nvPr/>
        </p:nvSpPr>
        <p:spPr>
          <a:xfrm>
            <a:off x="6248403" y="2355941"/>
            <a:ext cx="5334000" cy="2597058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F7ACA64E-E0C2-FF00-7A1C-3A8D6663B56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978" y="2654924"/>
            <a:ext cx="282272" cy="386818"/>
          </a:xfrm>
          <a:prstGeom prst="rect">
            <a:avLst/>
          </a:prstGeom>
        </p:spPr>
      </p:pic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3A8FE29A-316B-6842-98CD-56EA48BF43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96580" y="2654924"/>
            <a:ext cx="428636" cy="38681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B5AACD-A59F-A7DC-4FB3-24147081F99A}"/>
              </a:ext>
            </a:extLst>
          </p:cNvPr>
          <p:cNvSpPr txBox="1"/>
          <p:nvPr/>
        </p:nvSpPr>
        <p:spPr>
          <a:xfrm>
            <a:off x="952503" y="3194142"/>
            <a:ext cx="337784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DE" sz="2400" b="1" noProof="0">
                <a:latin typeface="+mj-lt"/>
              </a:rPr>
              <a:t>Direkte</a:t>
            </a:r>
            <a:r>
              <a:rPr lang="de-DE" sz="2400" b="1" i="0" u="none" noProof="0">
                <a:solidFill>
                  <a:srgbClr val="0F172A"/>
                </a:solidFill>
                <a:latin typeface="+mj-lt"/>
              </a:rPr>
              <a:t> </a:t>
            </a:r>
            <a:r>
              <a:rPr lang="de-DE" sz="2400" b="1" noProof="0">
                <a:latin typeface="+mj-lt"/>
              </a:rPr>
              <a:t>Outlook-Extension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69A4E9-D537-3E6B-06D4-29AF706E16C5}"/>
              </a:ext>
            </a:extLst>
          </p:cNvPr>
          <p:cNvSpPr txBox="1"/>
          <p:nvPr/>
        </p:nvSpPr>
        <p:spPr>
          <a:xfrm>
            <a:off x="952503" y="3556092"/>
            <a:ext cx="47434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Plattformübergreifende Outlook-Erweiterung zur komfortablen Verwaltung und </a:t>
            </a:r>
            <a:r>
              <a:rPr lang="de-DE" sz="2000"/>
              <a:t>direkte </a:t>
            </a:r>
            <a:r>
              <a:rPr lang="de-DE" sz="2000" noProof="0"/>
              <a:t>Synchronisation</a:t>
            </a:r>
            <a:endParaRPr lang="de-DE" sz="2000" noProof="0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940AA-9560-7549-654A-557BC6CF0252}"/>
              </a:ext>
            </a:extLst>
          </p:cNvPr>
          <p:cNvSpPr txBox="1"/>
          <p:nvPr/>
        </p:nvSpPr>
        <p:spPr>
          <a:xfrm>
            <a:off x="6591303" y="3194142"/>
            <a:ext cx="353250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DE" sz="2400" b="1" noProof="0">
                <a:latin typeface="+mj-lt"/>
              </a:rPr>
              <a:t>Erweiterte</a:t>
            </a:r>
            <a:r>
              <a:rPr lang="de-DE" sz="2400" b="1" i="0" u="none" noProof="0">
                <a:solidFill>
                  <a:srgbClr val="0F172A"/>
                </a:solidFill>
                <a:latin typeface="+mj-lt"/>
              </a:rPr>
              <a:t> </a:t>
            </a:r>
            <a:r>
              <a:rPr lang="de-DE" sz="2400" b="1" noProof="0">
                <a:latin typeface="+mj-lt"/>
              </a:rPr>
              <a:t>Statistik-Exporte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BB635F-0196-92E2-63E5-2593D1DAC58C}"/>
              </a:ext>
            </a:extLst>
          </p:cNvPr>
          <p:cNvSpPr txBox="1"/>
          <p:nvPr/>
        </p:nvSpPr>
        <p:spPr>
          <a:xfrm>
            <a:off x="6591303" y="3556092"/>
            <a:ext cx="47434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Grafische Auswertungen sowie direkter Datenexport als CSV- oder PDF-Bericht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5219612-8DD9-292F-FFA3-6D3FAB0F5603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7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203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6CD2-382C-911F-8CD3-6F78656AC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Nicht Funktionale Anforderungen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09991-7E62-A53A-C10E-FA0A15E4F4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A139B-10C2-6467-F512-B8A5DBA86E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36E01849-6D14-E009-D258-6035B02A1538}"/>
              </a:ext>
            </a:extLst>
          </p:cNvPr>
          <p:cNvSpPr/>
          <p:nvPr/>
        </p:nvSpPr>
        <p:spPr>
          <a:xfrm>
            <a:off x="609600" y="1716880"/>
            <a:ext cx="5372100" cy="173592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2965611C-7210-F9FD-1877-494A379D1A5E}"/>
              </a:ext>
            </a:extLst>
          </p:cNvPr>
          <p:cNvSpPr/>
          <p:nvPr/>
        </p:nvSpPr>
        <p:spPr>
          <a:xfrm>
            <a:off x="6210300" y="1716880"/>
            <a:ext cx="5372100" cy="173592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C04E4FB-D0B9-7C9F-8EA0-2949DF1EE3CE}"/>
              </a:ext>
            </a:extLst>
          </p:cNvPr>
          <p:cNvSpPr/>
          <p:nvPr/>
        </p:nvSpPr>
        <p:spPr>
          <a:xfrm>
            <a:off x="609600" y="3902870"/>
            <a:ext cx="5372100" cy="173593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C1130BE7-EE05-0DA4-7A5C-BE71B20F6EA1}"/>
              </a:ext>
            </a:extLst>
          </p:cNvPr>
          <p:cNvSpPr/>
          <p:nvPr/>
        </p:nvSpPr>
        <p:spPr>
          <a:xfrm>
            <a:off x="6210300" y="3902869"/>
            <a:ext cx="5372100" cy="1735930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090ECF-F6F3-4E07-68AA-1A54B6B8EA05}"/>
              </a:ext>
            </a:extLst>
          </p:cNvPr>
          <p:cNvSpPr txBox="1"/>
          <p:nvPr/>
        </p:nvSpPr>
        <p:spPr>
          <a:xfrm>
            <a:off x="876300" y="1916105"/>
            <a:ext cx="303576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Datenschutz &amp; Lokalität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6602B-7F30-9425-2BE6-5E7E400741B3}"/>
              </a:ext>
            </a:extLst>
          </p:cNvPr>
          <p:cNvSpPr txBox="1"/>
          <p:nvPr/>
        </p:nvSpPr>
        <p:spPr>
          <a:xfrm>
            <a:off x="876300" y="2288381"/>
            <a:ext cx="49339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Keine externen Ressourcen im Frontend; sämtliche Datenabrufe laufen über das Backend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2A252-AB70-C159-09BC-6940CA8F46B3}"/>
              </a:ext>
            </a:extLst>
          </p:cNvPr>
          <p:cNvSpPr txBox="1"/>
          <p:nvPr/>
        </p:nvSpPr>
        <p:spPr>
          <a:xfrm>
            <a:off x="6477000" y="1916105"/>
            <a:ext cx="332437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Wartbarkeit &amp; Clean Code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B9C38A-69C9-3F81-D4F6-9D8DD6BE2805}"/>
              </a:ext>
            </a:extLst>
          </p:cNvPr>
          <p:cNvSpPr txBox="1"/>
          <p:nvPr/>
        </p:nvSpPr>
        <p:spPr>
          <a:xfrm>
            <a:off x="6477000" y="2288381"/>
            <a:ext cx="49339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Automatisierte Code-Analyse durch SonarQube sowie Unit- und Integrationstests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D48F3B-4392-507E-41A7-0ECC315141B1}"/>
              </a:ext>
            </a:extLst>
          </p:cNvPr>
          <p:cNvSpPr txBox="1"/>
          <p:nvPr/>
        </p:nvSpPr>
        <p:spPr>
          <a:xfrm>
            <a:off x="876300" y="4105038"/>
            <a:ext cx="233397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Usability &amp; Design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7FD0B-3DB1-2E3C-6BB8-44B8DF3FF90B}"/>
              </a:ext>
            </a:extLst>
          </p:cNvPr>
          <p:cNvSpPr txBox="1"/>
          <p:nvPr/>
        </p:nvSpPr>
        <p:spPr>
          <a:xfrm>
            <a:off x="876300" y="4474370"/>
            <a:ext cx="49339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Light-Mode / Dark-Mode-</a:t>
            </a:r>
            <a:r>
              <a:rPr lang="de-DE" sz="2000" noProof="0" err="1"/>
              <a:t>Toggle</a:t>
            </a:r>
            <a:r>
              <a:rPr lang="de-DE" sz="2000" noProof="0"/>
              <a:t> mit unkomplizierter Bedienung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5EBB4F-D9FD-E982-AC0F-02B556941E12}"/>
              </a:ext>
            </a:extLst>
          </p:cNvPr>
          <p:cNvSpPr txBox="1"/>
          <p:nvPr/>
        </p:nvSpPr>
        <p:spPr>
          <a:xfrm>
            <a:off x="6477000" y="4105038"/>
            <a:ext cx="27347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DE" sz="2400" b="1" noProof="0">
                <a:latin typeface="+mj-lt"/>
              </a:rPr>
              <a:t>Portabilität &amp; Betrieb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CA3276-C8B5-BAC3-089C-1FBC308FDDD2}"/>
              </a:ext>
            </a:extLst>
          </p:cNvPr>
          <p:cNvSpPr txBox="1"/>
          <p:nvPr/>
        </p:nvSpPr>
        <p:spPr>
          <a:xfrm>
            <a:off x="6477000" y="4474370"/>
            <a:ext cx="49339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000" noProof="0"/>
              <a:t>Vollständige Containerisierung mit Docker </a:t>
            </a:r>
            <a:r>
              <a:rPr lang="de-DE" sz="2000" noProof="0" err="1"/>
              <a:t>Compose</a:t>
            </a:r>
            <a:r>
              <a:rPr lang="de-DE" sz="2000" noProof="0"/>
              <a:t> für standardisierten Betrieb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651ACC7-99BC-C598-613B-535A5402F7F7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8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828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FD97E-A6E6-8504-4A96-14BB3A4FC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3916-D908-9CA6-F651-8C875A4133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D32C0-75F6-16ED-10C7-59684A88BA2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0F2C1558-6DC6-DED8-DAA0-CD9983FC3C73}"/>
              </a:ext>
            </a:extLst>
          </p:cNvPr>
          <p:cNvSpPr txBox="1">
            <a:spLocks/>
          </p:cNvSpPr>
          <p:nvPr/>
        </p:nvSpPr>
        <p:spPr>
          <a:xfrm>
            <a:off x="621792" y="2359152"/>
            <a:ext cx="5806440" cy="292608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0" rIns="73152" bIns="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Anforderungen an die Anwendung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2700" b="1" noProof="0">
                <a:solidFill>
                  <a:srgbClr val="003663"/>
                </a:solidFill>
              </a:rPr>
              <a:t>High-Level-Architektur</a:t>
            </a:r>
            <a:endParaRPr lang="de-DE" b="1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Technologien &amp; Tech-Stack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Entwicklungsumgebung &amp; </a:t>
            </a:r>
            <a:r>
              <a:rPr lang="de-DE" sz="1900" b="0" noProof="0" err="1">
                <a:solidFill>
                  <a:srgbClr val="4F6576"/>
                </a:solidFill>
              </a:rPr>
              <a:t>Toolchain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Nutzerinteraktion &amp; UI Mockups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Teamzusammenarbeit: Methode, Rollen &amp; Tools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endParaRPr lang="de-DE" sz="2400" noProof="0">
              <a:solidFill>
                <a:schemeClr val="tx1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937FBF11-68FE-79F5-8D04-6B4753FFFD47}"/>
              </a:ext>
            </a:extLst>
          </p:cNvPr>
          <p:cNvSpPr txBox="1">
            <a:spLocks/>
          </p:cNvSpPr>
          <p:nvPr/>
        </p:nvSpPr>
        <p:spPr>
          <a:xfrm>
            <a:off x="621792" y="1746504"/>
            <a:ext cx="2953512" cy="62179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noAutofit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9B94CA-4E38-06EB-5C9D-BA155EE8A8B6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9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0" name="Kalender Kopf Mo"/>
          <p:cNvSpPr txBox="1"/>
          <p:nvPr/>
        </p:nvSpPr>
        <p:spPr>
          <a:xfrm>
            <a:off x="700430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Mo</a:t>
            </a:r>
          </a:p>
        </p:txBody>
      </p:sp>
      <p:sp>
        <p:nvSpPr>
          <p:cNvPr id="11" name="Kalender Kopf Di"/>
          <p:cNvSpPr txBox="1"/>
          <p:nvPr/>
        </p:nvSpPr>
        <p:spPr>
          <a:xfrm>
            <a:off x="760780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Di</a:t>
            </a:r>
          </a:p>
        </p:txBody>
      </p:sp>
      <p:sp>
        <p:nvSpPr>
          <p:cNvPr id="12" name="Kalender Kopf Mi"/>
          <p:cNvSpPr txBox="1"/>
          <p:nvPr/>
        </p:nvSpPr>
        <p:spPr>
          <a:xfrm>
            <a:off x="8211312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Mi</a:t>
            </a:r>
          </a:p>
        </p:txBody>
      </p:sp>
      <p:sp>
        <p:nvSpPr>
          <p:cNvPr id="13" name="Kalender Kopf Do"/>
          <p:cNvSpPr txBox="1"/>
          <p:nvPr/>
        </p:nvSpPr>
        <p:spPr>
          <a:xfrm>
            <a:off x="8814816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Do</a:t>
            </a:r>
          </a:p>
        </p:txBody>
      </p:sp>
      <p:sp>
        <p:nvSpPr>
          <p:cNvPr id="14" name="Kalender Kopf Fr"/>
          <p:cNvSpPr txBox="1">
            <a:spLocks/>
          </p:cNvSpPr>
          <p:nvPr/>
        </p:nvSpPr>
        <p:spPr>
          <a:xfrm>
            <a:off x="9418320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0">
                <a:solidFill>
                  <a:srgbClr val="003663"/>
                </a:solidFill>
              </a:rPr>
              <a:t>Fr</a:t>
            </a:r>
          </a:p>
        </p:txBody>
      </p:sp>
      <p:sp>
        <p:nvSpPr>
          <p:cNvPr id="15" name="Kalender Kopf Sa"/>
          <p:cNvSpPr txBox="1">
            <a:spLocks/>
          </p:cNvSpPr>
          <p:nvPr/>
        </p:nvSpPr>
        <p:spPr>
          <a:xfrm>
            <a:off x="1002182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0">
                <a:solidFill>
                  <a:srgbClr val="003663"/>
                </a:solidFill>
              </a:rPr>
              <a:t>Sa</a:t>
            </a:r>
          </a:p>
        </p:txBody>
      </p:sp>
      <p:sp>
        <p:nvSpPr>
          <p:cNvPr id="16" name="Kalender Kopf So"/>
          <p:cNvSpPr txBox="1">
            <a:spLocks/>
          </p:cNvSpPr>
          <p:nvPr/>
        </p:nvSpPr>
        <p:spPr>
          <a:xfrm>
            <a:off x="1062532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000" b="0">
                <a:solidFill>
                  <a:srgbClr val="003663"/>
                </a:solidFill>
              </a:rPr>
              <a:t>So</a:t>
            </a:r>
          </a:p>
        </p:txBody>
      </p:sp>
      <p:sp>
        <p:nvSpPr>
          <p:cNvPr id="17" name="Kalender Woche 1 Tag 1"/>
          <p:cNvSpPr/>
          <p:nvPr/>
        </p:nvSpPr>
        <p:spPr>
          <a:xfrm>
            <a:off x="7004304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Kalender Woche 1 Tag 2"/>
          <p:cNvSpPr/>
          <p:nvPr/>
        </p:nvSpPr>
        <p:spPr>
          <a:xfrm>
            <a:off x="7607808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Kalender Woche 1 Tag 3"/>
          <p:cNvSpPr/>
          <p:nvPr/>
        </p:nvSpPr>
        <p:spPr>
          <a:xfrm>
            <a:off x="8211312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Kalender Woche 1 Tag 4"/>
          <p:cNvSpPr/>
          <p:nvPr/>
        </p:nvSpPr>
        <p:spPr>
          <a:xfrm>
            <a:off x="8814816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Kalender Woche 1 Tag 5"/>
          <p:cNvSpPr/>
          <p:nvPr/>
        </p:nvSpPr>
        <p:spPr>
          <a:xfrm>
            <a:off x="9418320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Kalender Woche 1 Tag 6"/>
          <p:cNvSpPr/>
          <p:nvPr/>
        </p:nvSpPr>
        <p:spPr>
          <a:xfrm>
            <a:off x="10021824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Kalender Woche 1 Tag 7"/>
          <p:cNvSpPr/>
          <p:nvPr/>
        </p:nvSpPr>
        <p:spPr>
          <a:xfrm>
            <a:off x="10625328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Kalender Woche 2 Tag 1"/>
          <p:cNvSpPr/>
          <p:nvPr/>
        </p:nvSpPr>
        <p:spPr>
          <a:xfrm>
            <a:off x="7004304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Kalender Woche 2 Tag 2"/>
          <p:cNvSpPr/>
          <p:nvPr/>
        </p:nvSpPr>
        <p:spPr>
          <a:xfrm>
            <a:off x="7607808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Kalender Woche 2 Tag 3"/>
          <p:cNvSpPr/>
          <p:nvPr/>
        </p:nvSpPr>
        <p:spPr>
          <a:xfrm>
            <a:off x="8211312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Kalender Woche 2 Tag 4"/>
          <p:cNvSpPr/>
          <p:nvPr/>
        </p:nvSpPr>
        <p:spPr>
          <a:xfrm>
            <a:off x="8814816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Kalender Woche 2 Tag 5"/>
          <p:cNvSpPr/>
          <p:nvPr/>
        </p:nvSpPr>
        <p:spPr>
          <a:xfrm>
            <a:off x="9418320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Kalender Woche 2 Tag 6"/>
          <p:cNvSpPr/>
          <p:nvPr/>
        </p:nvSpPr>
        <p:spPr>
          <a:xfrm>
            <a:off x="10021824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Kalender Woche 2 Tag 7"/>
          <p:cNvSpPr/>
          <p:nvPr/>
        </p:nvSpPr>
        <p:spPr>
          <a:xfrm>
            <a:off x="10625328" y="2615184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Kalender Woche 3 Tag 1"/>
          <p:cNvSpPr/>
          <p:nvPr/>
        </p:nvSpPr>
        <p:spPr>
          <a:xfrm>
            <a:off x="7004304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Kalender Woche 3 Tag 2"/>
          <p:cNvSpPr/>
          <p:nvPr/>
        </p:nvSpPr>
        <p:spPr>
          <a:xfrm>
            <a:off x="7607808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Kalender Woche 3 Tag 3"/>
          <p:cNvSpPr/>
          <p:nvPr/>
        </p:nvSpPr>
        <p:spPr>
          <a:xfrm>
            <a:off x="8211312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Kalender Woche 3 Tag 4"/>
          <p:cNvSpPr/>
          <p:nvPr/>
        </p:nvSpPr>
        <p:spPr>
          <a:xfrm>
            <a:off x="8814816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Kalender Woche 3 Tag 5"/>
          <p:cNvSpPr/>
          <p:nvPr/>
        </p:nvSpPr>
        <p:spPr>
          <a:xfrm>
            <a:off x="9418320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Kalender Woche 3 Tag 6"/>
          <p:cNvSpPr/>
          <p:nvPr/>
        </p:nvSpPr>
        <p:spPr>
          <a:xfrm>
            <a:off x="10021824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Kalender Woche 3 Tag 7"/>
          <p:cNvSpPr/>
          <p:nvPr/>
        </p:nvSpPr>
        <p:spPr>
          <a:xfrm>
            <a:off x="10625328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Kalender Woche 4 Tag 1"/>
          <p:cNvSpPr/>
          <p:nvPr/>
        </p:nvSpPr>
        <p:spPr>
          <a:xfrm>
            <a:off x="7004304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Kalender Woche 4 Tag 2"/>
          <p:cNvSpPr/>
          <p:nvPr/>
        </p:nvSpPr>
        <p:spPr>
          <a:xfrm>
            <a:off x="7607808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Kalender Woche 4 Tag 3"/>
          <p:cNvSpPr/>
          <p:nvPr/>
        </p:nvSpPr>
        <p:spPr>
          <a:xfrm>
            <a:off x="8211312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Kalender Woche 4 Tag 4"/>
          <p:cNvSpPr/>
          <p:nvPr/>
        </p:nvSpPr>
        <p:spPr>
          <a:xfrm>
            <a:off x="8814816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Kalender Woche 4 Tag 5"/>
          <p:cNvSpPr/>
          <p:nvPr/>
        </p:nvSpPr>
        <p:spPr>
          <a:xfrm>
            <a:off x="9418320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Kalender Woche 4 Tag 6"/>
          <p:cNvSpPr/>
          <p:nvPr/>
        </p:nvSpPr>
        <p:spPr>
          <a:xfrm>
            <a:off x="10021824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Kalender Woche 4 Tag 7"/>
          <p:cNvSpPr/>
          <p:nvPr/>
        </p:nvSpPr>
        <p:spPr>
          <a:xfrm>
            <a:off x="10625328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Kalender Woche 5 Tag 1"/>
          <p:cNvSpPr/>
          <p:nvPr/>
        </p:nvSpPr>
        <p:spPr>
          <a:xfrm>
            <a:off x="7004304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Kalender Woche 5 Tag 2"/>
          <p:cNvSpPr/>
          <p:nvPr/>
        </p:nvSpPr>
        <p:spPr>
          <a:xfrm>
            <a:off x="7607808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Kalender Woche 5 Tag 3"/>
          <p:cNvSpPr/>
          <p:nvPr/>
        </p:nvSpPr>
        <p:spPr>
          <a:xfrm>
            <a:off x="8211312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Kalender Woche 5 Tag 4"/>
          <p:cNvSpPr/>
          <p:nvPr/>
        </p:nvSpPr>
        <p:spPr>
          <a:xfrm>
            <a:off x="8814816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Kalender Woche 5 Tag 5"/>
          <p:cNvSpPr/>
          <p:nvPr/>
        </p:nvSpPr>
        <p:spPr>
          <a:xfrm>
            <a:off x="9418320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Kalender Woche 5 Tag 6"/>
          <p:cNvSpPr/>
          <p:nvPr/>
        </p:nvSpPr>
        <p:spPr>
          <a:xfrm>
            <a:off x="10021824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Kalender Woche 5 Tag 7"/>
          <p:cNvSpPr/>
          <p:nvPr/>
        </p:nvSpPr>
        <p:spPr>
          <a:xfrm>
            <a:off x="10625328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Kalender Woche 6 Tag 1"/>
          <p:cNvSpPr/>
          <p:nvPr/>
        </p:nvSpPr>
        <p:spPr>
          <a:xfrm>
            <a:off x="7004304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Kalender Woche 6 Tag 2"/>
          <p:cNvSpPr/>
          <p:nvPr/>
        </p:nvSpPr>
        <p:spPr>
          <a:xfrm>
            <a:off x="7607808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Kalender Woche 6 Tag 3"/>
          <p:cNvSpPr/>
          <p:nvPr/>
        </p:nvSpPr>
        <p:spPr>
          <a:xfrm>
            <a:off x="8211312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Kalender Woche 6 Tag 4"/>
          <p:cNvSpPr/>
          <p:nvPr/>
        </p:nvSpPr>
        <p:spPr>
          <a:xfrm>
            <a:off x="8814816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Kalender Woche 6 Tag 5"/>
          <p:cNvSpPr/>
          <p:nvPr/>
        </p:nvSpPr>
        <p:spPr>
          <a:xfrm>
            <a:off x="9418320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Kalender Woche 6 Tag 6"/>
          <p:cNvSpPr/>
          <p:nvPr/>
        </p:nvSpPr>
        <p:spPr>
          <a:xfrm>
            <a:off x="10021824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Kalender Woche 6 Tag 7"/>
          <p:cNvSpPr/>
          <p:nvPr/>
        </p:nvSpPr>
        <p:spPr>
          <a:xfrm>
            <a:off x="10625328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78494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D534-C2C2-83CB-384D-6E1CE5B1F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Architekturstil 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B12E68-3F62-6A7B-F059-1C0FEB1A6DF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ABD763-9965-FBC4-5072-7D487482BE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5" name="Architecture summary"/>
          <p:cNvSpPr txBox="1"/>
          <p:nvPr/>
        </p:nvSpPr>
        <p:spPr>
          <a:xfrm>
            <a:off x="612648" y="1115568"/>
            <a:ext cx="107899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2100" b="0">
                <a:latin typeface="+mj-lt"/>
              </a:rPr>
              <a:t>Die 3-Schichten-Architektur ermöglicht eine klare Aufgabentrennung.</a:t>
            </a:r>
            <a:endParaRPr lang="de-DE" b="1">
              <a:ea typeface="+mn-lt"/>
              <a:cs typeface="+mn-lt"/>
            </a:endParaRPr>
          </a:p>
        </p:txBody>
      </p:sp>
      <p:sp>
        <p:nvSpPr>
          <p:cNvPr id="6" name="Architecture layer 1"/>
          <p:cNvSpPr/>
          <p:nvPr/>
        </p:nvSpPr>
        <p:spPr>
          <a:xfrm>
            <a:off x="612648" y="1627632"/>
            <a:ext cx="10927080" cy="1170432"/>
          </a:xfrm>
          <a:prstGeom prst="rect">
            <a:avLst/>
          </a:prstGeom>
          <a:solidFill>
            <a:srgbClr val="F2F6F9"/>
          </a:solidFill>
          <a:ln w="12700"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7" name="Layer 1 accent"/>
          <p:cNvSpPr/>
          <p:nvPr/>
        </p:nvSpPr>
        <p:spPr>
          <a:xfrm>
            <a:off x="612648" y="1627632"/>
            <a:ext cx="91440" cy="1170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8" name="Layer 1 number"/>
          <p:cNvSpPr txBox="1"/>
          <p:nvPr/>
        </p:nvSpPr>
        <p:spPr>
          <a:xfrm>
            <a:off x="868680" y="1837944"/>
            <a:ext cx="51206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2200" b="1" noProof="0">
                <a:solidFill>
                  <a:srgbClr val="003663"/>
                </a:solidFill>
                <a:latin typeface="+mj-lt"/>
              </a:rPr>
              <a:t>01</a:t>
            </a:r>
          </a:p>
        </p:txBody>
      </p:sp>
      <p:sp>
        <p:nvSpPr>
          <p:cNvPr id="9" name="Layer 1 label"/>
          <p:cNvSpPr txBox="1"/>
          <p:nvPr/>
        </p:nvSpPr>
        <p:spPr>
          <a:xfrm>
            <a:off x="1527048" y="1792224"/>
            <a:ext cx="2395728" cy="641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de-DE" sz="1600" b="1" noProof="0">
                <a:solidFill>
                  <a:srgbClr val="003663"/>
                </a:solidFill>
                <a:latin typeface="+mj-lt"/>
              </a:rPr>
              <a:t>PRESENTATION LAYER</a:t>
            </a:r>
          </a:p>
          <a:p>
            <a:r>
              <a:rPr lang="de-DE" sz="2400" b="1" noProof="0">
                <a:latin typeface="+mj-lt"/>
              </a:rPr>
              <a:t>Frontend</a:t>
            </a:r>
          </a:p>
        </p:txBody>
      </p:sp>
      <p:sp>
        <p:nvSpPr>
          <p:cNvPr id="11" name="Layer 1 description"/>
          <p:cNvSpPr txBox="1"/>
          <p:nvPr/>
        </p:nvSpPr>
        <p:spPr>
          <a:xfrm>
            <a:off x="6117336" y="2060632"/>
            <a:ext cx="5010912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de-DE" noProof="0">
                <a:latin typeface="+mj-lt"/>
              </a:rPr>
              <a:t>Kalenderansichten, Dashboards und Eingabemasken </a:t>
            </a:r>
            <a:endParaRPr lang="de-DE" noProof="0">
              <a:latin typeface="+mj-lt"/>
              <a:ea typeface="Calibri"/>
              <a:cs typeface="Calibri"/>
            </a:endParaRPr>
          </a:p>
        </p:txBody>
      </p:sp>
      <p:sp>
        <p:nvSpPr>
          <p:cNvPr id="12" name="Architecture layer 2"/>
          <p:cNvSpPr/>
          <p:nvPr/>
        </p:nvSpPr>
        <p:spPr>
          <a:xfrm>
            <a:off x="612648" y="3008376"/>
            <a:ext cx="10927080" cy="1170432"/>
          </a:xfrm>
          <a:prstGeom prst="rect">
            <a:avLst/>
          </a:prstGeom>
          <a:solidFill>
            <a:srgbClr val="E5EEF4"/>
          </a:solidFill>
          <a:ln w="12700"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3" name="Layer 2 accent"/>
          <p:cNvSpPr/>
          <p:nvPr/>
        </p:nvSpPr>
        <p:spPr>
          <a:xfrm>
            <a:off x="612648" y="3008376"/>
            <a:ext cx="91440" cy="1170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4" name="Layer 2 number"/>
          <p:cNvSpPr txBox="1"/>
          <p:nvPr/>
        </p:nvSpPr>
        <p:spPr>
          <a:xfrm>
            <a:off x="868680" y="3218688"/>
            <a:ext cx="51206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2200" b="1" noProof="0">
                <a:solidFill>
                  <a:srgbClr val="003663"/>
                </a:solidFill>
                <a:latin typeface="+mj-lt"/>
              </a:rPr>
              <a:t>02</a:t>
            </a:r>
          </a:p>
        </p:txBody>
      </p:sp>
      <p:sp>
        <p:nvSpPr>
          <p:cNvPr id="15" name="Layer 2 label"/>
          <p:cNvSpPr txBox="1"/>
          <p:nvPr/>
        </p:nvSpPr>
        <p:spPr>
          <a:xfrm>
            <a:off x="1527048" y="3172968"/>
            <a:ext cx="2395728" cy="641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de-DE" sz="1600" b="1" noProof="0">
                <a:solidFill>
                  <a:srgbClr val="003663"/>
                </a:solidFill>
                <a:latin typeface="+mj-lt"/>
              </a:rPr>
              <a:t>BUSINESS LOGIC LAYER</a:t>
            </a:r>
          </a:p>
          <a:p>
            <a:r>
              <a:rPr lang="de-DE" sz="2400" b="1" noProof="0">
                <a:latin typeface="+mj-lt"/>
              </a:rPr>
              <a:t>Backend</a:t>
            </a:r>
          </a:p>
        </p:txBody>
      </p:sp>
      <p:sp>
        <p:nvSpPr>
          <p:cNvPr id="17" name="Layer 2 description"/>
          <p:cNvSpPr txBox="1"/>
          <p:nvPr/>
        </p:nvSpPr>
        <p:spPr>
          <a:xfrm>
            <a:off x="6117336" y="3302877"/>
            <a:ext cx="501091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de-DE" noProof="0">
                <a:latin typeface="+mj-lt"/>
              </a:rPr>
              <a:t>Urlaubslogik, Kontingente, Rollen und Berechtigungen</a:t>
            </a:r>
            <a:endParaRPr lang="de-DE" noProof="0">
              <a:latin typeface="+mj-lt"/>
              <a:ea typeface="Calibri"/>
              <a:cs typeface="Calibri"/>
            </a:endParaRPr>
          </a:p>
        </p:txBody>
      </p:sp>
      <p:sp>
        <p:nvSpPr>
          <p:cNvPr id="18" name="Architecture layer 3"/>
          <p:cNvSpPr/>
          <p:nvPr/>
        </p:nvSpPr>
        <p:spPr>
          <a:xfrm>
            <a:off x="612648" y="4389120"/>
            <a:ext cx="10927080" cy="1170432"/>
          </a:xfrm>
          <a:prstGeom prst="rect">
            <a:avLst/>
          </a:prstGeom>
          <a:solidFill>
            <a:srgbClr val="D7E5EE"/>
          </a:solidFill>
          <a:ln w="12700">
            <a:solidFill>
              <a:srgbClr val="A8B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9" name="Layer 3 accent"/>
          <p:cNvSpPr/>
          <p:nvPr/>
        </p:nvSpPr>
        <p:spPr>
          <a:xfrm>
            <a:off x="612648" y="4389120"/>
            <a:ext cx="91440" cy="11704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20" name="Layer 3 number"/>
          <p:cNvSpPr txBox="1"/>
          <p:nvPr/>
        </p:nvSpPr>
        <p:spPr>
          <a:xfrm>
            <a:off x="868680" y="4599432"/>
            <a:ext cx="51206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de-DE" sz="2200" b="1" noProof="0">
                <a:solidFill>
                  <a:srgbClr val="003663"/>
                </a:solidFill>
                <a:latin typeface="+mj-lt"/>
              </a:rPr>
              <a:t>03</a:t>
            </a:r>
          </a:p>
        </p:txBody>
      </p:sp>
      <p:sp>
        <p:nvSpPr>
          <p:cNvPr id="21" name="Layer 3 label"/>
          <p:cNvSpPr txBox="1"/>
          <p:nvPr/>
        </p:nvSpPr>
        <p:spPr>
          <a:xfrm>
            <a:off x="1527048" y="4553712"/>
            <a:ext cx="2395728" cy="6412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lang="de-DE" sz="1600" b="1" noProof="0">
                <a:solidFill>
                  <a:srgbClr val="003663"/>
                </a:solidFill>
                <a:latin typeface="+mj-lt"/>
              </a:rPr>
              <a:t>DATA ACCESS LAYER</a:t>
            </a:r>
          </a:p>
          <a:p>
            <a:r>
              <a:rPr lang="de-DE" sz="2400" b="1" noProof="0">
                <a:latin typeface="+mj-lt"/>
              </a:rPr>
              <a:t>Datenbank</a:t>
            </a:r>
          </a:p>
        </p:txBody>
      </p:sp>
      <p:sp>
        <p:nvSpPr>
          <p:cNvPr id="23" name="Layer 3 description"/>
          <p:cNvSpPr txBox="1"/>
          <p:nvPr/>
        </p:nvSpPr>
        <p:spPr>
          <a:xfrm>
            <a:off x="6117336" y="4545122"/>
            <a:ext cx="5010912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de-DE" noProof="0">
                <a:latin typeface="+mj-lt"/>
              </a:rPr>
              <a:t>Dauerhafte, konsistente Speicherung von Benutzerdaten, Urlaubsanträgen, Abwesenheiten und Systemkonfigurationen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37D66E77-EEC5-57F2-2B6D-A84D11A151F6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10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31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2AD34-5F67-4F16-572F-6E509E98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Kommunikation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50694-98EC-83D7-D2CA-2B3C89AD01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solidFill>
                  <a:schemeClr val="tx1"/>
                </a:solidFill>
                <a:latin typeface="+mj-lt"/>
              </a:rPr>
              <a:t>27.10.26</a:t>
            </a:fld>
            <a:endParaRPr lang="de-DE" noProof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24CB5-0B5E-3379-083E-4236E5F291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solidFill>
                  <a:schemeClr val="tx1"/>
                </a:solidFill>
                <a:latin typeface="+mj-lt"/>
              </a:rPr>
              <a:t>ProVaCaSy der Hochschule Esslingen</a:t>
            </a:r>
          </a:p>
        </p:txBody>
      </p:sp>
      <p:sp>
        <p:nvSpPr>
          <p:cNvPr id="5" name="Communication summary"/>
          <p:cNvSpPr txBox="1"/>
          <p:nvPr/>
        </p:nvSpPr>
        <p:spPr>
          <a:xfrm>
            <a:off x="612648" y="1115568"/>
            <a:ext cx="107899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2100" b="0" noProof="0">
                <a:latin typeface="+mj-lt"/>
              </a:rPr>
              <a:t>Klare Schnittstellen verbinden Benutzeroberfläche, Fachlogik, Datenhaltung und Anmeldung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423920"/>
            <a:ext cx="2148840" cy="1417320"/>
          </a:xfrm>
          <a:prstGeom prst="rect">
            <a:avLst/>
          </a:prstGeom>
          <a:solidFill>
            <a:srgbClr val="003663"/>
          </a:solidFill>
          <a:ln w="15240">
            <a:solidFill>
              <a:srgbClr val="00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777240" y="3634232"/>
            <a:ext cx="17830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2200" b="1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Frontend</a:t>
            </a:r>
            <a:endParaRPr lang="de-DE" sz="2200" b="1" i="0">
              <a:solidFill>
                <a:srgbClr val="FFFFFF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4067834"/>
            <a:ext cx="1837943" cy="4678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 b="0" i="0">
                <a:solidFill>
                  <a:srgbClr val="FFFFFF"/>
                </a:solidFill>
                <a:latin typeface="+mj-lt"/>
              </a:rPr>
              <a:t>Kalender · Dashboard
· Formulare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8591" y="3420872"/>
            <a:ext cx="3794760" cy="1584960"/>
          </a:xfrm>
          <a:prstGeom prst="rect">
            <a:avLst/>
          </a:prstGeom>
          <a:solidFill>
            <a:srgbClr val="DFEBF2"/>
          </a:solidFill>
          <a:ln w="17780">
            <a:solidFill>
              <a:srgbClr val="00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96512" y="3497072"/>
            <a:ext cx="3977639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2200" b="1">
                <a:solidFill>
                  <a:srgbClr val="003663"/>
                </a:solidFill>
                <a:latin typeface="+mj-lt"/>
              </a:rPr>
              <a:t>Backend</a:t>
            </a:r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4187952" y="3990847"/>
            <a:ext cx="3794760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 i="0">
                <a:solidFill>
                  <a:srgbClr val="003663"/>
                </a:solidFill>
                <a:latin typeface="+mj-lt"/>
              </a:rPr>
              <a:t>Controller  →  Services  →  Repository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9445752" y="3423920"/>
            <a:ext cx="2148840" cy="1417320"/>
          </a:xfrm>
          <a:prstGeom prst="rect">
            <a:avLst/>
          </a:prstGeom>
          <a:solidFill>
            <a:srgbClr val="003663"/>
          </a:solidFill>
          <a:ln w="15240">
            <a:solidFill>
              <a:srgbClr val="00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628632" y="3634232"/>
            <a:ext cx="1783080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2200" b="1">
                <a:solidFill>
                  <a:srgbClr val="FFFFFF"/>
                </a:solidFill>
                <a:latin typeface="+mj-lt"/>
              </a:rPr>
              <a:t>Datenbank</a:t>
            </a:r>
            <a:endParaRPr lang="de-DE"/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4736592" y="1979168"/>
            <a:ext cx="2697480" cy="987552"/>
          </a:xfrm>
          <a:prstGeom prst="rect">
            <a:avLst/>
          </a:prstGeom>
          <a:solidFill>
            <a:srgbClr val="F4B62A"/>
          </a:solidFill>
          <a:ln w="15240">
            <a:solidFill>
              <a:srgbClr val="003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4956048" y="2098040"/>
            <a:ext cx="2258568" cy="34747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2000" b="1">
                <a:solidFill>
                  <a:srgbClr val="003663"/>
                </a:solidFill>
                <a:latin typeface="+mj-lt"/>
              </a:rPr>
              <a:t>Authentifizierung</a:t>
            </a:r>
            <a:endParaRPr lang="de-DE"/>
          </a:p>
        </p:txBody>
      </p:sp>
      <p:sp>
        <p:nvSpPr>
          <p:cNvPr id="18" name="TextBox 17"/>
          <p:cNvSpPr txBox="1"/>
          <p:nvPr/>
        </p:nvSpPr>
        <p:spPr>
          <a:xfrm>
            <a:off x="4901184" y="2493059"/>
            <a:ext cx="2368296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 b="0" i="0">
                <a:solidFill>
                  <a:srgbClr val="003663"/>
                </a:solidFill>
                <a:latin typeface="+mj-lt"/>
              </a:rPr>
              <a:t>Identity &amp; Access · OAuth 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5232" y="3813925"/>
            <a:ext cx="1440688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 b="1" i="0">
                <a:solidFill>
                  <a:srgbClr val="003663"/>
                </a:solidFill>
                <a:latin typeface="+mj-lt"/>
              </a:rPr>
              <a:t>Auth-Code / API</a:t>
            </a:r>
            <a:endParaRPr lang="de-DE" sz="1400" b="1" i="0">
              <a:solidFill>
                <a:srgbClr val="003663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65008" y="3699051"/>
            <a:ext cx="1307592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 b="1">
                <a:solidFill>
                  <a:srgbClr val="003663"/>
                </a:solidFill>
                <a:latin typeface="+mj-lt"/>
              </a:rPr>
              <a:t>Anfrage / Daten</a:t>
            </a:r>
            <a:endParaRPr lang="de-DE" sz="1400" b="1">
              <a:solidFill>
                <a:srgbClr val="003663"/>
              </a:solidFill>
              <a:ea typeface="Calibri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340864" y="2081579"/>
            <a:ext cx="1572768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 b="1">
                <a:solidFill>
                  <a:srgbClr val="003663"/>
                </a:solidFill>
                <a:ea typeface="Calibri"/>
                <a:cs typeface="Calibri"/>
              </a:rPr>
              <a:t>Login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6323584" y="3072687"/>
            <a:ext cx="1481328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lang="de-DE" sz="1400" b="1">
                <a:solidFill>
                  <a:srgbClr val="003663"/>
                </a:solidFill>
                <a:latin typeface="+mj-lt"/>
                <a:ea typeface="Calibri"/>
                <a:cs typeface="Calibri"/>
              </a:rPr>
              <a:t>Holt Schlüssel</a:t>
            </a:r>
            <a:endParaRPr lang="de-DE" sz="1400" b="1" i="0">
              <a:solidFill>
                <a:srgbClr val="003663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5BE3C37E-B7C5-E29A-00A7-49AE5F23CC06}"/>
              </a:ext>
            </a:extLst>
          </p:cNvPr>
          <p:cNvSpPr txBox="1"/>
          <p:nvPr/>
        </p:nvSpPr>
        <p:spPr>
          <a:xfrm>
            <a:off x="9558528" y="4165394"/>
            <a:ext cx="1837943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>
                <a:solidFill>
                  <a:srgbClr val="FFFFFF"/>
                </a:solidFill>
                <a:latin typeface="+mj-lt"/>
              </a:rPr>
              <a:t>Daten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A62B6C0-DF1F-8083-1171-6EC31EAB11BD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11</a:t>
            </a:r>
            <a:endParaRPr lang="de-DE" sz="800" cap="none" baseline="0">
              <a:ea typeface="Calibri"/>
              <a:cs typeface="Calibri"/>
            </a:endParaRPr>
          </a:p>
        </p:txBody>
      </p:sp>
      <p:cxnSp>
        <p:nvCxnSpPr>
          <p:cNvPr id="44" name="Frontend to Backend"/>
          <p:cNvCxnSpPr/>
          <p:nvPr/>
        </p:nvCxnSpPr>
        <p:spPr>
          <a:xfrm>
            <a:off x="2753360" y="4070000"/>
            <a:ext cx="1444751" cy="0"/>
          </a:xfrm>
          <a:prstGeom prst="line">
            <a:avLst/>
          </a:prstGeom>
          <a:ln w="22860">
            <a:solidFill>
              <a:srgbClr val="D91E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Backend to Frontend"/>
          <p:cNvCxnSpPr/>
          <p:nvPr/>
        </p:nvCxnSpPr>
        <p:spPr>
          <a:xfrm flipH="1">
            <a:off x="2753360" y="4184000"/>
            <a:ext cx="1444751" cy="0"/>
          </a:xfrm>
          <a:prstGeom prst="line">
            <a:avLst/>
          </a:prstGeom>
          <a:ln w="22860">
            <a:solidFill>
              <a:srgbClr val="D91E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Backend to Database"/>
          <p:cNvCxnSpPr/>
          <p:nvPr/>
        </p:nvCxnSpPr>
        <p:spPr>
          <a:xfrm>
            <a:off x="8032872" y="4070000"/>
            <a:ext cx="1402880" cy="0"/>
          </a:xfrm>
          <a:prstGeom prst="line">
            <a:avLst/>
          </a:prstGeom>
          <a:ln w="22860">
            <a:solidFill>
              <a:srgbClr val="D91E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Database to Backend"/>
          <p:cNvCxnSpPr/>
          <p:nvPr/>
        </p:nvCxnSpPr>
        <p:spPr>
          <a:xfrm flipH="1">
            <a:off x="8032872" y="4184000"/>
            <a:ext cx="1402880" cy="0"/>
          </a:xfrm>
          <a:prstGeom prst="line">
            <a:avLst/>
          </a:prstGeom>
          <a:ln w="22860">
            <a:solidFill>
              <a:srgbClr val="D91E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uthentication to Backend"/>
          <p:cNvCxnSpPr/>
          <p:nvPr/>
        </p:nvCxnSpPr>
        <p:spPr>
          <a:xfrm>
            <a:off x="6040000" y="2976880"/>
            <a:ext cx="0" cy="433832"/>
          </a:xfrm>
          <a:prstGeom prst="line">
            <a:avLst/>
          </a:prstGeom>
          <a:ln w="22860">
            <a:solidFill>
              <a:srgbClr val="D91E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Backend to Authentication"/>
          <p:cNvCxnSpPr/>
          <p:nvPr/>
        </p:nvCxnSpPr>
        <p:spPr>
          <a:xfrm flipV="1">
            <a:off x="6162000" y="2976880"/>
            <a:ext cx="0" cy="433832"/>
          </a:xfrm>
          <a:prstGeom prst="line">
            <a:avLst/>
          </a:prstGeom>
          <a:ln w="22860">
            <a:solidFill>
              <a:srgbClr val="D91E4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Frontend login path vertical"/>
          <p:cNvCxnSpPr/>
          <p:nvPr/>
        </p:nvCxnSpPr>
        <p:spPr>
          <a:xfrm flipV="1">
            <a:off x="1605000" y="2378000"/>
            <a:ext cx="0" cy="1045920"/>
          </a:xfrm>
          <a:prstGeom prst="line">
            <a:avLst/>
          </a:prstGeom>
          <a:ln w="22860">
            <a:solidFill>
              <a:srgbClr val="F4B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Frontend to Authentication"/>
          <p:cNvCxnSpPr/>
          <p:nvPr/>
        </p:nvCxnSpPr>
        <p:spPr>
          <a:xfrm>
            <a:off x="1605000" y="2378000"/>
            <a:ext cx="3131592" cy="0"/>
          </a:xfrm>
          <a:prstGeom prst="line">
            <a:avLst/>
          </a:prstGeom>
          <a:ln w="22860">
            <a:solidFill>
              <a:srgbClr val="F4B62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Authentication redirect path horizontal"/>
          <p:cNvCxnSpPr/>
          <p:nvPr/>
        </p:nvCxnSpPr>
        <p:spPr>
          <a:xfrm flipH="1">
            <a:off x="1730000" y="2498000"/>
            <a:ext cx="3006592" cy="0"/>
          </a:xfrm>
          <a:prstGeom prst="line">
            <a:avLst/>
          </a:prstGeom>
          <a:ln w="22860">
            <a:solidFill>
              <a:srgbClr val="F4B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uthentication to Frontend"/>
          <p:cNvCxnSpPr/>
          <p:nvPr/>
        </p:nvCxnSpPr>
        <p:spPr>
          <a:xfrm>
            <a:off x="1730000" y="2498000"/>
            <a:ext cx="0" cy="925920"/>
          </a:xfrm>
          <a:prstGeom prst="line">
            <a:avLst/>
          </a:prstGeom>
          <a:ln w="22860">
            <a:solidFill>
              <a:srgbClr val="F4B62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24">
            <a:extLst>
              <a:ext uri="{FF2B5EF4-FFF2-40B4-BE49-F238E27FC236}">
                <a16:creationId xmlns:a16="http://schemas.microsoft.com/office/drawing/2014/main" id="{3A99C29A-723C-E3AC-99F1-F64104C29CA4}"/>
              </a:ext>
            </a:extLst>
          </p:cNvPr>
          <p:cNvSpPr txBox="1"/>
          <p:nvPr/>
        </p:nvSpPr>
        <p:spPr>
          <a:xfrm>
            <a:off x="2353564" y="2513379"/>
            <a:ext cx="1572768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lang="de-DE" sz="1400" b="1">
                <a:solidFill>
                  <a:srgbClr val="003663"/>
                </a:solidFill>
                <a:ea typeface="Calibri"/>
                <a:cs typeface="Calibri"/>
              </a:rPr>
              <a:t>Token</a:t>
            </a:r>
          </a:p>
        </p:txBody>
      </p:sp>
    </p:spTree>
    <p:extLst>
      <p:ext uri="{BB962C8B-B14F-4D97-AF65-F5344CB8AC3E}">
        <p14:creationId xmlns:p14="http://schemas.microsoft.com/office/powerpoint/2010/main" val="286285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">
            <a:extLst>
              <a:ext uri="{FF2B5EF4-FFF2-40B4-BE49-F238E27FC236}">
                <a16:creationId xmlns:a16="http://schemas.microsoft.com/office/drawing/2014/main" id="{3A4FF289-2691-F20D-EBDA-0E75AC9AAF3A}"/>
              </a:ext>
            </a:extLst>
          </p:cNvPr>
          <p:cNvSpPr/>
          <p:nvPr/>
        </p:nvSpPr>
        <p:spPr>
          <a:xfrm>
            <a:off x="5984748" y="3707724"/>
            <a:ext cx="5372100" cy="173592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8" name="Rounded Rectangle 1">
            <a:extLst>
              <a:ext uri="{FF2B5EF4-FFF2-40B4-BE49-F238E27FC236}">
                <a16:creationId xmlns:a16="http://schemas.microsoft.com/office/drawing/2014/main" id="{D15AB497-24CC-D602-42BE-A31D40598904}"/>
              </a:ext>
            </a:extLst>
          </p:cNvPr>
          <p:cNvSpPr/>
          <p:nvPr/>
        </p:nvSpPr>
        <p:spPr>
          <a:xfrm>
            <a:off x="5984748" y="1808523"/>
            <a:ext cx="5372100" cy="173592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6" name="Rounded Rectangle 1">
            <a:extLst>
              <a:ext uri="{FF2B5EF4-FFF2-40B4-BE49-F238E27FC236}">
                <a16:creationId xmlns:a16="http://schemas.microsoft.com/office/drawing/2014/main" id="{A7214AEF-16FE-34C7-7420-157E1B599E8D}"/>
              </a:ext>
            </a:extLst>
          </p:cNvPr>
          <p:cNvSpPr/>
          <p:nvPr/>
        </p:nvSpPr>
        <p:spPr>
          <a:xfrm>
            <a:off x="418338" y="3717305"/>
            <a:ext cx="5372100" cy="173592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ACE31AEC-A7C1-D108-9DE0-EE1B0C31824C}"/>
              </a:ext>
            </a:extLst>
          </p:cNvPr>
          <p:cNvSpPr/>
          <p:nvPr/>
        </p:nvSpPr>
        <p:spPr>
          <a:xfrm>
            <a:off x="418338" y="1808523"/>
            <a:ext cx="5372100" cy="173592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43BCA-0894-A656-0AD5-C3406596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Sicherheit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7A3A2-BD27-6D45-AF67-3C3CAFDEF17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latin typeface="+mj-lt"/>
              </a:rPr>
              <a:t>27.10.26</a:t>
            </a:fld>
            <a:endParaRPr lang="de-DE" noProof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9A340-4121-B9B0-E89A-6DC4EB3587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latin typeface="+mj-lt"/>
              </a:rPr>
              <a:t>ProVaCaSy der Hochschule Esslingen</a:t>
            </a:r>
          </a:p>
        </p:txBody>
      </p:sp>
      <p:sp>
        <p:nvSpPr>
          <p:cNvPr id="6" name="Login and identity"/>
          <p:cNvSpPr txBox="1"/>
          <p:nvPr/>
        </p:nvSpPr>
        <p:spPr>
          <a:xfrm>
            <a:off x="612648" y="1874519"/>
            <a:ext cx="4983480" cy="105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Sichere Anmeldung</a:t>
            </a:r>
          </a:p>
          <a:p>
            <a:pPr algn="l"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Zentraler Login für Professoren, Sekretariat und Dekanat </a:t>
            </a:r>
          </a:p>
        </p:txBody>
      </p:sp>
      <p:sp>
        <p:nvSpPr>
          <p:cNvPr id="7" name="Tokens and backend"/>
          <p:cNvSpPr txBox="1"/>
          <p:nvPr/>
        </p:nvSpPr>
        <p:spPr>
          <a:xfrm>
            <a:off x="612648" y="3846315"/>
            <a:ext cx="4983480" cy="105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Gültige Tokens</a:t>
            </a:r>
          </a:p>
          <a:p>
            <a:pPr algn="l"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Das Backend lehnt Anfragen ohne gültiges Token ab.</a:t>
            </a:r>
            <a:endParaRPr lang="de-DE" sz="1900" b="0" noProof="0">
              <a:solidFill>
                <a:srgbClr val="132E45"/>
              </a:solidFill>
              <a:latin typeface="+mj-lt"/>
              <a:ea typeface="Calibri"/>
              <a:cs typeface="Calibri"/>
            </a:endParaRPr>
          </a:p>
        </p:txBody>
      </p:sp>
      <p:sp>
        <p:nvSpPr>
          <p:cNvPr id="8" name="Role access"/>
          <p:cNvSpPr txBox="1"/>
          <p:nvPr/>
        </p:nvSpPr>
        <p:spPr>
          <a:xfrm>
            <a:off x="6144768" y="1874519"/>
            <a:ext cx="4983480" cy="105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Rollenbasierter Zugriff</a:t>
            </a:r>
          </a:p>
          <a:p>
            <a:pPr algn="l"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Jede Rolle sieht nur die vorgesehenen Funktionen und Daten.</a:t>
            </a:r>
          </a:p>
        </p:txBody>
      </p:sp>
      <p:sp>
        <p:nvSpPr>
          <p:cNvPr id="9" name="Project permissions"/>
          <p:cNvSpPr txBox="1"/>
          <p:nvPr/>
        </p:nvSpPr>
        <p:spPr>
          <a:xfrm>
            <a:off x="6144768" y="3846315"/>
            <a:ext cx="4983480" cy="105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Berechtigungen im Projekt</a:t>
            </a:r>
          </a:p>
          <a:p>
            <a:pPr algn="l"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Professoren verwalten eigene Anträge; nur das Dekanat darf Anträge genehmigen oder ablehnen.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33459FC-DEF9-5C41-29D6-B58CF1C2209B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12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108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4F75-503E-3A03-EDB2-BFF23D964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80585-8B28-F894-3305-513CA201EA4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9708-0584-49B3-5C4F-4E90AA8D84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D6A24C74-CF7A-A300-FB75-DFDFF1CA0A32}"/>
              </a:ext>
            </a:extLst>
          </p:cNvPr>
          <p:cNvSpPr txBox="1">
            <a:spLocks/>
          </p:cNvSpPr>
          <p:nvPr/>
        </p:nvSpPr>
        <p:spPr>
          <a:xfrm>
            <a:off x="621792" y="2359152"/>
            <a:ext cx="5806440" cy="292608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0" rIns="73152" bIns="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Anforderungen an die Anwendung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High-Level-Architektur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2700" b="1" noProof="0">
                <a:solidFill>
                  <a:srgbClr val="003663"/>
                </a:solidFill>
              </a:rPr>
              <a:t>Technologien &amp; Tech-Stack</a:t>
            </a:r>
            <a:endParaRPr lang="de-DE" sz="2400" b="1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Entwicklungsumgebung &amp; </a:t>
            </a:r>
            <a:r>
              <a:rPr lang="de-DE" sz="1900" b="0" noProof="0" err="1">
                <a:solidFill>
                  <a:srgbClr val="4F6576"/>
                </a:solidFill>
              </a:rPr>
              <a:t>Toolchain</a:t>
            </a:r>
            <a:endParaRPr lang="de-DE" sz="1900" noProof="0">
              <a:solidFill>
                <a:schemeClr val="tx1"/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Nutzerinteraktion &amp; UI Mockups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Teamzusammenarbeit: Methode, Rollen &amp; Tools</a:t>
            </a:r>
          </a:p>
          <a:p>
            <a:endParaRPr lang="de-DE" sz="2400" noProof="0">
              <a:solidFill>
                <a:schemeClr val="tx1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7F290F4F-D1F2-4066-FD82-E71AF297EC6E}"/>
              </a:ext>
            </a:extLst>
          </p:cNvPr>
          <p:cNvSpPr txBox="1">
            <a:spLocks/>
          </p:cNvSpPr>
          <p:nvPr/>
        </p:nvSpPr>
        <p:spPr>
          <a:xfrm>
            <a:off x="621792" y="1746504"/>
            <a:ext cx="2953512" cy="62179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normAutofit lnSpcReduction="10000"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</a:rPr>
              <a:t>Agenda</a:t>
            </a:r>
            <a:endParaRPr lang="de-DE" sz="1600" b="1" cap="none" noProof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0A5D6E8-C77D-7A93-2CC2-1715C5F8D0AA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13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0" name="Kalender Kopf Mo"/>
          <p:cNvSpPr txBox="1"/>
          <p:nvPr/>
        </p:nvSpPr>
        <p:spPr>
          <a:xfrm>
            <a:off x="700430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Mo</a:t>
            </a:r>
          </a:p>
        </p:txBody>
      </p:sp>
      <p:sp>
        <p:nvSpPr>
          <p:cNvPr id="11" name="Kalender Kopf Di"/>
          <p:cNvSpPr txBox="1"/>
          <p:nvPr/>
        </p:nvSpPr>
        <p:spPr>
          <a:xfrm>
            <a:off x="760780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Di</a:t>
            </a:r>
          </a:p>
        </p:txBody>
      </p:sp>
      <p:sp>
        <p:nvSpPr>
          <p:cNvPr id="12" name="Kalender Kopf Mi"/>
          <p:cNvSpPr txBox="1"/>
          <p:nvPr/>
        </p:nvSpPr>
        <p:spPr>
          <a:xfrm>
            <a:off x="8211312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Mi</a:t>
            </a:r>
          </a:p>
        </p:txBody>
      </p:sp>
      <p:sp>
        <p:nvSpPr>
          <p:cNvPr id="13" name="Kalender Kopf Do"/>
          <p:cNvSpPr txBox="1"/>
          <p:nvPr/>
        </p:nvSpPr>
        <p:spPr>
          <a:xfrm>
            <a:off x="8814816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Do</a:t>
            </a:r>
          </a:p>
        </p:txBody>
      </p:sp>
      <p:sp>
        <p:nvSpPr>
          <p:cNvPr id="14" name="Kalender Kopf Fr"/>
          <p:cNvSpPr txBox="1"/>
          <p:nvPr/>
        </p:nvSpPr>
        <p:spPr>
          <a:xfrm>
            <a:off x="9418320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Fr</a:t>
            </a:r>
          </a:p>
        </p:txBody>
      </p:sp>
      <p:sp>
        <p:nvSpPr>
          <p:cNvPr id="15" name="Kalender Kopf Sa"/>
          <p:cNvSpPr txBox="1"/>
          <p:nvPr/>
        </p:nvSpPr>
        <p:spPr>
          <a:xfrm>
            <a:off x="1002182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Sa</a:t>
            </a:r>
          </a:p>
        </p:txBody>
      </p:sp>
      <p:sp>
        <p:nvSpPr>
          <p:cNvPr id="16" name="Kalender Kopf So"/>
          <p:cNvSpPr txBox="1"/>
          <p:nvPr/>
        </p:nvSpPr>
        <p:spPr>
          <a:xfrm>
            <a:off x="1062532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So</a:t>
            </a:r>
          </a:p>
        </p:txBody>
      </p:sp>
      <p:sp>
        <p:nvSpPr>
          <p:cNvPr id="17" name="Kalender Woche 1 Tag 1"/>
          <p:cNvSpPr/>
          <p:nvPr/>
        </p:nvSpPr>
        <p:spPr>
          <a:xfrm>
            <a:off x="7004304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Kalender Woche 1 Tag 2"/>
          <p:cNvSpPr/>
          <p:nvPr/>
        </p:nvSpPr>
        <p:spPr>
          <a:xfrm>
            <a:off x="7607808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Kalender Woche 1 Tag 3"/>
          <p:cNvSpPr/>
          <p:nvPr/>
        </p:nvSpPr>
        <p:spPr>
          <a:xfrm>
            <a:off x="8211312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Kalender Woche 1 Tag 4"/>
          <p:cNvSpPr/>
          <p:nvPr/>
        </p:nvSpPr>
        <p:spPr>
          <a:xfrm>
            <a:off x="8814816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Kalender Woche 1 Tag 5"/>
          <p:cNvSpPr/>
          <p:nvPr/>
        </p:nvSpPr>
        <p:spPr>
          <a:xfrm>
            <a:off x="9418320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Kalender Woche 1 Tag 6"/>
          <p:cNvSpPr/>
          <p:nvPr/>
        </p:nvSpPr>
        <p:spPr>
          <a:xfrm>
            <a:off x="10021824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Kalender Woche 1 Tag 7"/>
          <p:cNvSpPr/>
          <p:nvPr/>
        </p:nvSpPr>
        <p:spPr>
          <a:xfrm>
            <a:off x="10625328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Kalender Woche 2 Tag 1"/>
          <p:cNvSpPr/>
          <p:nvPr/>
        </p:nvSpPr>
        <p:spPr>
          <a:xfrm>
            <a:off x="7004304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Kalender Woche 2 Tag 2"/>
          <p:cNvSpPr/>
          <p:nvPr/>
        </p:nvSpPr>
        <p:spPr>
          <a:xfrm>
            <a:off x="7607808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Kalender Woche 2 Tag 3"/>
          <p:cNvSpPr/>
          <p:nvPr/>
        </p:nvSpPr>
        <p:spPr>
          <a:xfrm>
            <a:off x="8211312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Kalender Woche 2 Tag 4"/>
          <p:cNvSpPr/>
          <p:nvPr/>
        </p:nvSpPr>
        <p:spPr>
          <a:xfrm>
            <a:off x="8814816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Kalender Woche 2 Tag 5"/>
          <p:cNvSpPr/>
          <p:nvPr/>
        </p:nvSpPr>
        <p:spPr>
          <a:xfrm>
            <a:off x="9418320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Kalender Woche 2 Tag 6"/>
          <p:cNvSpPr/>
          <p:nvPr/>
        </p:nvSpPr>
        <p:spPr>
          <a:xfrm>
            <a:off x="10021824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Kalender Woche 2 Tag 7"/>
          <p:cNvSpPr/>
          <p:nvPr/>
        </p:nvSpPr>
        <p:spPr>
          <a:xfrm>
            <a:off x="10625328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Kalender Woche 3 Tag 1"/>
          <p:cNvSpPr/>
          <p:nvPr/>
        </p:nvSpPr>
        <p:spPr>
          <a:xfrm>
            <a:off x="7004304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Kalender Woche 3 Tag 2"/>
          <p:cNvSpPr/>
          <p:nvPr/>
        </p:nvSpPr>
        <p:spPr>
          <a:xfrm>
            <a:off x="7607808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Kalender Woche 3 Tag 3"/>
          <p:cNvSpPr/>
          <p:nvPr/>
        </p:nvSpPr>
        <p:spPr>
          <a:xfrm>
            <a:off x="8211312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Kalender Woche 3 Tag 4"/>
          <p:cNvSpPr/>
          <p:nvPr/>
        </p:nvSpPr>
        <p:spPr>
          <a:xfrm>
            <a:off x="8814816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Kalender Woche 3 Tag 5"/>
          <p:cNvSpPr/>
          <p:nvPr/>
        </p:nvSpPr>
        <p:spPr>
          <a:xfrm>
            <a:off x="9418320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Kalender Woche 3 Tag 6"/>
          <p:cNvSpPr/>
          <p:nvPr/>
        </p:nvSpPr>
        <p:spPr>
          <a:xfrm>
            <a:off x="10021824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Kalender Woche 3 Tag 7"/>
          <p:cNvSpPr/>
          <p:nvPr/>
        </p:nvSpPr>
        <p:spPr>
          <a:xfrm>
            <a:off x="10625328" y="3200400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Kalender Woche 4 Tag 1"/>
          <p:cNvSpPr/>
          <p:nvPr/>
        </p:nvSpPr>
        <p:spPr>
          <a:xfrm>
            <a:off x="7004304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Kalender Woche 4 Tag 2"/>
          <p:cNvSpPr/>
          <p:nvPr/>
        </p:nvSpPr>
        <p:spPr>
          <a:xfrm>
            <a:off x="7607808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Kalender Woche 4 Tag 3"/>
          <p:cNvSpPr/>
          <p:nvPr/>
        </p:nvSpPr>
        <p:spPr>
          <a:xfrm>
            <a:off x="8211312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Kalender Woche 4 Tag 4"/>
          <p:cNvSpPr/>
          <p:nvPr/>
        </p:nvSpPr>
        <p:spPr>
          <a:xfrm>
            <a:off x="8814816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Kalender Woche 4 Tag 5"/>
          <p:cNvSpPr/>
          <p:nvPr/>
        </p:nvSpPr>
        <p:spPr>
          <a:xfrm>
            <a:off x="9418320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Kalender Woche 4 Tag 6"/>
          <p:cNvSpPr/>
          <p:nvPr/>
        </p:nvSpPr>
        <p:spPr>
          <a:xfrm>
            <a:off x="10021824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Kalender Woche 4 Tag 7"/>
          <p:cNvSpPr/>
          <p:nvPr/>
        </p:nvSpPr>
        <p:spPr>
          <a:xfrm>
            <a:off x="10625328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Kalender Woche 5 Tag 1"/>
          <p:cNvSpPr/>
          <p:nvPr/>
        </p:nvSpPr>
        <p:spPr>
          <a:xfrm>
            <a:off x="7004304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Kalender Woche 5 Tag 2"/>
          <p:cNvSpPr/>
          <p:nvPr/>
        </p:nvSpPr>
        <p:spPr>
          <a:xfrm>
            <a:off x="7607808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Kalender Woche 5 Tag 3"/>
          <p:cNvSpPr/>
          <p:nvPr/>
        </p:nvSpPr>
        <p:spPr>
          <a:xfrm>
            <a:off x="8211312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Kalender Woche 5 Tag 4"/>
          <p:cNvSpPr/>
          <p:nvPr/>
        </p:nvSpPr>
        <p:spPr>
          <a:xfrm>
            <a:off x="8814816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Kalender Woche 5 Tag 5"/>
          <p:cNvSpPr/>
          <p:nvPr/>
        </p:nvSpPr>
        <p:spPr>
          <a:xfrm>
            <a:off x="9418320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Kalender Woche 5 Tag 6"/>
          <p:cNvSpPr/>
          <p:nvPr/>
        </p:nvSpPr>
        <p:spPr>
          <a:xfrm>
            <a:off x="10021824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Kalender Woche 5 Tag 7"/>
          <p:cNvSpPr/>
          <p:nvPr/>
        </p:nvSpPr>
        <p:spPr>
          <a:xfrm>
            <a:off x="10625328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Kalender Woche 6 Tag 1"/>
          <p:cNvSpPr/>
          <p:nvPr/>
        </p:nvSpPr>
        <p:spPr>
          <a:xfrm>
            <a:off x="7004304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Kalender Woche 6 Tag 2"/>
          <p:cNvSpPr/>
          <p:nvPr/>
        </p:nvSpPr>
        <p:spPr>
          <a:xfrm>
            <a:off x="7607808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Kalender Woche 6 Tag 3"/>
          <p:cNvSpPr/>
          <p:nvPr/>
        </p:nvSpPr>
        <p:spPr>
          <a:xfrm>
            <a:off x="8211312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Kalender Woche 6 Tag 4"/>
          <p:cNvSpPr/>
          <p:nvPr/>
        </p:nvSpPr>
        <p:spPr>
          <a:xfrm>
            <a:off x="8814816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Kalender Woche 6 Tag 5"/>
          <p:cNvSpPr/>
          <p:nvPr/>
        </p:nvSpPr>
        <p:spPr>
          <a:xfrm>
            <a:off x="9418320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Kalender Woche 6 Tag 6"/>
          <p:cNvSpPr/>
          <p:nvPr/>
        </p:nvSpPr>
        <p:spPr>
          <a:xfrm>
            <a:off x="10021824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Kalender Woche 6 Tag 7"/>
          <p:cNvSpPr/>
          <p:nvPr/>
        </p:nvSpPr>
        <p:spPr>
          <a:xfrm>
            <a:off x="10625328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628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B1E5-6076-3D82-2070-41D3241A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Frontend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BA8B7-BEAA-D44A-021B-3B023D1AB9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7CF46-CE5F-AE01-D941-24AA8E8571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C37CEDF-2BB0-E7A1-03E9-11ED0F3DB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3164" y="400367"/>
            <a:ext cx="3898900" cy="2179320"/>
          </a:xfrm>
          <a:prstGeom prst="rect">
            <a:avLst/>
          </a:prstGeom>
        </p:spPr>
      </p:pic>
      <p:sp>
        <p:nvSpPr>
          <p:cNvPr id="8" name="TextBox 14">
            <a:extLst>
              <a:ext uri="{FF2B5EF4-FFF2-40B4-BE49-F238E27FC236}">
                <a16:creationId xmlns:a16="http://schemas.microsoft.com/office/drawing/2014/main" id="{62BA956D-86D6-42B1-3E79-FFBEAF9A1F32}"/>
              </a:ext>
            </a:extLst>
          </p:cNvPr>
          <p:cNvSpPr txBox="1"/>
          <p:nvPr/>
        </p:nvSpPr>
        <p:spPr>
          <a:xfrm>
            <a:off x="613841" y="1490027"/>
            <a:ext cx="7659370" cy="3416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>
                <a:ea typeface="+mn-lt"/>
                <a:cs typeface="+mn-lt"/>
              </a:rPr>
              <a:t>Single</a:t>
            </a:r>
            <a:r>
              <a:rPr lang="de-DE" sz="2400" b="1" noProof="0">
                <a:ea typeface="+mn-lt"/>
                <a:cs typeface="+mn-lt"/>
              </a:rPr>
              <a:t> </a:t>
            </a:r>
            <a:r>
              <a:rPr lang="de-DE" sz="2400" b="1">
                <a:ea typeface="+mn-lt"/>
                <a:cs typeface="+mn-lt"/>
              </a:rPr>
              <a:t>Page </a:t>
            </a:r>
            <a:r>
              <a:rPr lang="de-DE" sz="2400" b="1" err="1">
                <a:ea typeface="+mn-lt"/>
                <a:cs typeface="+mn-lt"/>
              </a:rPr>
              <a:t>Application</a:t>
            </a:r>
            <a:r>
              <a:rPr lang="de-DE" sz="2400">
                <a:ea typeface="+mn-lt"/>
                <a:cs typeface="+mn-lt"/>
              </a:rPr>
              <a:t> </a:t>
            </a:r>
            <a:r>
              <a:rPr lang="de-DE" sz="2400" b="0" noProof="0">
                <a:ea typeface="+mn-lt"/>
                <a:cs typeface="+mn-lt"/>
              </a:rPr>
              <a:t>— ohne </a:t>
            </a:r>
            <a:r>
              <a:rPr lang="de-DE" sz="2400" b="0" noProof="0" err="1">
                <a:ea typeface="+mn-lt"/>
                <a:cs typeface="+mn-lt"/>
              </a:rPr>
              <a:t>Neuladen</a:t>
            </a:r>
            <a:endParaRPr lang="de-DE" sz="2400" noProof="0">
              <a:ea typeface="Calibri"/>
              <a:cs typeface="Calibri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Komponenten</a:t>
            </a:r>
            <a:r>
              <a:rPr lang="de-DE" sz="2400" b="0" noProof="0">
                <a:ea typeface="+mn-lt"/>
                <a:cs typeface="+mn-lt"/>
              </a:rPr>
              <a:t> — wiederverwendbar</a:t>
            </a:r>
            <a:endParaRPr lang="de-DE" sz="2400" noProof="0">
              <a:ea typeface="Calibri"/>
              <a:cs typeface="Calibri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Einstieg</a:t>
            </a:r>
            <a:r>
              <a:rPr lang="de-DE" sz="2400" b="0" noProof="0">
                <a:ea typeface="+mn-lt"/>
                <a:cs typeface="+mn-lt"/>
              </a:rPr>
              <a:t> — schnell im Team</a:t>
            </a:r>
            <a:endParaRPr lang="de-DE" sz="2400" noProof="0">
              <a:ea typeface="Calibri"/>
              <a:cs typeface="Calibri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Architektur</a:t>
            </a:r>
            <a:r>
              <a:rPr lang="de-DE" sz="2400" b="0" noProof="0">
                <a:ea typeface="+mn-lt"/>
                <a:cs typeface="+mn-lt"/>
              </a:rPr>
              <a:t> — leichtgewichtig &amp; klar</a:t>
            </a:r>
            <a:endParaRPr lang="de-DE" sz="2400" noProof="0">
              <a:ea typeface="Calibri"/>
              <a:cs typeface="Calibri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Ökosystem</a:t>
            </a:r>
            <a:r>
              <a:rPr lang="de-DE" sz="2400" b="0" noProof="0">
                <a:ea typeface="+mn-lt"/>
                <a:cs typeface="+mn-lt"/>
              </a:rPr>
              <a:t> — große Community</a:t>
            </a:r>
            <a:endParaRPr lang="de-DE" sz="2400" noProof="0">
              <a:ea typeface="Calibri"/>
              <a:cs typeface="Calibri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Pakete</a:t>
            </a:r>
            <a:r>
              <a:rPr lang="de-DE" sz="2400" b="0" noProof="0">
                <a:ea typeface="+mn-lt"/>
                <a:cs typeface="+mn-lt"/>
              </a:rPr>
              <a:t> — lokal über </a:t>
            </a:r>
            <a:r>
              <a:rPr lang="de-DE" sz="2400" b="0" noProof="0" err="1">
                <a:ea typeface="+mn-lt"/>
                <a:cs typeface="+mn-lt"/>
              </a:rPr>
              <a:t>npm</a:t>
            </a:r>
            <a:endParaRPr lang="de-DE" sz="2400" noProof="0">
              <a:ea typeface="Calibri"/>
              <a:cs typeface="Calibri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492D79B-A91D-D937-66A7-3896B339B7C9}"/>
              </a:ext>
            </a:extLst>
          </p:cNvPr>
          <p:cNvSpPr/>
          <p:nvPr/>
        </p:nvSpPr>
        <p:spPr>
          <a:xfrm>
            <a:off x="10119360" y="15748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C809BD6-C470-11A0-C53F-C64C5FB303D1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14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281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C0FF5-CDB5-9BB5-279C-811C22508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Backend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B74683-7CDB-221E-9987-B580C2D6C1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41303-E326-B639-4CCE-3B4478A518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pic>
        <p:nvPicPr>
          <p:cNvPr id="6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CC1AC834-DDFB-1E6E-C957-9BA8E9BDA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ADC3654-35F2-13F2-1A2C-884327D60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397" y="1726967"/>
            <a:ext cx="4013200" cy="1026814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3E6EEB3A-0098-5BC2-9D9E-9AE0100F1F25}"/>
              </a:ext>
            </a:extLst>
          </p:cNvPr>
          <p:cNvSpPr txBox="1"/>
          <p:nvPr/>
        </p:nvSpPr>
        <p:spPr>
          <a:xfrm>
            <a:off x="613841" y="1490027"/>
            <a:ext cx="8553450" cy="4385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Schichten</a:t>
            </a:r>
            <a:r>
              <a:rPr lang="de-DE" sz="2400" b="0" noProof="0">
                <a:ea typeface="+mn-lt"/>
                <a:cs typeface="+mn-lt"/>
              </a:rPr>
              <a:t> — klar getrennt mit DTOs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API</a:t>
            </a:r>
            <a:r>
              <a:rPr lang="de-DE" sz="2400" b="0" noProof="0">
                <a:ea typeface="+mn-lt"/>
                <a:cs typeface="+mn-lt"/>
              </a:rPr>
              <a:t> — REST &amp; Validierung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Sicherheit</a:t>
            </a:r>
            <a:r>
              <a:rPr lang="de-DE" sz="2400" b="0" noProof="0">
                <a:ea typeface="+mn-lt"/>
                <a:cs typeface="+mn-lt"/>
              </a:rPr>
              <a:t> — </a:t>
            </a:r>
            <a:r>
              <a:rPr lang="de-DE" sz="2400" b="0" noProof="0" err="1">
                <a:ea typeface="+mn-lt"/>
                <a:cs typeface="+mn-lt"/>
              </a:rPr>
              <a:t>Keycloak</a:t>
            </a:r>
            <a:r>
              <a:rPr lang="de-DE" sz="2400" b="0" noProof="0">
                <a:ea typeface="+mn-lt"/>
                <a:cs typeface="+mn-lt"/>
              </a:rPr>
              <a:t> / OAuth2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Tests</a:t>
            </a:r>
            <a:r>
              <a:rPr lang="de-DE" sz="2400" b="0" noProof="0">
                <a:ea typeface="+mn-lt"/>
                <a:cs typeface="+mn-lt"/>
              </a:rPr>
              <a:t> — Unit &amp; Integration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 err="1">
                <a:ea typeface="+mn-lt"/>
                <a:cs typeface="+mn-lt"/>
              </a:rPr>
              <a:t>Deployment</a:t>
            </a:r>
            <a:r>
              <a:rPr lang="de-DE" sz="2400" b="0" noProof="0">
                <a:ea typeface="+mn-lt"/>
                <a:cs typeface="+mn-lt"/>
              </a:rPr>
              <a:t> — eingebetteter Webserver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Setup</a:t>
            </a:r>
            <a:r>
              <a:rPr lang="de-DE" sz="2400" b="0" noProof="0">
                <a:ea typeface="+mn-lt"/>
                <a:cs typeface="+mn-lt"/>
              </a:rPr>
              <a:t> — schnell, wenig Konfiguration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Know-how</a:t>
            </a:r>
            <a:r>
              <a:rPr lang="de-DE" sz="2400" b="0" noProof="0">
                <a:ea typeface="+mn-lt"/>
                <a:cs typeface="+mn-lt"/>
              </a:rPr>
              <a:t> — bekanntes Ökosystem &amp; gute Doku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D8EAC2C-16E4-0720-924D-5A4FAEA2B2B0}"/>
              </a:ext>
            </a:extLst>
          </p:cNvPr>
          <p:cNvSpPr/>
          <p:nvPr/>
        </p:nvSpPr>
        <p:spPr>
          <a:xfrm>
            <a:off x="10119360" y="11684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5" name="Rechteck 7">
            <a:extLst>
              <a:ext uri="{FF2B5EF4-FFF2-40B4-BE49-F238E27FC236}">
                <a16:creationId xmlns:a16="http://schemas.microsoft.com/office/drawing/2014/main" id="{A7B96011-22DE-A807-4CD2-DE1E0DF0A02E}"/>
              </a:ext>
            </a:extLst>
          </p:cNvPr>
          <p:cNvSpPr/>
          <p:nvPr/>
        </p:nvSpPr>
        <p:spPr>
          <a:xfrm>
            <a:off x="10142806" y="22448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716F039-CE14-F76C-FE51-A1C65172E374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15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143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4F8DD-36C4-8DFC-0E4B-1B31296A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D1AC-0C18-A001-B7CF-268C9BE6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Datenbank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14248-52E7-62B3-FF5C-18300F1050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82FCB-60FB-B7D8-353A-5455AAA662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56054B0-0B12-B3FB-7FC3-B4B2EC2D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451" y="1697664"/>
            <a:ext cx="2407920" cy="610870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CAD5976D-8F91-F746-DB28-8E9FB5C59AF7}"/>
              </a:ext>
            </a:extLst>
          </p:cNvPr>
          <p:cNvSpPr txBox="1"/>
          <p:nvPr/>
        </p:nvSpPr>
        <p:spPr>
          <a:xfrm>
            <a:off x="613841" y="1490027"/>
            <a:ext cx="9071610" cy="2954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Datenmodell</a:t>
            </a:r>
            <a:r>
              <a:rPr lang="de-DE" sz="2400" b="0" noProof="0">
                <a:ea typeface="+mn-lt"/>
                <a:cs typeface="+mn-lt"/>
              </a:rPr>
              <a:t> — relational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Transaktionen</a:t>
            </a:r>
            <a:r>
              <a:rPr lang="de-DE" sz="2400" b="0" noProof="0">
                <a:ea typeface="+mn-lt"/>
                <a:cs typeface="+mn-lt"/>
              </a:rPr>
              <a:t> — zuverlässig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Anbindung</a:t>
            </a:r>
            <a:r>
              <a:rPr lang="de-DE" sz="2400" b="0" noProof="0">
                <a:ea typeface="+mn-lt"/>
                <a:cs typeface="+mn-lt"/>
              </a:rPr>
              <a:t> — über ORM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Betrieb</a:t>
            </a:r>
            <a:r>
              <a:rPr lang="de-DE" sz="2400" b="0" noProof="0">
                <a:ea typeface="+mn-lt"/>
                <a:cs typeface="+mn-lt"/>
              </a:rPr>
              <a:t> — Docker-Container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Zeitlogik</a:t>
            </a:r>
            <a:r>
              <a:rPr lang="de-DE" sz="2400" b="0" noProof="0">
                <a:ea typeface="+mn-lt"/>
                <a:cs typeface="+mn-lt"/>
              </a:rPr>
              <a:t> — Datum, Urlaub &amp; Überschneidungen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3CDB22F-6C83-3867-27B3-8DB226303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320" y="1490027"/>
            <a:ext cx="3942080" cy="246888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EEA37CD-34EE-6072-72A9-9B156BE3E0D9}"/>
              </a:ext>
            </a:extLst>
          </p:cNvPr>
          <p:cNvSpPr/>
          <p:nvPr/>
        </p:nvSpPr>
        <p:spPr>
          <a:xfrm>
            <a:off x="10119360" y="11684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7" name="Rechteck 7">
            <a:extLst>
              <a:ext uri="{FF2B5EF4-FFF2-40B4-BE49-F238E27FC236}">
                <a16:creationId xmlns:a16="http://schemas.microsoft.com/office/drawing/2014/main" id="{7F67D4F2-8D45-FA05-EC0E-68579B5DF5A9}"/>
              </a:ext>
            </a:extLst>
          </p:cNvPr>
          <p:cNvSpPr/>
          <p:nvPr/>
        </p:nvSpPr>
        <p:spPr>
          <a:xfrm>
            <a:off x="10166252" y="22448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85174FDD-6821-67A2-F7A7-80178C204F82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16</a:t>
            </a:r>
            <a:endParaRPr lang="de-DE"/>
          </a:p>
        </p:txBody>
      </p:sp>
      <p:pic>
        <p:nvPicPr>
          <p:cNvPr id="10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5B6AB38B-888A-378B-DAD4-6C40831E25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1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EE971-217C-EFA4-BD28-6F0CF07BD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D15DD-9DCD-95F6-886F-010EF134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sz="3200" b="1" i="0" u="none" strike="noStrike" baseline="0" noProof="0">
                <a:solidFill>
                  <a:srgbClr val="002D58"/>
                </a:solidFill>
                <a:latin typeface="Calibri"/>
              </a:rPr>
              <a:t>Authentifizierung</a:t>
            </a:r>
            <a:r>
              <a:rPr lang="de-DE" sz="3200" b="0" i="0" noProof="0">
                <a:latin typeface="Calibri"/>
              </a:rPr>
              <a:t>​</a:t>
            </a:r>
            <a:endParaRPr lang="de-DE" noProof="0">
              <a:ea typeface="Calibri"/>
              <a:cs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94078-E036-D96A-CF55-BE5A7E60E06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EE5956-C803-F1C0-9421-9E234A7C23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68B37DF-0678-8F1F-F684-55C833D9F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941" y="2051050"/>
            <a:ext cx="2540000" cy="15875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E4A4D6F-4937-AF79-2D63-D9A59A1E7E08}"/>
              </a:ext>
            </a:extLst>
          </p:cNvPr>
          <p:cNvSpPr/>
          <p:nvPr/>
        </p:nvSpPr>
        <p:spPr>
          <a:xfrm>
            <a:off x="10174577" y="227878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915EE77-1FBC-1A29-74E0-2F8D4E5D82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261" y="3125216"/>
            <a:ext cx="3931920" cy="810768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87E850A2-EA59-81E9-7EDA-BA33542A60A4}"/>
              </a:ext>
            </a:extLst>
          </p:cNvPr>
          <p:cNvSpPr txBox="1"/>
          <p:nvPr/>
        </p:nvSpPr>
        <p:spPr>
          <a:xfrm>
            <a:off x="613841" y="1490027"/>
            <a:ext cx="9071610" cy="48936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Sicherheit</a:t>
            </a:r>
            <a:r>
              <a:rPr lang="de-DE" sz="2400" b="0" noProof="0">
                <a:ea typeface="+mn-lt"/>
                <a:cs typeface="+mn-lt"/>
              </a:rPr>
              <a:t> — bewährtes Produkt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Login</a:t>
            </a:r>
            <a:r>
              <a:rPr lang="de-DE" sz="2400" b="0" noProof="0">
                <a:ea typeface="+mn-lt"/>
                <a:cs typeface="+mn-lt"/>
              </a:rPr>
              <a:t> — zentral statt Eigenentwicklung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Standards</a:t>
            </a:r>
            <a:r>
              <a:rPr lang="de-DE" sz="2400" b="0" noProof="0">
                <a:ea typeface="+mn-lt"/>
                <a:cs typeface="+mn-lt"/>
              </a:rPr>
              <a:t> — OAuth2 &amp; </a:t>
            </a:r>
            <a:r>
              <a:rPr lang="de-DE" sz="2400" b="0" noProof="0" err="1">
                <a:ea typeface="+mn-lt"/>
                <a:cs typeface="+mn-lt"/>
              </a:rPr>
              <a:t>OpenID</a:t>
            </a:r>
            <a:r>
              <a:rPr lang="de-DE" sz="2400" b="0" noProof="0">
                <a:ea typeface="+mn-lt"/>
                <a:cs typeface="+mn-lt"/>
              </a:rPr>
              <a:t> Connect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Integration</a:t>
            </a:r>
            <a:r>
              <a:rPr lang="de-DE" sz="2400" b="0" noProof="0">
                <a:ea typeface="+mn-lt"/>
                <a:cs typeface="+mn-lt"/>
              </a:rPr>
              <a:t> — Spring Boot &amp; Vue.js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Rollen</a:t>
            </a:r>
            <a:r>
              <a:rPr lang="de-DE" sz="2400" b="0" noProof="0">
                <a:ea typeface="+mn-lt"/>
                <a:cs typeface="+mn-lt"/>
              </a:rPr>
              <a:t> — zentral verwaltet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Zugang</a:t>
            </a:r>
            <a:r>
              <a:rPr lang="de-DE" sz="2400" b="0" noProof="0">
                <a:ea typeface="+mn-lt"/>
                <a:cs typeface="+mn-lt"/>
              </a:rPr>
              <a:t> — Single </a:t>
            </a:r>
            <a:r>
              <a:rPr lang="de-DE" sz="2400" b="0" noProof="0" err="1">
                <a:ea typeface="+mn-lt"/>
                <a:cs typeface="+mn-lt"/>
              </a:rPr>
              <a:t>Sign</a:t>
            </a:r>
            <a:r>
              <a:rPr lang="de-DE" sz="2400" b="0" noProof="0">
                <a:ea typeface="+mn-lt"/>
                <a:cs typeface="+mn-lt"/>
              </a:rPr>
              <a:t>-On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Betrieb</a:t>
            </a:r>
            <a:r>
              <a:rPr lang="de-DE" sz="2400" b="0" noProof="0">
                <a:ea typeface="+mn-lt"/>
                <a:cs typeface="+mn-lt"/>
              </a:rPr>
              <a:t> — lokal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Datenschutz</a:t>
            </a:r>
            <a:r>
              <a:rPr lang="de-DE" sz="2400" b="0" noProof="0">
                <a:ea typeface="+mn-lt"/>
                <a:cs typeface="+mn-lt"/>
              </a:rPr>
              <a:t> — kein externer Dienst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B932429-3339-43A3-2CC3-6963AB63F689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17</a:t>
            </a:r>
          </a:p>
        </p:txBody>
      </p:sp>
      <p:pic>
        <p:nvPicPr>
          <p:cNvPr id="10" name="Grafik 8">
            <a:extLst>
              <a:ext uri="{FF2B5EF4-FFF2-40B4-BE49-F238E27FC236}">
                <a16:creationId xmlns:a16="http://schemas.microsoft.com/office/drawing/2014/main" id="{A14AE789-8E8E-BA76-D7FA-42D003A29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451" y="1697664"/>
            <a:ext cx="2407920" cy="610870"/>
          </a:xfrm>
          <a:prstGeom prst="rect">
            <a:avLst/>
          </a:prstGeom>
        </p:spPr>
      </p:pic>
      <p:pic>
        <p:nvPicPr>
          <p:cNvPr id="12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7EEDB5D1-6BD3-11C2-4861-DE4A26BD9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EF71C-A434-F883-5C7A-38BE1138B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1D04-E415-2A6B-D432-1001A94E9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solidFill>
                  <a:srgbClr val="002D58"/>
                </a:solidFill>
                <a:latin typeface="Calibri"/>
              </a:rPr>
              <a:t>Betrieb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715FA-7C57-EA0C-9D1A-FEE3BD1681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B5FFE-47DD-962D-B4D7-9509E8FEB0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726FC5B-592D-9DB6-FAC9-48AD772315EC}"/>
              </a:ext>
            </a:extLst>
          </p:cNvPr>
          <p:cNvSpPr/>
          <p:nvPr/>
        </p:nvSpPr>
        <p:spPr>
          <a:xfrm>
            <a:off x="10170160" y="382827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47B8D97-0FA9-25C0-35F9-10C5F2637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879" y="3199348"/>
            <a:ext cx="2540000" cy="520898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A545C54B-46E2-5CF9-4149-ACC09BD01232}"/>
              </a:ext>
            </a:extLst>
          </p:cNvPr>
          <p:cNvSpPr txBox="1"/>
          <p:nvPr/>
        </p:nvSpPr>
        <p:spPr>
          <a:xfrm>
            <a:off x="613841" y="1490027"/>
            <a:ext cx="9071610" cy="39395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Umgebung</a:t>
            </a:r>
            <a:r>
              <a:rPr lang="de-DE" sz="2400" b="0" noProof="0">
                <a:ea typeface="+mn-lt"/>
                <a:cs typeface="+mn-lt"/>
              </a:rPr>
              <a:t> — auf jedem Rechner identisch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Dienste</a:t>
            </a:r>
            <a:r>
              <a:rPr lang="de-DE" sz="2400" b="0" noProof="0">
                <a:ea typeface="+mn-lt"/>
                <a:cs typeface="+mn-lt"/>
              </a:rPr>
              <a:t> — je ein Container</a:t>
            </a:r>
            <a:endParaRPr lang="de-DE" sz="2400" noProof="0">
              <a:ea typeface="+mn-lt"/>
              <a:cs typeface="+mn-lt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Start</a:t>
            </a:r>
            <a:r>
              <a:rPr lang="de-DE" sz="2400" b="0" noProof="0">
                <a:ea typeface="+mn-lt"/>
                <a:cs typeface="+mn-lt"/>
              </a:rPr>
              <a:t> — gesamtes System mit einem Befehl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Onboarding</a:t>
            </a:r>
            <a:r>
              <a:rPr lang="de-DE" sz="2400" b="0" noProof="0">
                <a:ea typeface="+mn-lt"/>
                <a:cs typeface="+mn-lt"/>
              </a:rPr>
              <a:t> — schneller Teameinstieg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Architektur</a:t>
            </a:r>
            <a:r>
              <a:rPr lang="de-DE" sz="2400" b="0" noProof="0">
                <a:ea typeface="+mn-lt"/>
                <a:cs typeface="+mn-lt"/>
              </a:rPr>
              <a:t> — isolierte Services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Updates</a:t>
            </a:r>
            <a:r>
              <a:rPr lang="de-DE" sz="2400" b="0" noProof="0">
                <a:ea typeface="+mn-lt"/>
                <a:cs typeface="+mn-lt"/>
              </a:rPr>
              <a:t> — neue Images via GitHub Packages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A5F9B0D-EE46-304A-5D04-D6757B5FB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480" y="3647230"/>
            <a:ext cx="4287520" cy="97578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97A55C6-11A6-27E6-4677-E737C7AFE75E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18</a:t>
            </a:r>
            <a:endParaRPr lang="de-DE"/>
          </a:p>
        </p:txBody>
      </p:sp>
      <p:pic>
        <p:nvPicPr>
          <p:cNvPr id="11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7E0FC820-C050-C33D-E9CE-638B68CC83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  <p:pic>
        <p:nvPicPr>
          <p:cNvPr id="13" name="Grafik 4">
            <a:extLst>
              <a:ext uri="{FF2B5EF4-FFF2-40B4-BE49-F238E27FC236}">
                <a16:creationId xmlns:a16="http://schemas.microsoft.com/office/drawing/2014/main" id="{CD093801-2612-26E7-1896-F84350ECD7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941" y="2051050"/>
            <a:ext cx="2540000" cy="1587500"/>
          </a:xfrm>
          <a:prstGeom prst="rect">
            <a:avLst/>
          </a:prstGeom>
        </p:spPr>
      </p:pic>
      <p:pic>
        <p:nvPicPr>
          <p:cNvPr id="14" name="Grafik 8">
            <a:extLst>
              <a:ext uri="{FF2B5EF4-FFF2-40B4-BE49-F238E27FC236}">
                <a16:creationId xmlns:a16="http://schemas.microsoft.com/office/drawing/2014/main" id="{EF74DE0B-13FD-25C8-1909-930E781319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5451" y="1697664"/>
            <a:ext cx="2407920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2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ECB63-9FCD-A0E6-499D-707E2072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80906-F649-4E83-5285-7E1631B6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solidFill>
                  <a:srgbClr val="002D58"/>
                </a:solidFill>
                <a:latin typeface="Calibri"/>
              </a:rPr>
              <a:t>Pipeline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0500CD-A35D-2927-B603-130D75D838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CAC29-2961-861B-54A0-9A90B42D20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1001267-BBDE-EEE1-3359-30767E9E51FD}"/>
              </a:ext>
            </a:extLst>
          </p:cNvPr>
          <p:cNvSpPr/>
          <p:nvPr/>
        </p:nvSpPr>
        <p:spPr>
          <a:xfrm>
            <a:off x="10119360" y="11684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DF88A6F5-5A01-AD93-DC10-D81D00571225}"/>
              </a:ext>
            </a:extLst>
          </p:cNvPr>
          <p:cNvSpPr txBox="1"/>
          <p:nvPr/>
        </p:nvSpPr>
        <p:spPr>
          <a:xfrm>
            <a:off x="613841" y="1490027"/>
            <a:ext cx="9071610" cy="437042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 err="1">
                <a:ea typeface="+mn-lt"/>
                <a:cs typeface="+mn-lt"/>
              </a:rPr>
              <a:t>Build</a:t>
            </a:r>
            <a:r>
              <a:rPr lang="de-DE" sz="2400" b="1" noProof="0">
                <a:ea typeface="+mn-lt"/>
                <a:cs typeface="+mn-lt"/>
              </a:rPr>
              <a:t> &amp; Tests</a:t>
            </a:r>
            <a:r>
              <a:rPr lang="de-DE" sz="2400" b="0" noProof="0">
                <a:ea typeface="+mn-lt"/>
                <a:cs typeface="+mn-lt"/>
              </a:rPr>
              <a:t> — automatisiert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Images</a:t>
            </a:r>
            <a:r>
              <a:rPr lang="de-DE" sz="2400" b="0" noProof="0">
                <a:ea typeface="+mn-lt"/>
                <a:cs typeface="+mn-lt"/>
              </a:rPr>
              <a:t> — Docker via GitHub Packages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Effizienz</a:t>
            </a:r>
            <a:r>
              <a:rPr lang="de-DE" sz="2400" b="0" noProof="0">
                <a:ea typeface="+mn-lt"/>
                <a:cs typeface="+mn-lt"/>
              </a:rPr>
              <a:t> — nur geänderte Dienste neu bauen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Integration</a:t>
            </a:r>
            <a:r>
              <a:rPr lang="de-DE" sz="2400" b="0" noProof="0">
                <a:ea typeface="+mn-lt"/>
                <a:cs typeface="+mn-lt"/>
              </a:rPr>
              <a:t> — direkt in GitHub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Merge</a:t>
            </a:r>
            <a:r>
              <a:rPr lang="de-DE" sz="2400" b="0" noProof="0">
                <a:ea typeface="+mn-lt"/>
                <a:cs typeface="+mn-lt"/>
              </a:rPr>
              <a:t> — erst nach erfolgreicher Pipeline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Team</a:t>
            </a:r>
            <a:r>
              <a:rPr lang="de-DE" sz="2400" b="0" noProof="0">
                <a:ea typeface="+mn-lt"/>
                <a:cs typeface="+mn-lt"/>
              </a:rPr>
              <a:t> — einheitlicher Ablauf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Fokus</a:t>
            </a:r>
            <a:r>
              <a:rPr lang="de-DE" sz="2400" b="0" noProof="0">
                <a:ea typeface="+mn-lt"/>
                <a:cs typeface="+mn-lt"/>
              </a:rPr>
              <a:t> — weniger Handarbeit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B9187F1-060D-46D1-6010-755E3ED7E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119" y="3772139"/>
            <a:ext cx="2468281" cy="55922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1A67C3C-BACA-5EA6-2BFA-F6A8F43B7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4208" y="4347536"/>
            <a:ext cx="1901825" cy="1625600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A7A190A-0DD2-E998-5604-5E272696E278}"/>
              </a:ext>
            </a:extLst>
          </p:cNvPr>
          <p:cNvSpPr/>
          <p:nvPr/>
        </p:nvSpPr>
        <p:spPr>
          <a:xfrm>
            <a:off x="10271760" y="269240"/>
            <a:ext cx="1818640" cy="6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C089F69-2989-AB72-292F-CF39074686E6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19</a:t>
            </a:r>
            <a:endParaRPr lang="de-DE"/>
          </a:p>
        </p:txBody>
      </p:sp>
      <p:pic>
        <p:nvPicPr>
          <p:cNvPr id="11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9C15B734-BFF9-39AC-8E39-6A10DFF051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  <p:pic>
        <p:nvPicPr>
          <p:cNvPr id="15" name="Grafik 4">
            <a:extLst>
              <a:ext uri="{FF2B5EF4-FFF2-40B4-BE49-F238E27FC236}">
                <a16:creationId xmlns:a16="http://schemas.microsoft.com/office/drawing/2014/main" id="{EAF659DD-57DB-B9FE-E6CE-86566A7090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941" y="2051050"/>
            <a:ext cx="2540000" cy="1587500"/>
          </a:xfrm>
          <a:prstGeom prst="rect">
            <a:avLst/>
          </a:prstGeom>
        </p:spPr>
      </p:pic>
      <p:pic>
        <p:nvPicPr>
          <p:cNvPr id="17" name="Grafik 8">
            <a:extLst>
              <a:ext uri="{FF2B5EF4-FFF2-40B4-BE49-F238E27FC236}">
                <a16:creationId xmlns:a16="http://schemas.microsoft.com/office/drawing/2014/main" id="{4F245777-7C38-7EFE-0949-68D3D0CB7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5451" y="1697664"/>
            <a:ext cx="2407920" cy="610870"/>
          </a:xfrm>
          <a:prstGeom prst="rect">
            <a:avLst/>
          </a:prstGeom>
        </p:spPr>
      </p:pic>
      <p:pic>
        <p:nvPicPr>
          <p:cNvPr id="18" name="Grafik 6">
            <a:extLst>
              <a:ext uri="{FF2B5EF4-FFF2-40B4-BE49-F238E27FC236}">
                <a16:creationId xmlns:a16="http://schemas.microsoft.com/office/drawing/2014/main" id="{FDE9906E-D183-E50B-9AA2-6A9F8B0129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0879" y="3199348"/>
            <a:ext cx="2540000" cy="5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8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5612A-F68F-AB59-AE07-122D0612A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3EAC-796C-EA0F-F23D-E8BA81EA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solidFill>
                  <a:srgbClr val="002D58"/>
                </a:solidFill>
                <a:latin typeface="Calibri"/>
              </a:rPr>
              <a:t>Qualität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8EFA-26DF-5446-2ED6-F29AD142EED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40DAD-27BF-D4A2-4FC7-E646142E4F7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4A6CE7D-DB63-45EF-DC79-6F52DBE43DD8}"/>
              </a:ext>
            </a:extLst>
          </p:cNvPr>
          <p:cNvSpPr/>
          <p:nvPr/>
        </p:nvSpPr>
        <p:spPr>
          <a:xfrm>
            <a:off x="10119360" y="116840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60B8845F-C730-AB9A-6E27-EC0682994596}"/>
              </a:ext>
            </a:extLst>
          </p:cNvPr>
          <p:cNvSpPr txBox="1"/>
          <p:nvPr/>
        </p:nvSpPr>
        <p:spPr>
          <a:xfrm>
            <a:off x="613841" y="1490027"/>
            <a:ext cx="9071610" cy="444737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Pipeline</a:t>
            </a:r>
            <a:r>
              <a:rPr lang="de-DE" sz="2400" b="0" noProof="0">
                <a:ea typeface="+mn-lt"/>
                <a:cs typeface="+mn-lt"/>
              </a:rPr>
              <a:t> — automatische Codeprüfung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Fehler</a:t>
            </a:r>
            <a:r>
              <a:rPr lang="de-DE" sz="2400" b="0" noProof="0">
                <a:ea typeface="+mn-lt"/>
                <a:cs typeface="+mn-lt"/>
              </a:rPr>
              <a:t> — früh erkennen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Wartbarkeit</a:t>
            </a:r>
            <a:r>
              <a:rPr lang="de-DE" sz="2400" b="0" noProof="0">
                <a:ea typeface="+mn-lt"/>
                <a:cs typeface="+mn-lt"/>
              </a:rPr>
              <a:t> — Code Smells &amp; Lesbarkeit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Sicherheit</a:t>
            </a:r>
            <a:r>
              <a:rPr lang="de-DE" sz="2400" b="0" noProof="0">
                <a:ea typeface="+mn-lt"/>
                <a:cs typeface="+mn-lt"/>
              </a:rPr>
              <a:t> — Lücken erkennen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Duplikate</a:t>
            </a:r>
            <a:r>
              <a:rPr lang="de-DE" sz="2400" b="0" noProof="0">
                <a:ea typeface="+mn-lt"/>
                <a:cs typeface="+mn-lt"/>
              </a:rPr>
              <a:t> — doppelten Code finden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80F4C5C-ECCE-80B2-0879-1599AD794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098" y="4301301"/>
            <a:ext cx="1266269" cy="107696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BDF8AD5-0CF9-B2D9-22F2-225BDFC68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170" y="5257914"/>
            <a:ext cx="4452620" cy="137137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75FFE100-528B-317C-2134-6536159755E9}"/>
              </a:ext>
            </a:extLst>
          </p:cNvPr>
          <p:cNvSpPr/>
          <p:nvPr/>
        </p:nvSpPr>
        <p:spPr>
          <a:xfrm>
            <a:off x="10271760" y="269240"/>
            <a:ext cx="1818640" cy="6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3" name="Rechteck 13">
            <a:extLst>
              <a:ext uri="{FF2B5EF4-FFF2-40B4-BE49-F238E27FC236}">
                <a16:creationId xmlns:a16="http://schemas.microsoft.com/office/drawing/2014/main" id="{5D8EEAD8-9AB9-063E-B23F-ECB331442FE8}"/>
              </a:ext>
            </a:extLst>
          </p:cNvPr>
          <p:cNvSpPr/>
          <p:nvPr/>
        </p:nvSpPr>
        <p:spPr>
          <a:xfrm>
            <a:off x="10575177" y="6380018"/>
            <a:ext cx="1616823" cy="477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BD9910E-D5E5-EDD7-A59B-3AD693D01B45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20</a:t>
            </a:r>
            <a:endParaRPr lang="de-DE" sz="800" cap="none" baseline="0">
              <a:ea typeface="Calibri"/>
              <a:cs typeface="Calibri"/>
            </a:endParaRPr>
          </a:p>
        </p:txBody>
      </p:sp>
      <p:pic>
        <p:nvPicPr>
          <p:cNvPr id="15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59E93F95-2DD1-CE7A-AAFC-5BFA7E171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  <p:pic>
        <p:nvPicPr>
          <p:cNvPr id="18" name="Grafik 4">
            <a:extLst>
              <a:ext uri="{FF2B5EF4-FFF2-40B4-BE49-F238E27FC236}">
                <a16:creationId xmlns:a16="http://schemas.microsoft.com/office/drawing/2014/main" id="{7E984E0B-4F21-93AA-886A-463D391AFD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941" y="2051050"/>
            <a:ext cx="2540000" cy="1587500"/>
          </a:xfrm>
          <a:prstGeom prst="rect">
            <a:avLst/>
          </a:prstGeom>
        </p:spPr>
      </p:pic>
      <p:pic>
        <p:nvPicPr>
          <p:cNvPr id="19" name="Grafik 8">
            <a:extLst>
              <a:ext uri="{FF2B5EF4-FFF2-40B4-BE49-F238E27FC236}">
                <a16:creationId xmlns:a16="http://schemas.microsoft.com/office/drawing/2014/main" id="{0E4251A8-3A9D-8FD8-A7A1-35A3AD986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85451" y="1697664"/>
            <a:ext cx="2407920" cy="610870"/>
          </a:xfrm>
          <a:prstGeom prst="rect">
            <a:avLst/>
          </a:prstGeom>
        </p:spPr>
      </p:pic>
      <p:pic>
        <p:nvPicPr>
          <p:cNvPr id="20" name="Grafik 6">
            <a:extLst>
              <a:ext uri="{FF2B5EF4-FFF2-40B4-BE49-F238E27FC236}">
                <a16:creationId xmlns:a16="http://schemas.microsoft.com/office/drawing/2014/main" id="{2B49D544-9C96-9FC3-28FC-178755875D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0879" y="3199348"/>
            <a:ext cx="2540000" cy="520898"/>
          </a:xfrm>
          <a:prstGeom prst="rect">
            <a:avLst/>
          </a:prstGeom>
        </p:spPr>
      </p:pic>
      <p:pic>
        <p:nvPicPr>
          <p:cNvPr id="21" name="Grafik 9">
            <a:extLst>
              <a:ext uri="{FF2B5EF4-FFF2-40B4-BE49-F238E27FC236}">
                <a16:creationId xmlns:a16="http://schemas.microsoft.com/office/drawing/2014/main" id="{C9CB7260-AFE9-DB8C-A42A-6AF01FC4C4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2119" y="3772139"/>
            <a:ext cx="2468281" cy="55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478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10D9-1346-D3A9-3928-926F74AB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9D93-C1BA-810B-0562-C96202C0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solidFill>
                  <a:srgbClr val="002D58"/>
                </a:solidFill>
                <a:latin typeface="Calibri"/>
              </a:rPr>
              <a:t>Zusammenfassung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02240-72E7-BC9B-F40F-85CC52F195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BFA3B-F8FE-B108-3541-2A767E97BF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236E3D5-7290-6DF1-04A3-768E669495DC}"/>
              </a:ext>
            </a:extLst>
          </p:cNvPr>
          <p:cNvSpPr/>
          <p:nvPr/>
        </p:nvSpPr>
        <p:spPr>
          <a:xfrm>
            <a:off x="10119360" y="116840"/>
            <a:ext cx="1818640" cy="6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3" name="Rechteck 7">
            <a:extLst>
              <a:ext uri="{FF2B5EF4-FFF2-40B4-BE49-F238E27FC236}">
                <a16:creationId xmlns:a16="http://schemas.microsoft.com/office/drawing/2014/main" id="{93C302C5-801C-6022-E47D-DD9C266799FC}"/>
              </a:ext>
            </a:extLst>
          </p:cNvPr>
          <p:cNvSpPr/>
          <p:nvPr/>
        </p:nvSpPr>
        <p:spPr>
          <a:xfrm>
            <a:off x="10119360" y="445655"/>
            <a:ext cx="1818640" cy="660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tlCol="0" anchor="ctr"/>
          <a:lstStyle/>
          <a:p>
            <a:pPr algn="ctr"/>
            <a:endParaRPr lang="de-DE" noProof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61E4A53-3C66-65B6-C947-5BD5F627C5F9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21</a:t>
            </a:r>
            <a:endParaRPr lang="de-DE" sz="800" cap="none" baseline="0">
              <a:ea typeface="Calibri"/>
              <a:cs typeface="Calibri"/>
            </a:endParaRPr>
          </a:p>
        </p:txBody>
      </p:sp>
      <p:pic>
        <p:nvPicPr>
          <p:cNvPr id="29" name="Grafik 10">
            <a:extLst>
              <a:ext uri="{FF2B5EF4-FFF2-40B4-BE49-F238E27FC236}">
                <a16:creationId xmlns:a16="http://schemas.microsoft.com/office/drawing/2014/main" id="{31614009-D2CA-6C51-E3DA-0FAE0DD4B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5778" y="5257914"/>
            <a:ext cx="2867003" cy="888771"/>
          </a:xfrm>
          <a:prstGeom prst="rect">
            <a:avLst/>
          </a:prstGeom>
        </p:spPr>
      </p:pic>
      <p:sp>
        <p:nvSpPr>
          <p:cNvPr id="30" name="TextBox 14">
            <a:extLst>
              <a:ext uri="{FF2B5EF4-FFF2-40B4-BE49-F238E27FC236}">
                <a16:creationId xmlns:a16="http://schemas.microsoft.com/office/drawing/2014/main" id="{B41D9B19-7A30-B28D-6977-FEAFF3D404AA}"/>
              </a:ext>
            </a:extLst>
          </p:cNvPr>
          <p:cNvSpPr txBox="1"/>
          <p:nvPr/>
        </p:nvSpPr>
        <p:spPr>
          <a:xfrm>
            <a:off x="614257" y="1621031"/>
            <a:ext cx="9071610" cy="35394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Frontend</a:t>
            </a:r>
            <a:r>
              <a:rPr lang="de-DE" sz="2400" b="0" noProof="0">
                <a:ea typeface="+mn-lt"/>
                <a:cs typeface="+mn-lt"/>
              </a:rPr>
              <a:t> — Vue.js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Backend</a:t>
            </a:r>
            <a:r>
              <a:rPr lang="de-DE" sz="2400" b="0" noProof="0">
                <a:ea typeface="+mn-lt"/>
                <a:cs typeface="+mn-lt"/>
              </a:rPr>
              <a:t> — Spring Boot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Datenbank</a:t>
            </a:r>
            <a:r>
              <a:rPr lang="de-DE" sz="2400" b="0" noProof="0">
                <a:ea typeface="+mn-lt"/>
                <a:cs typeface="+mn-lt"/>
              </a:rPr>
              <a:t> — PostgreSQL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Authentifizierung</a:t>
            </a:r>
            <a:r>
              <a:rPr lang="de-DE" sz="2400" b="0" noProof="0">
                <a:ea typeface="+mn-lt"/>
                <a:cs typeface="+mn-lt"/>
              </a:rPr>
              <a:t> — </a:t>
            </a:r>
            <a:r>
              <a:rPr lang="de-DE" sz="2400" b="0" noProof="0" err="1">
                <a:ea typeface="+mn-lt"/>
                <a:cs typeface="+mn-lt"/>
              </a:rPr>
              <a:t>Keycloak</a:t>
            </a:r>
            <a:endParaRPr lang="de-DE" sz="2400" noProof="0">
              <a:ea typeface="+mn-lt"/>
              <a:cs typeface="+mn-lt"/>
            </a:endParaRP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Betrieb</a:t>
            </a:r>
            <a:r>
              <a:rPr lang="de-DE" sz="2400" b="0" noProof="0">
                <a:ea typeface="+mn-lt"/>
                <a:cs typeface="+mn-lt"/>
              </a:rPr>
              <a:t> — Docker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Pipeline</a:t>
            </a:r>
            <a:r>
              <a:rPr lang="de-DE" sz="2400" b="0" noProof="0">
                <a:ea typeface="+mn-lt"/>
                <a:cs typeface="+mn-lt"/>
              </a:rPr>
              <a:t> — GitHub Actions</a:t>
            </a:r>
          </a:p>
          <a:p>
            <a:pPr marL="342900" indent="-342900">
              <a:lnSpc>
                <a:spcPct val="105000"/>
              </a:lnSpc>
              <a:spcBef>
                <a:spcPts val="600"/>
              </a:spcBef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de-DE" sz="2400" b="1" noProof="0">
                <a:ea typeface="+mn-lt"/>
                <a:cs typeface="+mn-lt"/>
              </a:rPr>
              <a:t>Codequalität</a:t>
            </a:r>
            <a:r>
              <a:rPr lang="de-DE" sz="2400" b="0" noProof="0">
                <a:ea typeface="+mn-lt"/>
                <a:cs typeface="+mn-lt"/>
              </a:rPr>
              <a:t> — SonarQube</a:t>
            </a:r>
            <a:endParaRPr lang="de-DE" sz="2400" noProof="0">
              <a:ea typeface="+mn-lt"/>
              <a:cs typeface="+mn-lt"/>
            </a:endParaRPr>
          </a:p>
        </p:txBody>
      </p:sp>
      <p:pic>
        <p:nvPicPr>
          <p:cNvPr id="32" name="Grafik 5" descr="Ein Bild, das Grafiken, Schrift, Logo, Screenshot enthält.  KI-generierte Inhalte können fehlerhaft sein.">
            <a:extLst>
              <a:ext uri="{FF2B5EF4-FFF2-40B4-BE49-F238E27FC236}">
                <a16:creationId xmlns:a16="http://schemas.microsoft.com/office/drawing/2014/main" id="{4201AC38-7623-5E91-21DB-3576D6AE2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867" y="718914"/>
            <a:ext cx="1968500" cy="1112520"/>
          </a:xfrm>
          <a:prstGeom prst="rect">
            <a:avLst/>
          </a:prstGeom>
        </p:spPr>
      </p:pic>
      <p:pic>
        <p:nvPicPr>
          <p:cNvPr id="33" name="Grafik 4">
            <a:extLst>
              <a:ext uri="{FF2B5EF4-FFF2-40B4-BE49-F238E27FC236}">
                <a16:creationId xmlns:a16="http://schemas.microsoft.com/office/drawing/2014/main" id="{FA709209-4767-58E7-77FD-9CE909B65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3941" y="2051050"/>
            <a:ext cx="2540000" cy="1587500"/>
          </a:xfrm>
          <a:prstGeom prst="rect">
            <a:avLst/>
          </a:prstGeom>
        </p:spPr>
      </p:pic>
      <p:pic>
        <p:nvPicPr>
          <p:cNvPr id="34" name="Grafik 8">
            <a:extLst>
              <a:ext uri="{FF2B5EF4-FFF2-40B4-BE49-F238E27FC236}">
                <a16:creationId xmlns:a16="http://schemas.microsoft.com/office/drawing/2014/main" id="{89499510-68C2-806F-988D-8DDE281824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5451" y="1697664"/>
            <a:ext cx="2407920" cy="610870"/>
          </a:xfrm>
          <a:prstGeom prst="rect">
            <a:avLst/>
          </a:prstGeom>
        </p:spPr>
      </p:pic>
      <p:pic>
        <p:nvPicPr>
          <p:cNvPr id="35" name="Grafik 6">
            <a:extLst>
              <a:ext uri="{FF2B5EF4-FFF2-40B4-BE49-F238E27FC236}">
                <a16:creationId xmlns:a16="http://schemas.microsoft.com/office/drawing/2014/main" id="{B7D40EC6-3685-4123-94C9-B4CB43175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0879" y="3199348"/>
            <a:ext cx="2540000" cy="520898"/>
          </a:xfrm>
          <a:prstGeom prst="rect">
            <a:avLst/>
          </a:prstGeom>
        </p:spPr>
      </p:pic>
      <p:pic>
        <p:nvPicPr>
          <p:cNvPr id="36" name="Grafik 9">
            <a:extLst>
              <a:ext uri="{FF2B5EF4-FFF2-40B4-BE49-F238E27FC236}">
                <a16:creationId xmlns:a16="http://schemas.microsoft.com/office/drawing/2014/main" id="{B35549A7-0166-6161-E5DB-2990376D9A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2119" y="3772139"/>
            <a:ext cx="2468281" cy="559220"/>
          </a:xfrm>
          <a:prstGeom prst="rect">
            <a:avLst/>
          </a:prstGeom>
        </p:spPr>
      </p:pic>
      <p:pic>
        <p:nvPicPr>
          <p:cNvPr id="37" name="Grafik 11">
            <a:extLst>
              <a:ext uri="{FF2B5EF4-FFF2-40B4-BE49-F238E27FC236}">
                <a16:creationId xmlns:a16="http://schemas.microsoft.com/office/drawing/2014/main" id="{B3994E4D-D5A0-31FD-1F38-72792BCF69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8098" y="4301301"/>
            <a:ext cx="1266269" cy="107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037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E60AA-6761-E70A-F9A9-4E83A4386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8D982-0791-4909-A234-08D6159F101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F63C-37E6-DF7E-BD4B-79F0306961F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7C4D4AE9-8D11-892C-815D-4B7BC1CEE799}"/>
              </a:ext>
            </a:extLst>
          </p:cNvPr>
          <p:cNvSpPr txBox="1">
            <a:spLocks/>
          </p:cNvSpPr>
          <p:nvPr/>
        </p:nvSpPr>
        <p:spPr>
          <a:xfrm>
            <a:off x="621792" y="2359152"/>
            <a:ext cx="5806440" cy="292608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0" rIns="73152" bIns="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Anforderungen an die Anwendung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High-Level-Architektur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Technologien &amp; Tech-Stack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2700" b="1" noProof="0">
                <a:solidFill>
                  <a:srgbClr val="003663"/>
                </a:solidFill>
              </a:rPr>
              <a:t>Entwicklungsumgebung &amp; </a:t>
            </a:r>
            <a:r>
              <a:rPr lang="de-DE" sz="2700" b="1" noProof="0" err="1">
                <a:solidFill>
                  <a:srgbClr val="003663"/>
                </a:solidFill>
              </a:rPr>
              <a:t>Toolchain</a:t>
            </a:r>
            <a:endParaRPr lang="de-DE" sz="2400" b="1" noProof="0">
              <a:solidFill>
                <a:schemeClr val="tx1"/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Nutzerinteraktion &amp; UI Mockups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Teamzusammenarbeit: Methode, Rollen &amp; Tools</a:t>
            </a:r>
          </a:p>
          <a:p>
            <a:endParaRPr lang="de-DE" sz="2400" noProof="0">
              <a:solidFill>
                <a:schemeClr val="tx1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45FBC138-B14A-6EB4-D77A-B8A2BAC0177D}"/>
              </a:ext>
            </a:extLst>
          </p:cNvPr>
          <p:cNvSpPr txBox="1">
            <a:spLocks/>
          </p:cNvSpPr>
          <p:nvPr/>
        </p:nvSpPr>
        <p:spPr>
          <a:xfrm>
            <a:off x="621792" y="1746504"/>
            <a:ext cx="2953512" cy="62179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normAutofit lnSpcReduction="10000"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</a:rPr>
              <a:t>Agenda</a:t>
            </a:r>
            <a:endParaRPr lang="de-DE" sz="1600" b="1" cap="none" noProof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7A48016-0196-3048-7DB5-1702524A8FFE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22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0" name="Kalender Kopf Mo"/>
          <p:cNvSpPr txBox="1"/>
          <p:nvPr/>
        </p:nvSpPr>
        <p:spPr>
          <a:xfrm>
            <a:off x="700430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Mo</a:t>
            </a:r>
          </a:p>
        </p:txBody>
      </p:sp>
      <p:sp>
        <p:nvSpPr>
          <p:cNvPr id="11" name="Kalender Kopf Di"/>
          <p:cNvSpPr txBox="1"/>
          <p:nvPr/>
        </p:nvSpPr>
        <p:spPr>
          <a:xfrm>
            <a:off x="760780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Di</a:t>
            </a:r>
          </a:p>
        </p:txBody>
      </p:sp>
      <p:sp>
        <p:nvSpPr>
          <p:cNvPr id="12" name="Kalender Kopf Mi"/>
          <p:cNvSpPr txBox="1"/>
          <p:nvPr/>
        </p:nvSpPr>
        <p:spPr>
          <a:xfrm>
            <a:off x="8211312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Mi</a:t>
            </a:r>
          </a:p>
        </p:txBody>
      </p:sp>
      <p:sp>
        <p:nvSpPr>
          <p:cNvPr id="13" name="Kalender Kopf Do"/>
          <p:cNvSpPr txBox="1"/>
          <p:nvPr/>
        </p:nvSpPr>
        <p:spPr>
          <a:xfrm>
            <a:off x="8814816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Do</a:t>
            </a:r>
          </a:p>
        </p:txBody>
      </p:sp>
      <p:sp>
        <p:nvSpPr>
          <p:cNvPr id="14" name="Kalender Kopf Fr"/>
          <p:cNvSpPr txBox="1"/>
          <p:nvPr/>
        </p:nvSpPr>
        <p:spPr>
          <a:xfrm>
            <a:off x="9418320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Fr</a:t>
            </a:r>
          </a:p>
        </p:txBody>
      </p:sp>
      <p:sp>
        <p:nvSpPr>
          <p:cNvPr id="15" name="Kalender Kopf Sa"/>
          <p:cNvSpPr txBox="1"/>
          <p:nvPr/>
        </p:nvSpPr>
        <p:spPr>
          <a:xfrm>
            <a:off x="1002182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Sa</a:t>
            </a:r>
          </a:p>
        </p:txBody>
      </p:sp>
      <p:sp>
        <p:nvSpPr>
          <p:cNvPr id="16" name="Kalender Kopf So"/>
          <p:cNvSpPr txBox="1"/>
          <p:nvPr/>
        </p:nvSpPr>
        <p:spPr>
          <a:xfrm>
            <a:off x="1062532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So</a:t>
            </a:r>
          </a:p>
        </p:txBody>
      </p:sp>
      <p:sp>
        <p:nvSpPr>
          <p:cNvPr id="17" name="Kalender Woche 1 Tag 1"/>
          <p:cNvSpPr/>
          <p:nvPr/>
        </p:nvSpPr>
        <p:spPr>
          <a:xfrm>
            <a:off x="7004304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Kalender Woche 1 Tag 2"/>
          <p:cNvSpPr/>
          <p:nvPr/>
        </p:nvSpPr>
        <p:spPr>
          <a:xfrm>
            <a:off x="7607808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Kalender Woche 1 Tag 3"/>
          <p:cNvSpPr/>
          <p:nvPr/>
        </p:nvSpPr>
        <p:spPr>
          <a:xfrm>
            <a:off x="8211312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Kalender Woche 1 Tag 4"/>
          <p:cNvSpPr/>
          <p:nvPr/>
        </p:nvSpPr>
        <p:spPr>
          <a:xfrm>
            <a:off x="8814816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Kalender Woche 1 Tag 5"/>
          <p:cNvSpPr/>
          <p:nvPr/>
        </p:nvSpPr>
        <p:spPr>
          <a:xfrm>
            <a:off x="9418320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Kalender Woche 1 Tag 6"/>
          <p:cNvSpPr/>
          <p:nvPr/>
        </p:nvSpPr>
        <p:spPr>
          <a:xfrm>
            <a:off x="10021824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Kalender Woche 1 Tag 7"/>
          <p:cNvSpPr/>
          <p:nvPr/>
        </p:nvSpPr>
        <p:spPr>
          <a:xfrm>
            <a:off x="10625328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Kalender Woche 2 Tag 1"/>
          <p:cNvSpPr/>
          <p:nvPr/>
        </p:nvSpPr>
        <p:spPr>
          <a:xfrm>
            <a:off x="7004304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Kalender Woche 2 Tag 2"/>
          <p:cNvSpPr/>
          <p:nvPr/>
        </p:nvSpPr>
        <p:spPr>
          <a:xfrm>
            <a:off x="7607808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Kalender Woche 2 Tag 3"/>
          <p:cNvSpPr/>
          <p:nvPr/>
        </p:nvSpPr>
        <p:spPr>
          <a:xfrm>
            <a:off x="8211312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Kalender Woche 2 Tag 4"/>
          <p:cNvSpPr/>
          <p:nvPr/>
        </p:nvSpPr>
        <p:spPr>
          <a:xfrm>
            <a:off x="8814816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Kalender Woche 2 Tag 5"/>
          <p:cNvSpPr/>
          <p:nvPr/>
        </p:nvSpPr>
        <p:spPr>
          <a:xfrm>
            <a:off x="9418320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Kalender Woche 2 Tag 6"/>
          <p:cNvSpPr/>
          <p:nvPr/>
        </p:nvSpPr>
        <p:spPr>
          <a:xfrm>
            <a:off x="10021824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Kalender Woche 2 Tag 7"/>
          <p:cNvSpPr/>
          <p:nvPr/>
        </p:nvSpPr>
        <p:spPr>
          <a:xfrm>
            <a:off x="10625328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Kalender Woche 3 Tag 1"/>
          <p:cNvSpPr/>
          <p:nvPr/>
        </p:nvSpPr>
        <p:spPr>
          <a:xfrm>
            <a:off x="7004304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Kalender Woche 3 Tag 2"/>
          <p:cNvSpPr/>
          <p:nvPr/>
        </p:nvSpPr>
        <p:spPr>
          <a:xfrm>
            <a:off x="7607808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Kalender Woche 3 Tag 3"/>
          <p:cNvSpPr/>
          <p:nvPr/>
        </p:nvSpPr>
        <p:spPr>
          <a:xfrm>
            <a:off x="8211312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Kalender Woche 3 Tag 4"/>
          <p:cNvSpPr/>
          <p:nvPr/>
        </p:nvSpPr>
        <p:spPr>
          <a:xfrm>
            <a:off x="8814816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Kalender Woche 3 Tag 5"/>
          <p:cNvSpPr/>
          <p:nvPr/>
        </p:nvSpPr>
        <p:spPr>
          <a:xfrm>
            <a:off x="9418320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Kalender Woche 3 Tag 6"/>
          <p:cNvSpPr/>
          <p:nvPr/>
        </p:nvSpPr>
        <p:spPr>
          <a:xfrm>
            <a:off x="10021824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Kalender Woche 3 Tag 7"/>
          <p:cNvSpPr/>
          <p:nvPr/>
        </p:nvSpPr>
        <p:spPr>
          <a:xfrm>
            <a:off x="10625328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Kalender Woche 4 Tag 1"/>
          <p:cNvSpPr/>
          <p:nvPr/>
        </p:nvSpPr>
        <p:spPr>
          <a:xfrm>
            <a:off x="7004304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Kalender Woche 4 Tag 2"/>
          <p:cNvSpPr/>
          <p:nvPr/>
        </p:nvSpPr>
        <p:spPr>
          <a:xfrm>
            <a:off x="7607808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Kalender Woche 4 Tag 3"/>
          <p:cNvSpPr/>
          <p:nvPr/>
        </p:nvSpPr>
        <p:spPr>
          <a:xfrm>
            <a:off x="8211312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Kalender Woche 4 Tag 4"/>
          <p:cNvSpPr/>
          <p:nvPr/>
        </p:nvSpPr>
        <p:spPr>
          <a:xfrm>
            <a:off x="8814816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Kalender Woche 4 Tag 5"/>
          <p:cNvSpPr/>
          <p:nvPr/>
        </p:nvSpPr>
        <p:spPr>
          <a:xfrm>
            <a:off x="9418320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Kalender Woche 4 Tag 6"/>
          <p:cNvSpPr/>
          <p:nvPr/>
        </p:nvSpPr>
        <p:spPr>
          <a:xfrm>
            <a:off x="10021824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Kalender Woche 4 Tag 7"/>
          <p:cNvSpPr/>
          <p:nvPr/>
        </p:nvSpPr>
        <p:spPr>
          <a:xfrm>
            <a:off x="10625328" y="3785616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Kalender Woche 5 Tag 1"/>
          <p:cNvSpPr/>
          <p:nvPr/>
        </p:nvSpPr>
        <p:spPr>
          <a:xfrm>
            <a:off x="7004304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Kalender Woche 5 Tag 2"/>
          <p:cNvSpPr/>
          <p:nvPr/>
        </p:nvSpPr>
        <p:spPr>
          <a:xfrm>
            <a:off x="7607808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Kalender Woche 5 Tag 3"/>
          <p:cNvSpPr/>
          <p:nvPr/>
        </p:nvSpPr>
        <p:spPr>
          <a:xfrm>
            <a:off x="8211312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Kalender Woche 5 Tag 4"/>
          <p:cNvSpPr/>
          <p:nvPr/>
        </p:nvSpPr>
        <p:spPr>
          <a:xfrm>
            <a:off x="8814816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Kalender Woche 5 Tag 5"/>
          <p:cNvSpPr/>
          <p:nvPr/>
        </p:nvSpPr>
        <p:spPr>
          <a:xfrm>
            <a:off x="9418320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Kalender Woche 5 Tag 6"/>
          <p:cNvSpPr/>
          <p:nvPr/>
        </p:nvSpPr>
        <p:spPr>
          <a:xfrm>
            <a:off x="10021824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Kalender Woche 5 Tag 7"/>
          <p:cNvSpPr/>
          <p:nvPr/>
        </p:nvSpPr>
        <p:spPr>
          <a:xfrm>
            <a:off x="10625328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Kalender Woche 6 Tag 1"/>
          <p:cNvSpPr/>
          <p:nvPr/>
        </p:nvSpPr>
        <p:spPr>
          <a:xfrm>
            <a:off x="7004304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Kalender Woche 6 Tag 2"/>
          <p:cNvSpPr/>
          <p:nvPr/>
        </p:nvSpPr>
        <p:spPr>
          <a:xfrm>
            <a:off x="7607808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Kalender Woche 6 Tag 3"/>
          <p:cNvSpPr/>
          <p:nvPr/>
        </p:nvSpPr>
        <p:spPr>
          <a:xfrm>
            <a:off x="8211312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Kalender Woche 6 Tag 4"/>
          <p:cNvSpPr/>
          <p:nvPr/>
        </p:nvSpPr>
        <p:spPr>
          <a:xfrm>
            <a:off x="8814816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Kalender Woche 6 Tag 5"/>
          <p:cNvSpPr/>
          <p:nvPr/>
        </p:nvSpPr>
        <p:spPr>
          <a:xfrm>
            <a:off x="9418320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Kalender Woche 6 Tag 6"/>
          <p:cNvSpPr/>
          <p:nvPr/>
        </p:nvSpPr>
        <p:spPr>
          <a:xfrm>
            <a:off x="10021824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Kalender Woche 6 Tag 7"/>
          <p:cNvSpPr/>
          <p:nvPr/>
        </p:nvSpPr>
        <p:spPr>
          <a:xfrm>
            <a:off x="10625328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8141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5760-5E4B-C0AC-881F-2DBDB691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Entwicklungsumgebung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7F684-EF13-487F-FAB2-A7A0F8540F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F2307-76C2-42E1-EDBE-535C751FAF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pic>
        <p:nvPicPr>
          <p:cNvPr id="5" name="Picture 4" descr="Datei:Visual Studio Code 1.35 icon.svg">
            <a:extLst>
              <a:ext uri="{FF2B5EF4-FFF2-40B4-BE49-F238E27FC236}">
                <a16:creationId xmlns:a16="http://schemas.microsoft.com/office/drawing/2014/main" id="{DF088AD8-5D98-1C97-D221-6ECA7A6D2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3" y="1219089"/>
            <a:ext cx="1518261" cy="1518261"/>
          </a:xfrm>
          <a:prstGeom prst="rect">
            <a:avLst/>
          </a:prstGeom>
        </p:spPr>
      </p:pic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8121A0F-6C4F-0D2C-1AF7-CB7413457B2D}"/>
              </a:ext>
            </a:extLst>
          </p:cNvPr>
          <p:cNvSpPr txBox="1">
            <a:spLocks/>
          </p:cNvSpPr>
          <p:nvPr/>
        </p:nvSpPr>
        <p:spPr>
          <a:xfrm>
            <a:off x="609603" y="1452553"/>
            <a:ext cx="8387643" cy="4568655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24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395605" indent="-380365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 noProof="0">
                <a:solidFill>
                  <a:schemeClr val="tx1"/>
                </a:solidFill>
              </a:rPr>
              <a:t>E</a:t>
            </a:r>
            <a:r>
              <a:rPr lang="de-DE" sz="2400" b="1" noProof="0"/>
              <a:t>inheitliche </a:t>
            </a:r>
            <a:r>
              <a:rPr lang="de-DE" sz="2400" b="1"/>
              <a:t>IDE</a:t>
            </a:r>
            <a:endParaRPr lang="de-DE" sz="2400" noProof="0">
              <a:ea typeface="Calibri"/>
              <a:cs typeface="Calibri"/>
            </a:endParaRPr>
          </a:p>
          <a:p>
            <a:pPr marL="380365" indent="-380365">
              <a:buFont typeface="Arial" panose="020B0604020202020204" pitchFamily="34" charset="0"/>
              <a:buChar char="•"/>
            </a:pPr>
            <a:r>
              <a:rPr lang="de-DE" sz="2400" b="1" err="1">
                <a:solidFill>
                  <a:schemeClr val="tx1"/>
                </a:solidFill>
                <a:ea typeface="Calibri"/>
                <a:cs typeface="Calibri"/>
              </a:rPr>
              <a:t>Git</a:t>
            </a:r>
            <a:r>
              <a:rPr lang="de-DE" sz="2400" b="1">
                <a:solidFill>
                  <a:schemeClr val="tx1"/>
                </a:solidFill>
                <a:ea typeface="Calibri"/>
                <a:cs typeface="Calibri"/>
              </a:rPr>
              <a:t> und Docker integriert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2D91D6-6479-3DED-F9E6-3C8B582169E2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23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88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961B3-2296-EC15-B3D1-75A14ACB5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3E62C-EA14-BD8B-0612-BD10E76C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Versionsmanagement: GitHub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218168-89A9-D9AD-2E0B-CEEBAC5EF96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3DFD2-10C7-B5C9-B3E8-4384C66A367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B7F3A60D-8E4A-B837-E3B6-102C46513645}"/>
              </a:ext>
            </a:extLst>
          </p:cNvPr>
          <p:cNvSpPr txBox="1">
            <a:spLocks/>
          </p:cNvSpPr>
          <p:nvPr/>
        </p:nvSpPr>
        <p:spPr>
          <a:xfrm>
            <a:off x="624000" y="1861974"/>
            <a:ext cx="8387643" cy="4568655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365" indent="-38036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tx1"/>
                </a:solidFill>
                <a:ea typeface="Calibri"/>
                <a:cs typeface="Calibri"/>
              </a:rPr>
              <a:t>Getrennte </a:t>
            </a:r>
            <a:r>
              <a:rPr lang="de-DE" sz="2400" b="1" err="1">
                <a:solidFill>
                  <a:schemeClr val="tx1"/>
                </a:solidFill>
                <a:ea typeface="Calibri"/>
                <a:cs typeface="Calibri"/>
              </a:rPr>
              <a:t>Repositories</a:t>
            </a:r>
            <a:r>
              <a:rPr lang="de-DE" sz="2400" b="1">
                <a:solidFill>
                  <a:schemeClr val="tx1"/>
                </a:solidFill>
                <a:ea typeface="Calibri"/>
                <a:cs typeface="Calibri"/>
              </a:rPr>
              <a:t> für Frontend, Backend und Doku</a:t>
            </a:r>
            <a:endParaRPr lang="de-DE">
              <a:solidFill>
                <a:schemeClr val="tx1"/>
              </a:solidFill>
            </a:endParaRPr>
          </a:p>
          <a:p>
            <a:pPr marL="380365" indent="-38036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tx1"/>
                </a:solidFill>
                <a:ea typeface="Calibri"/>
                <a:cs typeface="Calibri"/>
              </a:rPr>
              <a:t>Feature-</a:t>
            </a:r>
            <a:r>
              <a:rPr lang="de-DE" sz="2400" b="1" err="1">
                <a:solidFill>
                  <a:schemeClr val="tx1"/>
                </a:solidFill>
                <a:ea typeface="Calibri"/>
                <a:cs typeface="Calibri"/>
              </a:rPr>
              <a:t>Branches</a:t>
            </a:r>
            <a:r>
              <a:rPr lang="de-DE" sz="2400" b="1">
                <a:solidFill>
                  <a:schemeClr val="tx1"/>
                </a:solidFill>
                <a:ea typeface="Calibri"/>
                <a:cs typeface="Calibri"/>
              </a:rPr>
              <a:t>, geschützter Main</a:t>
            </a:r>
          </a:p>
          <a:p>
            <a:pPr marL="380365" indent="-38036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>
                <a:solidFill>
                  <a:schemeClr val="tx1"/>
                </a:solidFill>
                <a:ea typeface="Calibri"/>
                <a:cs typeface="Calibri"/>
              </a:rPr>
              <a:t>Vier-Augen-Prinzip</a:t>
            </a:r>
            <a:endParaRPr lang="de-DE" sz="2400" b="1" noProof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B6D034-7642-B4B9-18CE-731DD1DAF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3" y="2912304"/>
            <a:ext cx="1631810" cy="1631810"/>
          </a:xfrm>
          <a:prstGeom prst="rect">
            <a:avLst/>
          </a:prstGeom>
        </p:spPr>
      </p:pic>
      <p:pic>
        <p:nvPicPr>
          <p:cNvPr id="13" name="Picture 12" descr="Datei:Visual Studio Code 1.35 icon.svg">
            <a:extLst>
              <a:ext uri="{FF2B5EF4-FFF2-40B4-BE49-F238E27FC236}">
                <a16:creationId xmlns:a16="http://schemas.microsoft.com/office/drawing/2014/main" id="{70AA2403-FB01-2143-02D8-584BA354F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3" y="1219089"/>
            <a:ext cx="1518261" cy="151826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A764A12-81B4-DF65-364F-8EC206D46C78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24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994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37B650-6E33-129A-96F1-7BADB0809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API-first: </a:t>
            </a:r>
            <a:r>
              <a:rPr lang="de-DE" noProof="0" err="1">
                <a:ea typeface="+mj-lt"/>
                <a:cs typeface="+mj-lt"/>
              </a:rPr>
              <a:t>OpenAPI</a:t>
            </a:r>
            <a:r>
              <a:rPr lang="de-DE" noProof="0">
                <a:ea typeface="+mj-lt"/>
                <a:cs typeface="+mj-lt"/>
              </a:rPr>
              <a:t>-Spezifikation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349BA05-F2BD-8ECF-FC78-98B866EB020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6804FFE-F1A2-EDFA-11A8-9EADA13702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06C3FB0-76EA-9805-DDFB-AF1DBD93D26F}"/>
              </a:ext>
            </a:extLst>
          </p:cNvPr>
          <p:cNvSpPr txBox="1">
            <a:spLocks/>
          </p:cNvSpPr>
          <p:nvPr/>
        </p:nvSpPr>
        <p:spPr>
          <a:xfrm>
            <a:off x="624000" y="1861974"/>
            <a:ext cx="8387643" cy="4568655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0365" indent="-38036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 noProof="0"/>
              <a:t>Schnittstellenvertrag</a:t>
            </a:r>
            <a:r>
              <a:rPr lang="de-DE" sz="2400" b="1"/>
              <a:t> zuerst</a:t>
            </a:r>
            <a:endParaRPr lang="de-DE" sz="2400" noProof="0">
              <a:ea typeface="Calibri"/>
              <a:cs typeface="Calibri"/>
            </a:endParaRPr>
          </a:p>
          <a:p>
            <a:pPr marL="380365" lvl="0" indent="-38036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 noProof="0"/>
              <a:t>Automatisierte Generierung</a:t>
            </a:r>
            <a:endParaRPr lang="de-DE" sz="2400" noProof="0">
              <a:ea typeface="Calibri"/>
              <a:cs typeface="Calibri"/>
            </a:endParaRPr>
          </a:p>
          <a:p>
            <a:pPr marL="380365" lvl="0" indent="-380365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2400" b="1" noProof="0"/>
              <a:t>Unabhängige Entwicklung</a:t>
            </a:r>
            <a:endParaRPr lang="de-DE" sz="2400" noProof="0">
              <a:ea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A2D1EF-B846-E912-3257-2766A1137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5867" y="4719068"/>
            <a:ext cx="1698820" cy="16988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D5DF69C-D6F0-1206-0F6D-29E8D46A3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003" y="2912304"/>
            <a:ext cx="1631810" cy="1631810"/>
          </a:xfrm>
          <a:prstGeom prst="rect">
            <a:avLst/>
          </a:prstGeom>
        </p:spPr>
      </p:pic>
      <p:pic>
        <p:nvPicPr>
          <p:cNvPr id="17" name="Picture 16" descr="Datei:Visual Studio Code 1.35 icon.svg">
            <a:extLst>
              <a:ext uri="{FF2B5EF4-FFF2-40B4-BE49-F238E27FC236}">
                <a16:creationId xmlns:a16="http://schemas.microsoft.com/office/drawing/2014/main" id="{6807E622-082C-4595-7A9E-A109BA26B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003" y="1219089"/>
            <a:ext cx="1518261" cy="1518261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6EEF524-AEBE-E504-2511-40F748D54A13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25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4130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097C-14BE-4065-FBA2-B6BA725E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/>
              <a:t>Übersicht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45551-9914-7DB7-DF7E-72C0C38171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9A2DE-EFD8-441D-B452-27C09489C9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4B5A1E-D5CD-3DD4-3933-CFFE7E6EB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991" y="1965478"/>
            <a:ext cx="2263559" cy="22635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36D1E1-9C0F-E5FF-E1B9-5D09334DE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911" y="2022851"/>
            <a:ext cx="2206186" cy="2206186"/>
          </a:xfrm>
          <a:prstGeom prst="rect">
            <a:avLst/>
          </a:prstGeom>
        </p:spPr>
      </p:pic>
      <p:pic>
        <p:nvPicPr>
          <p:cNvPr id="10" name="Picture 9" descr="Datei:Visual Studio Code 1.35 icon.svg">
            <a:extLst>
              <a:ext uri="{FF2B5EF4-FFF2-40B4-BE49-F238E27FC236}">
                <a16:creationId xmlns:a16="http://schemas.microsoft.com/office/drawing/2014/main" id="{24673B6D-8614-4785-F4F7-080A4A5AE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000" y="1965478"/>
            <a:ext cx="2206186" cy="22061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C8A8CB-B518-22FB-2AED-3009EB50DC7E}"/>
              </a:ext>
            </a:extLst>
          </p:cNvPr>
          <p:cNvSpPr txBox="1"/>
          <p:nvPr/>
        </p:nvSpPr>
        <p:spPr>
          <a:xfrm>
            <a:off x="1104000" y="4635807"/>
            <a:ext cx="2840477" cy="91440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 algn="ctr"/>
            <a:r>
              <a:rPr lang="de-DE" sz="2400" b="1" cap="none" baseline="0" noProof="0"/>
              <a:t>Frontend &amp; Backend IDE: </a:t>
            </a:r>
            <a:br>
              <a:rPr lang="de-DE" sz="2400" cap="none" baseline="0" noProof="0"/>
            </a:br>
            <a:r>
              <a:rPr lang="de-DE" sz="2400" cap="none" baseline="0" noProof="0"/>
              <a:t>Visual Studio Code</a:t>
            </a:r>
            <a:endParaRPr lang="de-DE" sz="2400" cap="none" baseline="0" noProof="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36FF6-494F-8D9D-A9F4-126EA6AE410B}"/>
              </a:ext>
            </a:extLst>
          </p:cNvPr>
          <p:cNvSpPr txBox="1"/>
          <p:nvPr/>
        </p:nvSpPr>
        <p:spPr>
          <a:xfrm>
            <a:off x="8035533" y="4635807"/>
            <a:ext cx="2840477" cy="91440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 algn="ctr"/>
            <a:r>
              <a:rPr lang="de-DE" sz="2400" b="1" noProof="0"/>
              <a:t>API-Spezifikation:</a:t>
            </a:r>
            <a:r>
              <a:rPr lang="de-DE" sz="2400" noProof="0"/>
              <a:t> </a:t>
            </a:r>
            <a:endParaRPr lang="de-DE" sz="2400" noProof="0">
              <a:ea typeface="Calibri"/>
              <a:cs typeface="Calibri"/>
            </a:endParaRPr>
          </a:p>
          <a:p>
            <a:pPr algn="ctr"/>
            <a:r>
              <a:rPr lang="de-DE" sz="2400" noProof="0" err="1"/>
              <a:t>OpenAPI</a:t>
            </a:r>
            <a:endParaRPr lang="de-DE" sz="2400" cap="none" baseline="0" noProof="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C18C7-C4C4-32EA-186F-071B3ECCBCF8}"/>
              </a:ext>
            </a:extLst>
          </p:cNvPr>
          <p:cNvSpPr txBox="1"/>
          <p:nvPr/>
        </p:nvSpPr>
        <p:spPr>
          <a:xfrm>
            <a:off x="4569766" y="4635807"/>
            <a:ext cx="2840477" cy="914400"/>
          </a:xfrm>
          <a:prstGeom prst="rect">
            <a:avLst/>
          </a:prstGeom>
          <a:noFill/>
        </p:spPr>
        <p:txBody>
          <a:bodyPr vert="horz" wrap="none" lIns="0" tIns="46800" rIns="91440" bIns="45720" rtlCol="0" anchor="t">
            <a:noAutofit/>
          </a:bodyPr>
          <a:lstStyle/>
          <a:p>
            <a:pPr algn="ctr"/>
            <a:r>
              <a:rPr lang="de-DE" sz="2400" b="1" cap="none" baseline="0" noProof="0"/>
              <a:t>Versionsmanagement:</a:t>
            </a:r>
            <a:br>
              <a:rPr lang="de-DE" sz="2400" cap="none" baseline="0" noProof="0"/>
            </a:br>
            <a:r>
              <a:rPr lang="de-DE" sz="2400" cap="none" baseline="0" noProof="0"/>
              <a:t>GitHub</a:t>
            </a:r>
            <a:endParaRPr lang="de-DE" sz="2400" cap="none" baseline="0" noProof="0">
              <a:ea typeface="Calibri"/>
              <a:cs typeface="Calibr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24EE9BF-445D-5EFA-0108-50B943377A17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26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647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FBBBD-18A2-2DE3-A95C-763782C9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B4B86-8522-3684-B2C1-ECDD8FCCA52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5D010-3BD9-7CA1-D12D-010A205F0B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93ED4F97-6DAB-A3F6-7497-E43592E0DCC7}"/>
              </a:ext>
            </a:extLst>
          </p:cNvPr>
          <p:cNvSpPr txBox="1">
            <a:spLocks/>
          </p:cNvSpPr>
          <p:nvPr/>
        </p:nvSpPr>
        <p:spPr>
          <a:xfrm>
            <a:off x="621792" y="2359152"/>
            <a:ext cx="5806440" cy="292608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0" rIns="73152" bIns="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Anforderungen an die Anwendung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High-Level-Architektur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Technologien &amp; Tech-Stack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Entwicklungsumgebung &amp; </a:t>
            </a:r>
            <a:r>
              <a:rPr lang="de-DE" sz="1900" b="0" noProof="0" err="1">
                <a:solidFill>
                  <a:srgbClr val="4F6576"/>
                </a:solidFill>
              </a:rPr>
              <a:t>Toolchain</a:t>
            </a:r>
            <a:endParaRPr lang="de-DE" sz="1900" noProof="0">
              <a:solidFill>
                <a:schemeClr val="tx1"/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2700" b="1" noProof="0">
                <a:solidFill>
                  <a:srgbClr val="003663"/>
                </a:solidFill>
              </a:rPr>
              <a:t>Nutzerinteraktion &amp; UI Mockups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Teamzusammenarbeit: Methode, Rollen &amp; Tools</a:t>
            </a:r>
          </a:p>
          <a:p>
            <a:endParaRPr lang="de-DE" sz="2400" noProof="0">
              <a:solidFill>
                <a:schemeClr val="tx1"/>
              </a:solidFill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6FE05213-8D46-ED14-E73B-37EB616F99E1}"/>
              </a:ext>
            </a:extLst>
          </p:cNvPr>
          <p:cNvSpPr txBox="1">
            <a:spLocks/>
          </p:cNvSpPr>
          <p:nvPr/>
        </p:nvSpPr>
        <p:spPr>
          <a:xfrm>
            <a:off x="621792" y="1746504"/>
            <a:ext cx="2953512" cy="62179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normAutofit lnSpcReduction="10000"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</a:rPr>
              <a:t>Agenda</a:t>
            </a:r>
            <a:endParaRPr lang="de-DE" sz="1600" b="1" cap="none" noProof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B44471A-FCEB-A106-D592-178DA8A0EF8F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27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0" name="Kalender Kopf Mo"/>
          <p:cNvSpPr txBox="1"/>
          <p:nvPr/>
        </p:nvSpPr>
        <p:spPr>
          <a:xfrm>
            <a:off x="700430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Mo</a:t>
            </a:r>
          </a:p>
        </p:txBody>
      </p:sp>
      <p:sp>
        <p:nvSpPr>
          <p:cNvPr id="11" name="Kalender Kopf Di"/>
          <p:cNvSpPr txBox="1"/>
          <p:nvPr/>
        </p:nvSpPr>
        <p:spPr>
          <a:xfrm>
            <a:off x="760780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Di</a:t>
            </a:r>
          </a:p>
        </p:txBody>
      </p:sp>
      <p:sp>
        <p:nvSpPr>
          <p:cNvPr id="12" name="Kalender Kopf Mi"/>
          <p:cNvSpPr txBox="1"/>
          <p:nvPr/>
        </p:nvSpPr>
        <p:spPr>
          <a:xfrm>
            <a:off x="8211312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Mi</a:t>
            </a:r>
          </a:p>
        </p:txBody>
      </p:sp>
      <p:sp>
        <p:nvSpPr>
          <p:cNvPr id="13" name="Kalender Kopf Do"/>
          <p:cNvSpPr txBox="1"/>
          <p:nvPr/>
        </p:nvSpPr>
        <p:spPr>
          <a:xfrm>
            <a:off x="8814816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Do</a:t>
            </a:r>
          </a:p>
        </p:txBody>
      </p:sp>
      <p:sp>
        <p:nvSpPr>
          <p:cNvPr id="14" name="Kalender Kopf Fr"/>
          <p:cNvSpPr txBox="1"/>
          <p:nvPr/>
        </p:nvSpPr>
        <p:spPr>
          <a:xfrm>
            <a:off x="9418320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Fr</a:t>
            </a:r>
          </a:p>
        </p:txBody>
      </p:sp>
      <p:sp>
        <p:nvSpPr>
          <p:cNvPr id="15" name="Kalender Kopf Sa"/>
          <p:cNvSpPr txBox="1"/>
          <p:nvPr/>
        </p:nvSpPr>
        <p:spPr>
          <a:xfrm>
            <a:off x="1002182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Sa</a:t>
            </a:r>
          </a:p>
        </p:txBody>
      </p:sp>
      <p:sp>
        <p:nvSpPr>
          <p:cNvPr id="16" name="Kalender Kopf So"/>
          <p:cNvSpPr txBox="1"/>
          <p:nvPr/>
        </p:nvSpPr>
        <p:spPr>
          <a:xfrm>
            <a:off x="1062532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So</a:t>
            </a:r>
          </a:p>
        </p:txBody>
      </p:sp>
      <p:sp>
        <p:nvSpPr>
          <p:cNvPr id="17" name="Kalender Woche 1 Tag 1"/>
          <p:cNvSpPr/>
          <p:nvPr/>
        </p:nvSpPr>
        <p:spPr>
          <a:xfrm>
            <a:off x="7004304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Kalender Woche 1 Tag 2"/>
          <p:cNvSpPr/>
          <p:nvPr/>
        </p:nvSpPr>
        <p:spPr>
          <a:xfrm>
            <a:off x="7607808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Kalender Woche 1 Tag 3"/>
          <p:cNvSpPr/>
          <p:nvPr/>
        </p:nvSpPr>
        <p:spPr>
          <a:xfrm>
            <a:off x="8211312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Kalender Woche 1 Tag 4"/>
          <p:cNvSpPr/>
          <p:nvPr/>
        </p:nvSpPr>
        <p:spPr>
          <a:xfrm>
            <a:off x="8814816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Kalender Woche 1 Tag 5"/>
          <p:cNvSpPr/>
          <p:nvPr/>
        </p:nvSpPr>
        <p:spPr>
          <a:xfrm>
            <a:off x="9418320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Kalender Woche 1 Tag 6"/>
          <p:cNvSpPr/>
          <p:nvPr/>
        </p:nvSpPr>
        <p:spPr>
          <a:xfrm>
            <a:off x="10021824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Kalender Woche 1 Tag 7"/>
          <p:cNvSpPr/>
          <p:nvPr/>
        </p:nvSpPr>
        <p:spPr>
          <a:xfrm>
            <a:off x="10625328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Kalender Woche 2 Tag 1"/>
          <p:cNvSpPr/>
          <p:nvPr/>
        </p:nvSpPr>
        <p:spPr>
          <a:xfrm>
            <a:off x="7004304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Kalender Woche 2 Tag 2"/>
          <p:cNvSpPr/>
          <p:nvPr/>
        </p:nvSpPr>
        <p:spPr>
          <a:xfrm>
            <a:off x="7607808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Kalender Woche 2 Tag 3"/>
          <p:cNvSpPr/>
          <p:nvPr/>
        </p:nvSpPr>
        <p:spPr>
          <a:xfrm>
            <a:off x="8211312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Kalender Woche 2 Tag 4"/>
          <p:cNvSpPr/>
          <p:nvPr/>
        </p:nvSpPr>
        <p:spPr>
          <a:xfrm>
            <a:off x="8814816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Kalender Woche 2 Tag 5"/>
          <p:cNvSpPr/>
          <p:nvPr/>
        </p:nvSpPr>
        <p:spPr>
          <a:xfrm>
            <a:off x="9418320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Kalender Woche 2 Tag 6"/>
          <p:cNvSpPr/>
          <p:nvPr/>
        </p:nvSpPr>
        <p:spPr>
          <a:xfrm>
            <a:off x="10021824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Kalender Woche 2 Tag 7"/>
          <p:cNvSpPr/>
          <p:nvPr/>
        </p:nvSpPr>
        <p:spPr>
          <a:xfrm>
            <a:off x="10625328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Kalender Woche 3 Tag 1"/>
          <p:cNvSpPr/>
          <p:nvPr/>
        </p:nvSpPr>
        <p:spPr>
          <a:xfrm>
            <a:off x="7004304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Kalender Woche 3 Tag 2"/>
          <p:cNvSpPr/>
          <p:nvPr/>
        </p:nvSpPr>
        <p:spPr>
          <a:xfrm>
            <a:off x="7607808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Kalender Woche 3 Tag 3"/>
          <p:cNvSpPr/>
          <p:nvPr/>
        </p:nvSpPr>
        <p:spPr>
          <a:xfrm>
            <a:off x="8211312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Kalender Woche 3 Tag 4"/>
          <p:cNvSpPr/>
          <p:nvPr/>
        </p:nvSpPr>
        <p:spPr>
          <a:xfrm>
            <a:off x="8814816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Kalender Woche 3 Tag 5"/>
          <p:cNvSpPr/>
          <p:nvPr/>
        </p:nvSpPr>
        <p:spPr>
          <a:xfrm>
            <a:off x="9418320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Kalender Woche 3 Tag 6"/>
          <p:cNvSpPr/>
          <p:nvPr/>
        </p:nvSpPr>
        <p:spPr>
          <a:xfrm>
            <a:off x="10021824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Kalender Woche 3 Tag 7"/>
          <p:cNvSpPr/>
          <p:nvPr/>
        </p:nvSpPr>
        <p:spPr>
          <a:xfrm>
            <a:off x="10625328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Kalender Woche 4 Tag 1"/>
          <p:cNvSpPr/>
          <p:nvPr/>
        </p:nvSpPr>
        <p:spPr>
          <a:xfrm>
            <a:off x="7004304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Kalender Woche 4 Tag 2"/>
          <p:cNvSpPr/>
          <p:nvPr/>
        </p:nvSpPr>
        <p:spPr>
          <a:xfrm>
            <a:off x="7607808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Kalender Woche 4 Tag 3"/>
          <p:cNvSpPr/>
          <p:nvPr/>
        </p:nvSpPr>
        <p:spPr>
          <a:xfrm>
            <a:off x="8211312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Kalender Woche 4 Tag 4"/>
          <p:cNvSpPr/>
          <p:nvPr/>
        </p:nvSpPr>
        <p:spPr>
          <a:xfrm>
            <a:off x="8814816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Kalender Woche 4 Tag 5"/>
          <p:cNvSpPr/>
          <p:nvPr/>
        </p:nvSpPr>
        <p:spPr>
          <a:xfrm>
            <a:off x="9418320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Kalender Woche 4 Tag 6"/>
          <p:cNvSpPr/>
          <p:nvPr/>
        </p:nvSpPr>
        <p:spPr>
          <a:xfrm>
            <a:off x="10021824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Kalender Woche 4 Tag 7"/>
          <p:cNvSpPr/>
          <p:nvPr/>
        </p:nvSpPr>
        <p:spPr>
          <a:xfrm>
            <a:off x="10625328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Kalender Woche 5 Tag 1"/>
          <p:cNvSpPr/>
          <p:nvPr/>
        </p:nvSpPr>
        <p:spPr>
          <a:xfrm>
            <a:off x="7004304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Kalender Woche 5 Tag 2"/>
          <p:cNvSpPr/>
          <p:nvPr/>
        </p:nvSpPr>
        <p:spPr>
          <a:xfrm>
            <a:off x="7607808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Kalender Woche 5 Tag 3"/>
          <p:cNvSpPr/>
          <p:nvPr/>
        </p:nvSpPr>
        <p:spPr>
          <a:xfrm>
            <a:off x="8211312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Kalender Woche 5 Tag 4"/>
          <p:cNvSpPr/>
          <p:nvPr/>
        </p:nvSpPr>
        <p:spPr>
          <a:xfrm>
            <a:off x="8814816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Kalender Woche 5 Tag 5"/>
          <p:cNvSpPr/>
          <p:nvPr/>
        </p:nvSpPr>
        <p:spPr>
          <a:xfrm>
            <a:off x="9418320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Kalender Woche 5 Tag 6"/>
          <p:cNvSpPr/>
          <p:nvPr/>
        </p:nvSpPr>
        <p:spPr>
          <a:xfrm>
            <a:off x="10021824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Kalender Woche 5 Tag 7"/>
          <p:cNvSpPr/>
          <p:nvPr/>
        </p:nvSpPr>
        <p:spPr>
          <a:xfrm>
            <a:off x="10625328" y="4370832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Kalender Woche 6 Tag 1"/>
          <p:cNvSpPr/>
          <p:nvPr/>
        </p:nvSpPr>
        <p:spPr>
          <a:xfrm>
            <a:off x="7004304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Kalender Woche 6 Tag 2"/>
          <p:cNvSpPr/>
          <p:nvPr/>
        </p:nvSpPr>
        <p:spPr>
          <a:xfrm>
            <a:off x="7607808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Kalender Woche 6 Tag 3"/>
          <p:cNvSpPr/>
          <p:nvPr/>
        </p:nvSpPr>
        <p:spPr>
          <a:xfrm>
            <a:off x="8211312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Kalender Woche 6 Tag 4"/>
          <p:cNvSpPr/>
          <p:nvPr/>
        </p:nvSpPr>
        <p:spPr>
          <a:xfrm>
            <a:off x="8814816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Kalender Woche 6 Tag 5"/>
          <p:cNvSpPr/>
          <p:nvPr/>
        </p:nvSpPr>
        <p:spPr>
          <a:xfrm>
            <a:off x="9418320" y="495604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Kalender Woche 6 Tag 6"/>
          <p:cNvSpPr/>
          <p:nvPr/>
        </p:nvSpPr>
        <p:spPr>
          <a:xfrm>
            <a:off x="10021824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Kalender Woche 6 Tag 7"/>
          <p:cNvSpPr/>
          <p:nvPr/>
        </p:nvSpPr>
        <p:spPr>
          <a:xfrm>
            <a:off x="10625328" y="495604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4756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75EB-E083-C257-A08C-F21DF290B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26C0E-1B87-E2D5-0F2E-EF10753A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Mockup-Demo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E55D6F1-62CB-B6DB-DE96-CE3BCEA1AD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52FA4B8-5E67-857C-EE62-00BA61D5C8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75FBE43A-24DB-12CA-E80E-1B236E608794}"/>
              </a:ext>
            </a:extLst>
          </p:cNvPr>
          <p:cNvSpPr txBox="1">
            <a:spLocks/>
          </p:cNvSpPr>
          <p:nvPr/>
        </p:nvSpPr>
        <p:spPr>
          <a:xfrm>
            <a:off x="624000" y="1773985"/>
            <a:ext cx="10639138" cy="4717604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  <a:hlinkClick r:id="rId2"/>
              </a:rPr>
              <a:t>Mockup-Demo starten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2FC3AB2-8ECE-E897-DCD8-391592CC1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015" y="1390015"/>
            <a:ext cx="4667250" cy="46672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C3A98A4-8587-FD71-185B-665658CB9CDB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28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1143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06E1A-C309-23D6-3A83-47648DD7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447C7-1AEC-B4F2-DD10-35BCBD819FC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4BF0E-EFB1-F2ED-46C3-0AC2CA3C386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CF707300-9041-A33A-711D-202D3FE942B4}"/>
              </a:ext>
            </a:extLst>
          </p:cNvPr>
          <p:cNvSpPr txBox="1">
            <a:spLocks/>
          </p:cNvSpPr>
          <p:nvPr/>
        </p:nvSpPr>
        <p:spPr>
          <a:xfrm>
            <a:off x="621792" y="2359152"/>
            <a:ext cx="5806440" cy="2926080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0" rIns="73152" bIns="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Anforderungen an die Anwendung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High-Level-Architektur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Technologien &amp; Tech-Stack</a:t>
            </a:r>
            <a:endParaRPr lang="de-DE" sz="1900" noProof="0">
              <a:solidFill>
                <a:schemeClr val="tx1"/>
              </a:solidFill>
              <a:ea typeface="Calibri"/>
              <a:cs typeface="Calibri"/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Entwicklungsumgebung &amp; </a:t>
            </a:r>
            <a:r>
              <a:rPr lang="de-DE" sz="1900" b="0" noProof="0" err="1">
                <a:solidFill>
                  <a:srgbClr val="4F6576"/>
                </a:solidFill>
              </a:rPr>
              <a:t>Toolchain</a:t>
            </a:r>
            <a:endParaRPr lang="de-DE" sz="1900" noProof="0">
              <a:solidFill>
                <a:schemeClr val="tx1"/>
              </a:solidFill>
            </a:endParaRP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1900" b="0" noProof="0">
                <a:solidFill>
                  <a:srgbClr val="4F6576"/>
                </a:solidFill>
              </a:rPr>
              <a:t>Nutzerinteraktion &amp; UI Mockups</a:t>
            </a:r>
          </a:p>
          <a:p>
            <a:pPr marL="514350" indent="-51435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Font typeface="+mj-lt"/>
              <a:buAutoNum type="romanUcPeriod"/>
            </a:pPr>
            <a:r>
              <a:rPr lang="de-DE" sz="2700" b="1" noProof="0">
                <a:solidFill>
                  <a:srgbClr val="003663"/>
                </a:solidFill>
              </a:rPr>
              <a:t>Teamzusammenarbeit: Methode, Rollen &amp; Tools</a:t>
            </a:r>
          </a:p>
          <a:p>
            <a:pPr marL="0" indent="0">
              <a:buNone/>
            </a:pPr>
            <a:endParaRPr lang="de-DE" sz="2400" noProof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F5EA8FC4-A760-0329-8527-A34CC3CE2894}"/>
              </a:ext>
            </a:extLst>
          </p:cNvPr>
          <p:cNvSpPr txBox="1">
            <a:spLocks/>
          </p:cNvSpPr>
          <p:nvPr/>
        </p:nvSpPr>
        <p:spPr>
          <a:xfrm>
            <a:off x="621792" y="1746504"/>
            <a:ext cx="2953512" cy="621792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normAutofit lnSpcReduction="10000"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67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 cap="none" noProof="0">
                <a:solidFill>
                  <a:schemeClr val="tx1"/>
                </a:solidFill>
              </a:rPr>
              <a:t>Agenda</a:t>
            </a:r>
            <a:endParaRPr lang="de-DE" sz="1600" b="1" cap="none" noProof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6A2DF8-D520-BF2A-5C55-AB201816F471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29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0" name="Kalender Kopf Mo"/>
          <p:cNvSpPr txBox="1"/>
          <p:nvPr/>
        </p:nvSpPr>
        <p:spPr>
          <a:xfrm>
            <a:off x="700430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Mo</a:t>
            </a:r>
          </a:p>
        </p:txBody>
      </p:sp>
      <p:sp>
        <p:nvSpPr>
          <p:cNvPr id="11" name="Kalender Kopf Di"/>
          <p:cNvSpPr txBox="1"/>
          <p:nvPr/>
        </p:nvSpPr>
        <p:spPr>
          <a:xfrm>
            <a:off x="760780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Di</a:t>
            </a:r>
          </a:p>
        </p:txBody>
      </p:sp>
      <p:sp>
        <p:nvSpPr>
          <p:cNvPr id="12" name="Kalender Kopf Mi"/>
          <p:cNvSpPr txBox="1"/>
          <p:nvPr/>
        </p:nvSpPr>
        <p:spPr>
          <a:xfrm>
            <a:off x="8211312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Mi</a:t>
            </a:r>
          </a:p>
        </p:txBody>
      </p:sp>
      <p:sp>
        <p:nvSpPr>
          <p:cNvPr id="13" name="Kalender Kopf Do"/>
          <p:cNvSpPr txBox="1"/>
          <p:nvPr/>
        </p:nvSpPr>
        <p:spPr>
          <a:xfrm>
            <a:off x="8814816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Do</a:t>
            </a:r>
          </a:p>
        </p:txBody>
      </p:sp>
      <p:sp>
        <p:nvSpPr>
          <p:cNvPr id="14" name="Kalender Kopf Fr"/>
          <p:cNvSpPr txBox="1"/>
          <p:nvPr/>
        </p:nvSpPr>
        <p:spPr>
          <a:xfrm>
            <a:off x="9418320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Fr</a:t>
            </a:r>
          </a:p>
        </p:txBody>
      </p:sp>
      <p:sp>
        <p:nvSpPr>
          <p:cNvPr id="15" name="Kalender Kopf Sa"/>
          <p:cNvSpPr txBox="1"/>
          <p:nvPr/>
        </p:nvSpPr>
        <p:spPr>
          <a:xfrm>
            <a:off x="10021824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Sa</a:t>
            </a:r>
          </a:p>
        </p:txBody>
      </p:sp>
      <p:sp>
        <p:nvSpPr>
          <p:cNvPr id="16" name="Kalender Kopf So"/>
          <p:cNvSpPr txBox="1"/>
          <p:nvPr/>
        </p:nvSpPr>
        <p:spPr>
          <a:xfrm>
            <a:off x="10625328" y="1682496"/>
            <a:ext cx="493776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>
                <a:solidFill>
                  <a:srgbClr val="003663"/>
                </a:solidFill>
              </a:rPr>
              <a:t>So</a:t>
            </a:r>
          </a:p>
        </p:txBody>
      </p:sp>
      <p:sp>
        <p:nvSpPr>
          <p:cNvPr id="17" name="Kalender Woche 1 Tag 1"/>
          <p:cNvSpPr/>
          <p:nvPr/>
        </p:nvSpPr>
        <p:spPr>
          <a:xfrm>
            <a:off x="7004304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Kalender Woche 1 Tag 2"/>
          <p:cNvSpPr/>
          <p:nvPr/>
        </p:nvSpPr>
        <p:spPr>
          <a:xfrm>
            <a:off x="7607808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Kalender Woche 1 Tag 3"/>
          <p:cNvSpPr/>
          <p:nvPr/>
        </p:nvSpPr>
        <p:spPr>
          <a:xfrm>
            <a:off x="8211312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Kalender Woche 1 Tag 4"/>
          <p:cNvSpPr/>
          <p:nvPr/>
        </p:nvSpPr>
        <p:spPr>
          <a:xfrm>
            <a:off x="8814816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1" name="Kalender Woche 1 Tag 5"/>
          <p:cNvSpPr/>
          <p:nvPr/>
        </p:nvSpPr>
        <p:spPr>
          <a:xfrm>
            <a:off x="9418320" y="2029968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2" name="Kalender Woche 1 Tag 6"/>
          <p:cNvSpPr/>
          <p:nvPr/>
        </p:nvSpPr>
        <p:spPr>
          <a:xfrm>
            <a:off x="10021824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3" name="Kalender Woche 1 Tag 7"/>
          <p:cNvSpPr/>
          <p:nvPr/>
        </p:nvSpPr>
        <p:spPr>
          <a:xfrm>
            <a:off x="10625328" y="2029968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4" name="Kalender Woche 2 Tag 1"/>
          <p:cNvSpPr/>
          <p:nvPr/>
        </p:nvSpPr>
        <p:spPr>
          <a:xfrm>
            <a:off x="7004304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5" name="Kalender Woche 2 Tag 2"/>
          <p:cNvSpPr/>
          <p:nvPr/>
        </p:nvSpPr>
        <p:spPr>
          <a:xfrm>
            <a:off x="7607808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6" name="Kalender Woche 2 Tag 3"/>
          <p:cNvSpPr/>
          <p:nvPr/>
        </p:nvSpPr>
        <p:spPr>
          <a:xfrm>
            <a:off x="8211312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7" name="Kalender Woche 2 Tag 4"/>
          <p:cNvSpPr/>
          <p:nvPr/>
        </p:nvSpPr>
        <p:spPr>
          <a:xfrm>
            <a:off x="8814816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8" name="Kalender Woche 2 Tag 5"/>
          <p:cNvSpPr/>
          <p:nvPr/>
        </p:nvSpPr>
        <p:spPr>
          <a:xfrm>
            <a:off x="9418320" y="2615184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29" name="Kalender Woche 2 Tag 6"/>
          <p:cNvSpPr/>
          <p:nvPr/>
        </p:nvSpPr>
        <p:spPr>
          <a:xfrm>
            <a:off x="10021824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0" name="Kalender Woche 2 Tag 7"/>
          <p:cNvSpPr/>
          <p:nvPr/>
        </p:nvSpPr>
        <p:spPr>
          <a:xfrm>
            <a:off x="10625328" y="2615184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1" name="Kalender Woche 3 Tag 1"/>
          <p:cNvSpPr/>
          <p:nvPr/>
        </p:nvSpPr>
        <p:spPr>
          <a:xfrm>
            <a:off x="7004304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2" name="Kalender Woche 3 Tag 2"/>
          <p:cNvSpPr/>
          <p:nvPr/>
        </p:nvSpPr>
        <p:spPr>
          <a:xfrm>
            <a:off x="7607808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3" name="Kalender Woche 3 Tag 3"/>
          <p:cNvSpPr/>
          <p:nvPr/>
        </p:nvSpPr>
        <p:spPr>
          <a:xfrm>
            <a:off x="8211312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4" name="Kalender Woche 3 Tag 4"/>
          <p:cNvSpPr/>
          <p:nvPr/>
        </p:nvSpPr>
        <p:spPr>
          <a:xfrm>
            <a:off x="8814816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5" name="Kalender Woche 3 Tag 5"/>
          <p:cNvSpPr/>
          <p:nvPr/>
        </p:nvSpPr>
        <p:spPr>
          <a:xfrm>
            <a:off x="9418320" y="3200400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6" name="Kalender Woche 3 Tag 6"/>
          <p:cNvSpPr/>
          <p:nvPr/>
        </p:nvSpPr>
        <p:spPr>
          <a:xfrm>
            <a:off x="10021824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7" name="Kalender Woche 3 Tag 7"/>
          <p:cNvSpPr/>
          <p:nvPr/>
        </p:nvSpPr>
        <p:spPr>
          <a:xfrm>
            <a:off x="10625328" y="3200400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8" name="Kalender Woche 4 Tag 1"/>
          <p:cNvSpPr/>
          <p:nvPr/>
        </p:nvSpPr>
        <p:spPr>
          <a:xfrm>
            <a:off x="7004304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39" name="Kalender Woche 4 Tag 2"/>
          <p:cNvSpPr/>
          <p:nvPr/>
        </p:nvSpPr>
        <p:spPr>
          <a:xfrm>
            <a:off x="7607808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0" name="Kalender Woche 4 Tag 3"/>
          <p:cNvSpPr/>
          <p:nvPr/>
        </p:nvSpPr>
        <p:spPr>
          <a:xfrm>
            <a:off x="8211312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1" name="Kalender Woche 4 Tag 4"/>
          <p:cNvSpPr/>
          <p:nvPr/>
        </p:nvSpPr>
        <p:spPr>
          <a:xfrm>
            <a:off x="8814816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2" name="Kalender Woche 4 Tag 5"/>
          <p:cNvSpPr/>
          <p:nvPr/>
        </p:nvSpPr>
        <p:spPr>
          <a:xfrm>
            <a:off x="9418320" y="3785616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3" name="Kalender Woche 4 Tag 6"/>
          <p:cNvSpPr/>
          <p:nvPr/>
        </p:nvSpPr>
        <p:spPr>
          <a:xfrm>
            <a:off x="10021824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4" name="Kalender Woche 4 Tag 7"/>
          <p:cNvSpPr/>
          <p:nvPr/>
        </p:nvSpPr>
        <p:spPr>
          <a:xfrm>
            <a:off x="10625328" y="3785616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5" name="Kalender Woche 5 Tag 1"/>
          <p:cNvSpPr/>
          <p:nvPr/>
        </p:nvSpPr>
        <p:spPr>
          <a:xfrm>
            <a:off x="7004304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6" name="Kalender Woche 5 Tag 2"/>
          <p:cNvSpPr/>
          <p:nvPr/>
        </p:nvSpPr>
        <p:spPr>
          <a:xfrm>
            <a:off x="7607808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7" name="Kalender Woche 5 Tag 3"/>
          <p:cNvSpPr/>
          <p:nvPr/>
        </p:nvSpPr>
        <p:spPr>
          <a:xfrm>
            <a:off x="8211312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8" name="Kalender Woche 5 Tag 4"/>
          <p:cNvSpPr/>
          <p:nvPr/>
        </p:nvSpPr>
        <p:spPr>
          <a:xfrm>
            <a:off x="8814816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49" name="Kalender Woche 5 Tag 5"/>
          <p:cNvSpPr/>
          <p:nvPr/>
        </p:nvSpPr>
        <p:spPr>
          <a:xfrm>
            <a:off x="9418320" y="4370832"/>
            <a:ext cx="493776" cy="457200"/>
          </a:xfrm>
          <a:prstGeom prst="roundRect">
            <a:avLst/>
          </a:prstGeom>
          <a:solidFill>
            <a:srgbClr val="D7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0" name="Kalender Woche 5 Tag 6"/>
          <p:cNvSpPr/>
          <p:nvPr/>
        </p:nvSpPr>
        <p:spPr>
          <a:xfrm>
            <a:off x="10021824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1" name="Kalender Woche 5 Tag 7"/>
          <p:cNvSpPr/>
          <p:nvPr/>
        </p:nvSpPr>
        <p:spPr>
          <a:xfrm>
            <a:off x="10625328" y="4370832"/>
            <a:ext cx="493776" cy="457200"/>
          </a:xfrm>
          <a:prstGeom prst="roundRect">
            <a:avLst/>
          </a:prstGeom>
          <a:solidFill>
            <a:srgbClr val="B8C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2" name="Kalender Woche 6 Tag 1"/>
          <p:cNvSpPr/>
          <p:nvPr/>
        </p:nvSpPr>
        <p:spPr>
          <a:xfrm>
            <a:off x="7004304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3" name="Kalender Woche 6 Tag 2"/>
          <p:cNvSpPr/>
          <p:nvPr/>
        </p:nvSpPr>
        <p:spPr>
          <a:xfrm>
            <a:off x="7607808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4" name="Kalender Woche 6 Tag 3"/>
          <p:cNvSpPr/>
          <p:nvPr/>
        </p:nvSpPr>
        <p:spPr>
          <a:xfrm>
            <a:off x="8211312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5" name="Kalender Woche 6 Tag 4"/>
          <p:cNvSpPr/>
          <p:nvPr/>
        </p:nvSpPr>
        <p:spPr>
          <a:xfrm>
            <a:off x="8814816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6" name="Kalender Woche 6 Tag 5"/>
          <p:cNvSpPr/>
          <p:nvPr/>
        </p:nvSpPr>
        <p:spPr>
          <a:xfrm>
            <a:off x="9418320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7" name="Kalender Woche 6 Tag 6"/>
          <p:cNvSpPr/>
          <p:nvPr/>
        </p:nvSpPr>
        <p:spPr>
          <a:xfrm>
            <a:off x="10021824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  <p:sp>
        <p:nvSpPr>
          <p:cNvPr id="58" name="Kalender Woche 6 Tag 7"/>
          <p:cNvSpPr/>
          <p:nvPr/>
        </p:nvSpPr>
        <p:spPr>
          <a:xfrm>
            <a:off x="10625328" y="4956048"/>
            <a:ext cx="493776" cy="45720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447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2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20" fill="hold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20" fill="hold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2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20" fill="hold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20" fill="hold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7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20" fill="hold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 fill="hold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20" fill="hold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AFDD-971B-7D4F-8A86-A73987E9E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Methode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244F5-B6AF-BA9E-4107-622097E9897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latin typeface="+mj-lt"/>
              </a:rPr>
              <a:t>27.10.26</a:t>
            </a:fld>
            <a:endParaRPr lang="de-DE" noProof="0"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9EA3C-180F-44D3-774F-6BE9D6D5FB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latin typeface="+mj-lt"/>
              </a:rPr>
              <a:t>ProVaCaSy der Hochschule Esslingen</a:t>
            </a:r>
          </a:p>
        </p:txBody>
      </p:sp>
      <p:sp>
        <p:nvSpPr>
          <p:cNvPr id="5" name="Method intro"/>
          <p:cNvSpPr txBox="1"/>
          <p:nvPr/>
        </p:nvSpPr>
        <p:spPr>
          <a:xfrm>
            <a:off x="612648" y="1225296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100" b="0" noProof="0">
                <a:latin typeface="+mj-lt"/>
              </a:rPr>
              <a:t>Kanban schafft Transparenz und hält die Arbeit im Team fokussiert.</a:t>
            </a:r>
          </a:p>
        </p:txBody>
      </p:sp>
      <p:sp>
        <p:nvSpPr>
          <p:cNvPr id="6" name="Method number 1"/>
          <p:cNvSpPr>
            <a:spLocks/>
          </p:cNvSpPr>
          <p:nvPr/>
        </p:nvSpPr>
        <p:spPr>
          <a:xfrm>
            <a:off x="325120" y="1783080"/>
            <a:ext cx="429768" cy="429768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000" b="1" noProof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7" name="Method heading 1"/>
          <p:cNvSpPr txBox="1"/>
          <p:nvPr/>
        </p:nvSpPr>
        <p:spPr>
          <a:xfrm>
            <a:off x="983488" y="1773936"/>
            <a:ext cx="2788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GitHub </a:t>
            </a:r>
            <a:r>
              <a:rPr lang="de-DE" sz="2400" b="1" noProof="0" err="1">
                <a:solidFill>
                  <a:srgbClr val="003663"/>
                </a:solidFill>
                <a:latin typeface="+mj-lt"/>
              </a:rPr>
              <a:t>Issues</a:t>
            </a:r>
            <a:endParaRPr lang="de-DE" sz="2400" b="1" noProof="0">
              <a:solidFill>
                <a:srgbClr val="003663"/>
              </a:solidFill>
              <a:latin typeface="+mj-lt"/>
            </a:endParaRPr>
          </a:p>
        </p:txBody>
      </p:sp>
      <p:sp>
        <p:nvSpPr>
          <p:cNvPr id="8" name="Method detail 1"/>
          <p:cNvSpPr txBox="1"/>
          <p:nvPr/>
        </p:nvSpPr>
        <p:spPr>
          <a:xfrm>
            <a:off x="983488" y="2167128"/>
            <a:ext cx="2816352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latin typeface="+mj-lt"/>
              </a:rPr>
              <a:t>Aufgaben zentral erfassen</a:t>
            </a:r>
          </a:p>
        </p:txBody>
      </p:sp>
      <p:sp>
        <p:nvSpPr>
          <p:cNvPr id="9" name="Method divider 1"/>
          <p:cNvSpPr>
            <a:spLocks/>
          </p:cNvSpPr>
          <p:nvPr/>
        </p:nvSpPr>
        <p:spPr>
          <a:xfrm>
            <a:off x="831088" y="2633472"/>
            <a:ext cx="274320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0" name="Method number 2"/>
          <p:cNvSpPr/>
          <p:nvPr/>
        </p:nvSpPr>
        <p:spPr>
          <a:xfrm>
            <a:off x="325120" y="2834640"/>
            <a:ext cx="429768" cy="429768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000" b="1" noProof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1" name="Method heading 2"/>
          <p:cNvSpPr txBox="1">
            <a:spLocks/>
          </p:cNvSpPr>
          <p:nvPr/>
        </p:nvSpPr>
        <p:spPr>
          <a:xfrm>
            <a:off x="983488" y="2825496"/>
            <a:ext cx="2788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Klare Schritte</a:t>
            </a:r>
          </a:p>
        </p:txBody>
      </p:sp>
      <p:sp>
        <p:nvSpPr>
          <p:cNvPr id="12" name="Method detail 2"/>
          <p:cNvSpPr txBox="1"/>
          <p:nvPr/>
        </p:nvSpPr>
        <p:spPr>
          <a:xfrm>
            <a:off x="983488" y="3218688"/>
            <a:ext cx="2816352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latin typeface="+mj-lt"/>
              </a:rPr>
              <a:t>Backlog → Todo → In Progress → Review → </a:t>
            </a:r>
            <a:r>
              <a:rPr lang="de-DE" sz="1900" b="0" noProof="0" err="1">
                <a:latin typeface="+mj-lt"/>
              </a:rPr>
              <a:t>Testing</a:t>
            </a:r>
            <a:r>
              <a:rPr lang="de-DE" sz="1900" b="0" noProof="0">
                <a:latin typeface="+mj-lt"/>
              </a:rPr>
              <a:t> → Done</a:t>
            </a:r>
          </a:p>
        </p:txBody>
      </p:sp>
      <p:sp>
        <p:nvSpPr>
          <p:cNvPr id="13" name="Method divider 2"/>
          <p:cNvSpPr>
            <a:spLocks/>
          </p:cNvSpPr>
          <p:nvPr/>
        </p:nvSpPr>
        <p:spPr>
          <a:xfrm>
            <a:off x="851408" y="4227433"/>
            <a:ext cx="274320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4" name="Method number 3"/>
          <p:cNvSpPr>
            <a:spLocks/>
          </p:cNvSpPr>
          <p:nvPr/>
        </p:nvSpPr>
        <p:spPr>
          <a:xfrm>
            <a:off x="325120" y="4335971"/>
            <a:ext cx="429768" cy="429768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000" b="1" noProof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15" name="Method heading 3"/>
          <p:cNvSpPr txBox="1">
            <a:spLocks/>
          </p:cNvSpPr>
          <p:nvPr/>
        </p:nvSpPr>
        <p:spPr>
          <a:xfrm>
            <a:off x="983488" y="4326827"/>
            <a:ext cx="278892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Gemeinsamer Fokus</a:t>
            </a:r>
          </a:p>
        </p:txBody>
      </p:sp>
      <p:sp>
        <p:nvSpPr>
          <p:cNvPr id="16" name="Method detail 3"/>
          <p:cNvSpPr txBox="1">
            <a:spLocks/>
          </p:cNvSpPr>
          <p:nvPr/>
        </p:nvSpPr>
        <p:spPr>
          <a:xfrm>
            <a:off x="983488" y="4720019"/>
            <a:ext cx="2816352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900" noProof="0">
                <a:latin typeface="+mj-lt"/>
              </a:rPr>
              <a:t>Viele Aufgaben</a:t>
            </a:r>
            <a:r>
              <a:rPr lang="de-DE" sz="1900" b="0" noProof="0">
                <a:latin typeface="+mj-lt"/>
              </a:rPr>
              <a:t> parallel; Blockaden früh klären</a:t>
            </a:r>
          </a:p>
        </p:txBody>
      </p:sp>
      <p:pic>
        <p:nvPicPr>
          <p:cNvPr id="17" name="Kanban board screenshot" descr="kanb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528" y="1654328"/>
            <a:ext cx="8376920" cy="4395797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6B1BDDC8-5AB8-AD31-C90A-49C8ECD527CF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30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550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CFD92-1850-8BE9-2BC9-14556923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Definition of Done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E09C3D-90E0-56A0-AF74-B6025C70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latin typeface="+mj-lt"/>
              </a:rPr>
              <a:t>27.10.26</a:t>
            </a:fld>
            <a:endParaRPr lang="de-DE" noProof="0">
              <a:latin typeface="+mj-lt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3E0A4F-EF58-F971-DBE7-5EE4DC639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latin typeface="+mj-lt"/>
              </a:rPr>
              <a:t>ProVaCaSy der Hochschule Esslingen</a:t>
            </a:r>
          </a:p>
        </p:txBody>
      </p:sp>
      <p:sp>
        <p:nvSpPr>
          <p:cNvPr id="5" name="DoD intro"/>
          <p:cNvSpPr txBox="1"/>
          <p:nvPr/>
        </p:nvSpPr>
        <p:spPr>
          <a:xfrm>
            <a:off x="612648" y="1225296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100" b="0" noProof="0">
                <a:latin typeface="+mj-lt"/>
              </a:rPr>
              <a:t>Eine Aufgabe ist erst abgeschlossen, wenn alle fünf Kriterien erfüllt sind.</a:t>
            </a:r>
          </a:p>
        </p:txBody>
      </p:sp>
      <p:sp>
        <p:nvSpPr>
          <p:cNvPr id="6" name="DoD number 01"/>
          <p:cNvSpPr>
            <a:spLocks/>
          </p:cNvSpPr>
          <p:nvPr/>
        </p:nvSpPr>
        <p:spPr>
          <a:xfrm>
            <a:off x="658368" y="1847088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7" name="DoD heading 01"/>
          <p:cNvSpPr txBox="1"/>
          <p:nvPr/>
        </p:nvSpPr>
        <p:spPr>
          <a:xfrm>
            <a:off x="1335024" y="1837944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Entwicklung</a:t>
            </a:r>
          </a:p>
        </p:txBody>
      </p:sp>
      <p:sp>
        <p:nvSpPr>
          <p:cNvPr id="8" name="DoD detail 01"/>
          <p:cNvSpPr txBox="1"/>
          <p:nvPr/>
        </p:nvSpPr>
        <p:spPr>
          <a:xfrm>
            <a:off x="3712463" y="1837944"/>
            <a:ext cx="7543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Anforderungen und Akzeptanzkriterien umgesetzt; Clean Code und Schichtentrennung eingehalten.</a:t>
            </a:r>
          </a:p>
        </p:txBody>
      </p:sp>
      <p:sp>
        <p:nvSpPr>
          <p:cNvPr id="9" name="DoD divider 01"/>
          <p:cNvSpPr/>
          <p:nvPr/>
        </p:nvSpPr>
        <p:spPr>
          <a:xfrm>
            <a:off x="1335024" y="2468880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10" name="DoD number 02"/>
          <p:cNvSpPr>
            <a:spLocks/>
          </p:cNvSpPr>
          <p:nvPr/>
        </p:nvSpPr>
        <p:spPr>
          <a:xfrm>
            <a:off x="658368" y="2642616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1" name="DoD heading 02"/>
          <p:cNvSpPr txBox="1"/>
          <p:nvPr/>
        </p:nvSpPr>
        <p:spPr>
          <a:xfrm>
            <a:off x="1335024" y="2633472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Tests</a:t>
            </a:r>
          </a:p>
        </p:txBody>
      </p:sp>
      <p:sp>
        <p:nvSpPr>
          <p:cNvPr id="12" name="DoD detail 02"/>
          <p:cNvSpPr txBox="1">
            <a:spLocks/>
          </p:cNvSpPr>
          <p:nvPr/>
        </p:nvSpPr>
        <p:spPr>
          <a:xfrm>
            <a:off x="3712463" y="2633472"/>
            <a:ext cx="7543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Unit- und Integrationstests vorhanden; Pipeline fehlerfrei; Frontend mit Testskriptbuch geprüft.</a:t>
            </a:r>
          </a:p>
        </p:txBody>
      </p:sp>
      <p:sp>
        <p:nvSpPr>
          <p:cNvPr id="13" name="DoD divider 02"/>
          <p:cNvSpPr>
            <a:spLocks/>
          </p:cNvSpPr>
          <p:nvPr/>
        </p:nvSpPr>
        <p:spPr>
          <a:xfrm>
            <a:off x="1335024" y="3264408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14" name="DoD number 03"/>
          <p:cNvSpPr>
            <a:spLocks/>
          </p:cNvSpPr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15" name="DoD heading 03"/>
          <p:cNvSpPr txBox="1">
            <a:spLocks/>
          </p:cNvSpPr>
          <p:nvPr/>
        </p:nvSpPr>
        <p:spPr>
          <a:xfrm>
            <a:off x="1335024" y="342900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Dokumentation</a:t>
            </a:r>
          </a:p>
        </p:txBody>
      </p:sp>
      <p:sp>
        <p:nvSpPr>
          <p:cNvPr id="16" name="DoD detail 03"/>
          <p:cNvSpPr txBox="1"/>
          <p:nvPr/>
        </p:nvSpPr>
        <p:spPr>
          <a:xfrm>
            <a:off x="3712463" y="3429000"/>
            <a:ext cx="7543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900" b="0" noProof="0">
                <a:solidFill>
                  <a:srgbClr val="132E45"/>
                </a:solidFill>
                <a:latin typeface="+mj-lt"/>
              </a:rPr>
              <a:t>API-Beschreibung und</a:t>
            </a:r>
            <a:r>
              <a:rPr lang="de-DE" sz="1900">
                <a:solidFill>
                  <a:srgbClr val="132E45"/>
                </a:solidFill>
                <a:latin typeface="+mj-lt"/>
              </a:rPr>
              <a:t> </a:t>
            </a:r>
            <a:r>
              <a:rPr lang="de-DE" sz="1900" b="0" noProof="0" err="1">
                <a:solidFill>
                  <a:srgbClr val="132E45"/>
                </a:solidFill>
                <a:latin typeface="+mj-lt"/>
              </a:rPr>
              <a:t>LaTeX</a:t>
            </a:r>
            <a:r>
              <a:rPr lang="de-DE" sz="1900" b="0" noProof="0">
                <a:solidFill>
                  <a:srgbClr val="132E45"/>
                </a:solidFill>
                <a:latin typeface="+mj-lt"/>
              </a:rPr>
              <a:t>-Dokumentation aktualisiert</a:t>
            </a:r>
            <a:r>
              <a:rPr lang="de-DE" sz="1900">
                <a:solidFill>
                  <a:srgbClr val="132E45"/>
                </a:solidFill>
                <a:latin typeface="+mj-lt"/>
              </a:rPr>
              <a:t>.</a:t>
            </a:r>
            <a:endParaRPr lang="de-DE" sz="1900" b="0" noProof="0">
              <a:solidFill>
                <a:srgbClr val="132E45"/>
              </a:solidFill>
              <a:latin typeface="+mj-lt"/>
            </a:endParaRPr>
          </a:p>
        </p:txBody>
      </p:sp>
      <p:sp>
        <p:nvSpPr>
          <p:cNvPr id="17" name="DoD divider 03"/>
          <p:cNvSpPr>
            <a:spLocks/>
          </p:cNvSpPr>
          <p:nvPr/>
        </p:nvSpPr>
        <p:spPr>
          <a:xfrm>
            <a:off x="1335024" y="4059935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18" name="DoD number 04"/>
          <p:cNvSpPr/>
          <p:nvPr/>
        </p:nvSpPr>
        <p:spPr>
          <a:xfrm>
            <a:off x="658368" y="4233672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sp>
        <p:nvSpPr>
          <p:cNvPr id="19" name="DoD heading 04"/>
          <p:cNvSpPr txBox="1"/>
          <p:nvPr/>
        </p:nvSpPr>
        <p:spPr>
          <a:xfrm>
            <a:off x="1335024" y="4224528"/>
            <a:ext cx="22402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Vier-Augen-Prinzip</a:t>
            </a:r>
          </a:p>
        </p:txBody>
      </p:sp>
      <p:sp>
        <p:nvSpPr>
          <p:cNvPr id="20" name="DoD detail 04"/>
          <p:cNvSpPr txBox="1"/>
          <p:nvPr/>
        </p:nvSpPr>
        <p:spPr>
          <a:xfrm>
            <a:off x="3712463" y="4224528"/>
            <a:ext cx="7543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Ein weiteres Teammitglied hat die Änderung geprüft und freigegeben.</a:t>
            </a:r>
          </a:p>
        </p:txBody>
      </p:sp>
      <p:sp>
        <p:nvSpPr>
          <p:cNvPr id="21" name="DoD divider 04"/>
          <p:cNvSpPr/>
          <p:nvPr/>
        </p:nvSpPr>
        <p:spPr>
          <a:xfrm>
            <a:off x="1335024" y="4963192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22" name="DoD number 05"/>
          <p:cNvSpPr>
            <a:spLocks/>
          </p:cNvSpPr>
          <p:nvPr/>
        </p:nvSpPr>
        <p:spPr>
          <a:xfrm>
            <a:off x="658368" y="5136928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05</a:t>
            </a:r>
          </a:p>
        </p:txBody>
      </p:sp>
      <p:sp>
        <p:nvSpPr>
          <p:cNvPr id="23" name="DoD heading 05"/>
          <p:cNvSpPr txBox="1"/>
          <p:nvPr/>
        </p:nvSpPr>
        <p:spPr>
          <a:xfrm>
            <a:off x="1335024" y="5127784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Aufwand</a:t>
            </a:r>
          </a:p>
        </p:txBody>
      </p:sp>
      <p:sp>
        <p:nvSpPr>
          <p:cNvPr id="24" name="DoD detail 05"/>
          <p:cNvSpPr txBox="1">
            <a:spLocks/>
          </p:cNvSpPr>
          <p:nvPr/>
        </p:nvSpPr>
        <p:spPr>
          <a:xfrm>
            <a:off x="3712463" y="5127784"/>
            <a:ext cx="7543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Aufgewendete Zeit ist im zugehörigen </a:t>
            </a:r>
            <a:r>
              <a:rPr lang="de-DE" sz="1900" b="0" noProof="0" err="1">
                <a:solidFill>
                  <a:srgbClr val="132E45"/>
                </a:solidFill>
                <a:latin typeface="+mj-lt"/>
              </a:rPr>
              <a:t>Issue</a:t>
            </a:r>
            <a:r>
              <a:rPr lang="de-DE" sz="1900" b="0" noProof="0">
                <a:solidFill>
                  <a:srgbClr val="132E45"/>
                </a:solidFill>
                <a:latin typeface="+mj-lt"/>
              </a:rPr>
              <a:t> eingetragen.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1D9FB3D-AFD5-F136-7CE1-2067A409003C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31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8127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CDB29D-0130-1E4B-4ED3-3F432A51D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Aufgabenverteilung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E47D20F-93B4-8183-3DFB-38C17F9A7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latin typeface="+mj-lt"/>
              </a:rPr>
              <a:t>27.10.26</a:t>
            </a:fld>
            <a:endParaRPr lang="de-DE" noProof="0">
              <a:latin typeface="+mj-lt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CF99D86-086C-1887-078C-7831AE0A62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latin typeface="+mj-lt"/>
              </a:rPr>
              <a:t>ProVaCaSy der Hochschule Esslingen</a:t>
            </a:r>
          </a:p>
        </p:txBody>
      </p:sp>
      <p:sp>
        <p:nvSpPr>
          <p:cNvPr id="5" name="Team intro"/>
          <p:cNvSpPr txBox="1"/>
          <p:nvPr/>
        </p:nvSpPr>
        <p:spPr>
          <a:xfrm>
            <a:off x="612648" y="1243584"/>
            <a:ext cx="107899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100" b="0" noProof="0">
                <a:solidFill>
                  <a:srgbClr val="4F6576"/>
                </a:solidFill>
                <a:latin typeface="+mj-lt"/>
              </a:rPr>
              <a:t>Jedes Teammitglied verantwortet einen klaren Bereich.</a:t>
            </a:r>
          </a:p>
        </p:txBody>
      </p:sp>
      <p:sp>
        <p:nvSpPr>
          <p:cNvPr id="6" name="Team initials 1"/>
          <p:cNvSpPr>
            <a:spLocks/>
          </p:cNvSpPr>
          <p:nvPr/>
        </p:nvSpPr>
        <p:spPr>
          <a:xfrm>
            <a:off x="658368" y="2157984"/>
            <a:ext cx="1005840" cy="100584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2200" b="1" noProof="0">
                <a:solidFill>
                  <a:srgbClr val="FFFFFF"/>
                </a:solidFill>
                <a:latin typeface="+mj-lt"/>
              </a:rPr>
              <a:t>OS</a:t>
            </a:r>
          </a:p>
        </p:txBody>
      </p:sp>
      <p:sp>
        <p:nvSpPr>
          <p:cNvPr id="7" name="Team name 1"/>
          <p:cNvSpPr txBox="1"/>
          <p:nvPr/>
        </p:nvSpPr>
        <p:spPr>
          <a:xfrm>
            <a:off x="658368" y="341071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Osman </a:t>
            </a:r>
            <a:r>
              <a:rPr lang="de-DE" sz="2400" b="1" noProof="0" err="1">
                <a:solidFill>
                  <a:srgbClr val="003663"/>
                </a:solidFill>
                <a:latin typeface="+mj-lt"/>
              </a:rPr>
              <a:t>Sallamaci</a:t>
            </a:r>
            <a:endParaRPr lang="de-DE" sz="2400" b="1" noProof="0">
              <a:solidFill>
                <a:srgbClr val="003663"/>
              </a:solidFill>
              <a:latin typeface="+mj-lt"/>
            </a:endParaRPr>
          </a:p>
        </p:txBody>
      </p:sp>
      <p:sp>
        <p:nvSpPr>
          <p:cNvPr id="8" name="Team role 1"/>
          <p:cNvSpPr txBox="1"/>
          <p:nvPr/>
        </p:nvSpPr>
        <p:spPr>
          <a:xfrm>
            <a:off x="658368" y="3986784"/>
            <a:ext cx="29718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700" b="1" noProof="0">
                <a:solidFill>
                  <a:srgbClr val="1F7098"/>
                </a:solidFill>
                <a:latin typeface="+mj-lt"/>
              </a:rPr>
              <a:t>Backend &amp; DevOps</a:t>
            </a:r>
          </a:p>
        </p:txBody>
      </p:sp>
      <p:sp>
        <p:nvSpPr>
          <p:cNvPr id="9" name="Team divider 1"/>
          <p:cNvSpPr>
            <a:spLocks/>
          </p:cNvSpPr>
          <p:nvPr/>
        </p:nvSpPr>
        <p:spPr>
          <a:xfrm>
            <a:off x="3785615" y="2212848"/>
            <a:ext cx="16459" cy="2404872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0" name="Team initials 2"/>
          <p:cNvSpPr>
            <a:spLocks/>
          </p:cNvSpPr>
          <p:nvPr/>
        </p:nvSpPr>
        <p:spPr>
          <a:xfrm>
            <a:off x="4142232" y="2157984"/>
            <a:ext cx="1005840" cy="100584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2200" b="1" noProof="0">
                <a:solidFill>
                  <a:srgbClr val="FFFFFF"/>
                </a:solidFill>
                <a:latin typeface="+mj-lt"/>
              </a:rPr>
              <a:t>TL</a:t>
            </a:r>
          </a:p>
        </p:txBody>
      </p:sp>
      <p:sp>
        <p:nvSpPr>
          <p:cNvPr id="11" name="Team name 2"/>
          <p:cNvSpPr txBox="1"/>
          <p:nvPr/>
        </p:nvSpPr>
        <p:spPr>
          <a:xfrm>
            <a:off x="4142232" y="341071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Tommy Luu</a:t>
            </a:r>
          </a:p>
        </p:txBody>
      </p:sp>
      <p:sp>
        <p:nvSpPr>
          <p:cNvPr id="12" name="Team role 2"/>
          <p:cNvSpPr txBox="1"/>
          <p:nvPr/>
        </p:nvSpPr>
        <p:spPr>
          <a:xfrm>
            <a:off x="4142232" y="3986784"/>
            <a:ext cx="29718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700" b="1" noProof="0">
                <a:solidFill>
                  <a:srgbClr val="1F7098"/>
                </a:solidFill>
                <a:latin typeface="+mj-lt"/>
              </a:rPr>
              <a:t>Backend &amp; </a:t>
            </a:r>
            <a:r>
              <a:rPr lang="de-DE" sz="2700" b="1" noProof="0" err="1">
                <a:solidFill>
                  <a:srgbClr val="1F7098"/>
                </a:solidFill>
                <a:latin typeface="+mj-lt"/>
              </a:rPr>
              <a:t>Keycloak</a:t>
            </a:r>
            <a:endParaRPr lang="de-DE" sz="2700" b="1" noProof="0">
              <a:solidFill>
                <a:srgbClr val="1F7098"/>
              </a:solidFill>
              <a:latin typeface="+mj-lt"/>
            </a:endParaRPr>
          </a:p>
        </p:txBody>
      </p:sp>
      <p:sp>
        <p:nvSpPr>
          <p:cNvPr id="13" name="Team divider 2"/>
          <p:cNvSpPr>
            <a:spLocks/>
          </p:cNvSpPr>
          <p:nvPr/>
        </p:nvSpPr>
        <p:spPr>
          <a:xfrm>
            <a:off x="7269480" y="2212848"/>
            <a:ext cx="16459" cy="2404872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4" name="Team initials 3"/>
          <p:cNvSpPr/>
          <p:nvPr/>
        </p:nvSpPr>
        <p:spPr>
          <a:xfrm>
            <a:off x="7626096" y="2157984"/>
            <a:ext cx="1005840" cy="100584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2200" b="1" noProof="0">
                <a:solidFill>
                  <a:srgbClr val="FFFFFF"/>
                </a:solidFill>
                <a:latin typeface="+mj-lt"/>
              </a:rPr>
              <a:t>DS</a:t>
            </a:r>
          </a:p>
        </p:txBody>
      </p:sp>
      <p:sp>
        <p:nvSpPr>
          <p:cNvPr id="15" name="Team name 3"/>
          <p:cNvSpPr txBox="1"/>
          <p:nvPr/>
        </p:nvSpPr>
        <p:spPr>
          <a:xfrm>
            <a:off x="7626096" y="3410712"/>
            <a:ext cx="29718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Dominique Sluga</a:t>
            </a:r>
          </a:p>
        </p:txBody>
      </p:sp>
      <p:sp>
        <p:nvSpPr>
          <p:cNvPr id="16" name="Team role 3"/>
          <p:cNvSpPr txBox="1"/>
          <p:nvPr/>
        </p:nvSpPr>
        <p:spPr>
          <a:xfrm>
            <a:off x="7626096" y="3986784"/>
            <a:ext cx="29718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700" b="1" noProof="0">
                <a:solidFill>
                  <a:srgbClr val="1F7098"/>
                </a:solidFill>
                <a:latin typeface="+mj-lt"/>
              </a:rPr>
              <a:t>Frontend</a:t>
            </a:r>
          </a:p>
        </p:txBody>
      </p:sp>
      <p:sp>
        <p:nvSpPr>
          <p:cNvPr id="17" name="Team shared label"/>
          <p:cNvSpPr txBox="1"/>
          <p:nvPr/>
        </p:nvSpPr>
        <p:spPr>
          <a:xfrm>
            <a:off x="658368" y="507492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200" b="1" noProof="0">
                <a:solidFill>
                  <a:srgbClr val="1F7098"/>
                </a:solidFill>
                <a:latin typeface="+mj-lt"/>
              </a:rPr>
              <a:t>GEMEINSAM</a:t>
            </a:r>
          </a:p>
        </p:txBody>
      </p:sp>
      <p:sp>
        <p:nvSpPr>
          <p:cNvPr id="18" name="Team shared text"/>
          <p:cNvSpPr txBox="1">
            <a:spLocks/>
          </p:cNvSpPr>
          <p:nvPr/>
        </p:nvSpPr>
        <p:spPr>
          <a:xfrm>
            <a:off x="1856231" y="5010912"/>
            <a:ext cx="896112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700" b="0" noProof="0">
                <a:solidFill>
                  <a:srgbClr val="132E45"/>
                </a:solidFill>
                <a:latin typeface="+mj-lt"/>
              </a:rPr>
              <a:t>Abstimmung · Code-Reviews · Tests · Dokumentation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5DAF7214-7D5E-B1D4-772C-D984ABEEFE21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32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02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553017-A06D-0898-30D2-ED324062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/>
              <a:t>Kommunikations- &amp; Dokumentations- Tools</a:t>
            </a:r>
            <a:endParaRPr lang="de-DE" noProof="0">
              <a:ea typeface="Calibri"/>
              <a:cs typeface="Calibri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C7F704-57ED-A0E2-D01C-E1767F6347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latin typeface="+mj-lt"/>
              </a:rPr>
              <a:t>27.10.26</a:t>
            </a:fld>
            <a:endParaRPr lang="de-DE" noProof="0">
              <a:latin typeface="+mj-lt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8F407F-3276-57F0-B8F0-334AAC85CAA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latin typeface="+mj-lt"/>
              </a:rPr>
              <a:t>ProVaCaSy der Hochschule Esslingen</a:t>
            </a:r>
          </a:p>
        </p:txBody>
      </p:sp>
      <p:sp>
        <p:nvSpPr>
          <p:cNvPr id="5" name="Tools intro"/>
          <p:cNvSpPr txBox="1"/>
          <p:nvPr/>
        </p:nvSpPr>
        <p:spPr>
          <a:xfrm>
            <a:off x="612648" y="1243584"/>
            <a:ext cx="107899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100" b="0" noProof="0">
                <a:solidFill>
                  <a:srgbClr val="4F6576"/>
                </a:solidFill>
                <a:latin typeface="+mj-lt"/>
              </a:rPr>
              <a:t>Klare Kanäle für schnelle Abstimmung und nachvollziehbare Dokumentation.</a:t>
            </a:r>
          </a:p>
        </p:txBody>
      </p:sp>
      <p:sp>
        <p:nvSpPr>
          <p:cNvPr id="6" name="Channel number 1"/>
          <p:cNvSpPr/>
          <p:nvPr/>
        </p:nvSpPr>
        <p:spPr>
          <a:xfrm>
            <a:off x="658368" y="2057400"/>
            <a:ext cx="566928" cy="566928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7" name="Channel kicker 1"/>
          <p:cNvSpPr txBox="1"/>
          <p:nvPr/>
        </p:nvSpPr>
        <p:spPr>
          <a:xfrm>
            <a:off x="658368" y="2862072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400" b="1" noProof="0">
                <a:solidFill>
                  <a:srgbClr val="1F7098"/>
                </a:solidFill>
                <a:latin typeface="+mj-lt"/>
              </a:rPr>
              <a:t>IM TEAM</a:t>
            </a:r>
          </a:p>
        </p:txBody>
      </p:sp>
      <p:sp>
        <p:nvSpPr>
          <p:cNvPr id="8" name="Channel tools 1"/>
          <p:cNvSpPr txBox="1"/>
          <p:nvPr/>
        </p:nvSpPr>
        <p:spPr>
          <a:xfrm>
            <a:off x="658368" y="3264408"/>
            <a:ext cx="29260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800" b="1" noProof="0">
                <a:solidFill>
                  <a:srgbClr val="003663"/>
                </a:solidFill>
                <a:latin typeface="+mj-lt"/>
              </a:rPr>
              <a:t>Discord</a:t>
            </a:r>
            <a:br>
              <a:rPr lang="de-DE" noProof="0">
                <a:latin typeface="+mj-lt"/>
              </a:rPr>
            </a:br>
            <a:r>
              <a:rPr lang="de-DE" sz="2800" b="1" noProof="0">
                <a:solidFill>
                  <a:srgbClr val="003663"/>
                </a:solidFill>
                <a:latin typeface="+mj-lt"/>
              </a:rPr>
              <a:t>WhatsApp</a:t>
            </a:r>
          </a:p>
        </p:txBody>
      </p:sp>
      <p:sp>
        <p:nvSpPr>
          <p:cNvPr id="9" name="Channel description 1"/>
          <p:cNvSpPr txBox="1"/>
          <p:nvPr/>
        </p:nvSpPr>
        <p:spPr>
          <a:xfrm>
            <a:off x="658368" y="4517136"/>
            <a:ext cx="2880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600" b="0" noProof="0">
                <a:solidFill>
                  <a:srgbClr val="4F6576"/>
                </a:solidFill>
                <a:latin typeface="+mj-lt"/>
              </a:rPr>
              <a:t>Tägliche Abstimmung</a:t>
            </a:r>
          </a:p>
        </p:txBody>
      </p:sp>
      <p:sp>
        <p:nvSpPr>
          <p:cNvPr id="10" name="Channel divider 1"/>
          <p:cNvSpPr/>
          <p:nvPr/>
        </p:nvSpPr>
        <p:spPr>
          <a:xfrm>
            <a:off x="3785615" y="2084831"/>
            <a:ext cx="16459" cy="3063240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1" name="Channel number 2"/>
          <p:cNvSpPr/>
          <p:nvPr/>
        </p:nvSpPr>
        <p:spPr>
          <a:xfrm>
            <a:off x="4142232" y="2057400"/>
            <a:ext cx="566928" cy="566928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2" name="Channel kicker 2"/>
          <p:cNvSpPr txBox="1"/>
          <p:nvPr/>
        </p:nvSpPr>
        <p:spPr>
          <a:xfrm>
            <a:off x="4142232" y="2862072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400" b="1" noProof="0">
                <a:solidFill>
                  <a:srgbClr val="1F7098"/>
                </a:solidFill>
                <a:latin typeface="+mj-lt"/>
              </a:rPr>
              <a:t>BETREUER &amp; KUNDE</a:t>
            </a:r>
          </a:p>
        </p:txBody>
      </p:sp>
      <p:sp>
        <p:nvSpPr>
          <p:cNvPr id="13" name="Channel tools 2"/>
          <p:cNvSpPr txBox="1"/>
          <p:nvPr/>
        </p:nvSpPr>
        <p:spPr>
          <a:xfrm>
            <a:off x="4142232" y="3264408"/>
            <a:ext cx="29260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800" b="1" noProof="0">
                <a:solidFill>
                  <a:srgbClr val="003663"/>
                </a:solidFill>
                <a:latin typeface="+mj-lt"/>
              </a:rPr>
              <a:t>Webex</a:t>
            </a:r>
            <a:br>
              <a:rPr lang="de-DE" noProof="0">
                <a:latin typeface="+mj-lt"/>
              </a:rPr>
            </a:br>
            <a:r>
              <a:rPr lang="de-DE" sz="2800" b="1" noProof="0">
                <a:solidFill>
                  <a:srgbClr val="003663"/>
                </a:solidFill>
                <a:latin typeface="+mj-lt"/>
              </a:rPr>
              <a:t>E-Mail</a:t>
            </a:r>
          </a:p>
        </p:txBody>
      </p:sp>
      <p:sp>
        <p:nvSpPr>
          <p:cNvPr id="14" name="Channel description 2"/>
          <p:cNvSpPr txBox="1"/>
          <p:nvPr/>
        </p:nvSpPr>
        <p:spPr>
          <a:xfrm>
            <a:off x="4142232" y="4517136"/>
            <a:ext cx="28803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600" b="0" noProof="0">
                <a:solidFill>
                  <a:srgbClr val="4F6576"/>
                </a:solidFill>
                <a:latin typeface="+mj-lt"/>
              </a:rPr>
              <a:t>Termine und Rückfragen</a:t>
            </a:r>
          </a:p>
        </p:txBody>
      </p:sp>
      <p:sp>
        <p:nvSpPr>
          <p:cNvPr id="15" name="Channel divider 2"/>
          <p:cNvSpPr/>
          <p:nvPr/>
        </p:nvSpPr>
        <p:spPr>
          <a:xfrm>
            <a:off x="7269480" y="2084831"/>
            <a:ext cx="16459" cy="3063240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>
              <a:latin typeface="+mj-lt"/>
            </a:endParaRPr>
          </a:p>
        </p:txBody>
      </p:sp>
      <p:sp>
        <p:nvSpPr>
          <p:cNvPr id="16" name="Channel number 3"/>
          <p:cNvSpPr/>
          <p:nvPr/>
        </p:nvSpPr>
        <p:spPr>
          <a:xfrm>
            <a:off x="7626096" y="2057400"/>
            <a:ext cx="566928" cy="566928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17" name="Channel kicker 3"/>
          <p:cNvSpPr txBox="1"/>
          <p:nvPr/>
        </p:nvSpPr>
        <p:spPr>
          <a:xfrm>
            <a:off x="7626096" y="2862072"/>
            <a:ext cx="28803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400" b="1" noProof="0">
                <a:solidFill>
                  <a:srgbClr val="1F7098"/>
                </a:solidFill>
                <a:latin typeface="+mj-lt"/>
              </a:rPr>
              <a:t>DOKUMENTATION</a:t>
            </a:r>
          </a:p>
        </p:txBody>
      </p:sp>
      <p:sp>
        <p:nvSpPr>
          <p:cNvPr id="18" name="Channel tools 3"/>
          <p:cNvSpPr txBox="1"/>
          <p:nvPr/>
        </p:nvSpPr>
        <p:spPr>
          <a:xfrm>
            <a:off x="7626096" y="3264408"/>
            <a:ext cx="292608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800" b="1" noProof="0">
                <a:solidFill>
                  <a:srgbClr val="003663"/>
                </a:solidFill>
                <a:latin typeface="+mj-lt"/>
              </a:rPr>
              <a:t>Fachschaften.</a:t>
            </a:r>
            <a:r>
              <a:rPr lang="de-DE" sz="2800" b="1">
                <a:solidFill>
                  <a:srgbClr val="003663"/>
                </a:solidFill>
                <a:latin typeface="+mj-lt"/>
              </a:rPr>
              <a:t>org</a:t>
            </a:r>
            <a:br>
              <a:rPr lang="de-DE" noProof="0">
                <a:latin typeface="+mj-lt"/>
              </a:rPr>
            </a:br>
            <a:r>
              <a:rPr lang="de-DE" sz="2800" b="1" noProof="0" err="1">
                <a:solidFill>
                  <a:srgbClr val="003663"/>
                </a:solidFill>
                <a:latin typeface="+mj-lt"/>
              </a:rPr>
              <a:t>HajTeX</a:t>
            </a:r>
          </a:p>
        </p:txBody>
      </p:sp>
      <p:sp>
        <p:nvSpPr>
          <p:cNvPr id="19" name="Channel description 3"/>
          <p:cNvSpPr txBox="1"/>
          <p:nvPr/>
        </p:nvSpPr>
        <p:spPr>
          <a:xfrm>
            <a:off x="7626096" y="4517136"/>
            <a:ext cx="2880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600" b="0" noProof="0">
                <a:solidFill>
                  <a:srgbClr val="4F6576"/>
                </a:solidFill>
                <a:latin typeface="+mj-lt"/>
              </a:rPr>
              <a:t>Gemeinsame Projektdokumentation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CABD8E74-8FE2-EE9E-9D43-1758FEB4164F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33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294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8EE6-75DD-ED4D-C486-B3941E5BC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/>
              <a:t>Quellen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B79F99-3815-6424-B9E5-9587DBF89B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302EB-B80D-7FD5-11BA-0BFD0A2B87C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Vue.js Logo source label">
            <a:extLst>
              <a:ext uri="{FF2B5EF4-FFF2-40B4-BE49-F238E27FC236}">
                <a16:creationId xmlns:a16="http://schemas.microsoft.com/office/drawing/2014/main" id="{4399FA1D-1A4E-156A-A73E-F5BD8BC1C36A}"/>
              </a:ext>
            </a:extLst>
          </p:cNvPr>
          <p:cNvSpPr txBox="1"/>
          <p:nvPr/>
        </p:nvSpPr>
        <p:spPr>
          <a:xfrm>
            <a:off x="651435" y="1247863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400" b="1" noProof="0">
                <a:solidFill>
                  <a:srgbClr val="003663"/>
                </a:solidFill>
                <a:latin typeface="+mj-lt"/>
              </a:rPr>
              <a:t>Vue.js Logo</a:t>
            </a:r>
          </a:p>
        </p:txBody>
      </p:sp>
      <p:sp>
        <p:nvSpPr>
          <p:cNvPr id="8" name="Vue.js Logo source URL">
            <a:extLst>
              <a:ext uri="{FF2B5EF4-FFF2-40B4-BE49-F238E27FC236}">
                <a16:creationId xmlns:a16="http://schemas.microsoft.com/office/drawing/2014/main" id="{9F695EA0-FFF5-92E4-DFEA-59DC9875DAC4}"/>
              </a:ext>
            </a:extLst>
          </p:cNvPr>
          <p:cNvSpPr txBox="1"/>
          <p:nvPr/>
        </p:nvSpPr>
        <p:spPr>
          <a:xfrm>
            <a:off x="651435" y="1455929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100" noProof="0">
                <a:solidFill>
                  <a:srgbClr val="4F6576"/>
                </a:solidFill>
              </a:rPr>
              <a:t>https://www.stickpng.com/de/img/icons-logos-emojis/ikonische-marken/vuejs-logo-landschaft</a:t>
            </a:r>
          </a:p>
        </p:txBody>
      </p:sp>
      <p:sp>
        <p:nvSpPr>
          <p:cNvPr id="10" name="Vue.js Logo source label">
            <a:extLst>
              <a:ext uri="{FF2B5EF4-FFF2-40B4-BE49-F238E27FC236}">
                <a16:creationId xmlns:a16="http://schemas.microsoft.com/office/drawing/2014/main" id="{BD110EAA-4B24-FA14-B3E8-3C02165BCCBF}"/>
              </a:ext>
            </a:extLst>
          </p:cNvPr>
          <p:cNvSpPr txBox="1"/>
          <p:nvPr/>
        </p:nvSpPr>
        <p:spPr>
          <a:xfrm>
            <a:off x="651435" y="1639909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Spring Boot Logo</a:t>
            </a:r>
          </a:p>
        </p:txBody>
      </p:sp>
      <p:sp>
        <p:nvSpPr>
          <p:cNvPr id="12" name="Vue.js Logo source URL">
            <a:extLst>
              <a:ext uri="{FF2B5EF4-FFF2-40B4-BE49-F238E27FC236}">
                <a16:creationId xmlns:a16="http://schemas.microsoft.com/office/drawing/2014/main" id="{07732EF7-6A1B-E22E-FED2-CECE5FC32818}"/>
              </a:ext>
            </a:extLst>
          </p:cNvPr>
          <p:cNvSpPr txBox="1"/>
          <p:nvPr/>
        </p:nvSpPr>
        <p:spPr>
          <a:xfrm>
            <a:off x="651435" y="1843971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100" noProof="0">
                <a:solidFill>
                  <a:srgbClr val="4F6576"/>
                </a:solidFill>
                <a:cs typeface="Arial"/>
              </a:rPr>
              <a:t>https://spring.io/trademarks</a:t>
            </a:r>
          </a:p>
        </p:txBody>
      </p:sp>
      <p:sp>
        <p:nvSpPr>
          <p:cNvPr id="14" name="Vue.js Logo source label">
            <a:extLst>
              <a:ext uri="{FF2B5EF4-FFF2-40B4-BE49-F238E27FC236}">
                <a16:creationId xmlns:a16="http://schemas.microsoft.com/office/drawing/2014/main" id="{A9823447-46C7-C4F8-6E46-5A4096FBF11A}"/>
              </a:ext>
            </a:extLst>
          </p:cNvPr>
          <p:cNvSpPr txBox="1"/>
          <p:nvPr/>
        </p:nvSpPr>
        <p:spPr>
          <a:xfrm>
            <a:off x="652627" y="2037388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PostgreSQL Logo</a:t>
            </a:r>
          </a:p>
        </p:txBody>
      </p:sp>
      <p:sp>
        <p:nvSpPr>
          <p:cNvPr id="16" name="Vue.js Logo source URL">
            <a:extLst>
              <a:ext uri="{FF2B5EF4-FFF2-40B4-BE49-F238E27FC236}">
                <a16:creationId xmlns:a16="http://schemas.microsoft.com/office/drawing/2014/main" id="{9DA1F717-CE8B-343B-0EE8-97C09E6FEA94}"/>
              </a:ext>
            </a:extLst>
          </p:cNvPr>
          <p:cNvSpPr txBox="1"/>
          <p:nvPr/>
        </p:nvSpPr>
        <p:spPr>
          <a:xfrm>
            <a:off x="652627" y="2218855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100" noProof="0">
                <a:solidFill>
                  <a:srgbClr val="4F6576"/>
                </a:solidFill>
                <a:cs typeface="Arial"/>
              </a:rPr>
              <a:t>https://1000logos.net/postgresql-logo/</a:t>
            </a:r>
          </a:p>
        </p:txBody>
      </p:sp>
      <p:sp>
        <p:nvSpPr>
          <p:cNvPr id="18" name="Vue.js Logo source label">
            <a:extLst>
              <a:ext uri="{FF2B5EF4-FFF2-40B4-BE49-F238E27FC236}">
                <a16:creationId xmlns:a16="http://schemas.microsoft.com/office/drawing/2014/main" id="{9719A8BE-70FB-E2EF-D209-5ED27FBA6132}"/>
              </a:ext>
            </a:extLst>
          </p:cNvPr>
          <p:cNvSpPr txBox="1"/>
          <p:nvPr/>
        </p:nvSpPr>
        <p:spPr>
          <a:xfrm>
            <a:off x="651435" y="2430927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003663"/>
                </a:solidFill>
                <a:latin typeface="Arial"/>
              </a:defRPr>
            </a:lvl1pPr>
          </a:lstStyle>
          <a:p>
            <a:r>
              <a:rPr lang="de-DE" noProof="0" err="1">
                <a:latin typeface="+mj-lt"/>
              </a:rPr>
              <a:t>Keycloak</a:t>
            </a:r>
            <a:r>
              <a:rPr lang="de-DE" noProof="0">
                <a:latin typeface="+mj-lt"/>
              </a:rPr>
              <a:t> Logo</a:t>
            </a:r>
          </a:p>
        </p:txBody>
      </p:sp>
      <p:sp>
        <p:nvSpPr>
          <p:cNvPr id="20" name="Vue.js Logo source URL">
            <a:extLst>
              <a:ext uri="{FF2B5EF4-FFF2-40B4-BE49-F238E27FC236}">
                <a16:creationId xmlns:a16="http://schemas.microsoft.com/office/drawing/2014/main" id="{267EF890-D03E-7A8D-F821-708286663448}"/>
              </a:ext>
            </a:extLst>
          </p:cNvPr>
          <p:cNvSpPr txBox="1"/>
          <p:nvPr/>
        </p:nvSpPr>
        <p:spPr>
          <a:xfrm>
            <a:off x="651435" y="2619849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100" noProof="0">
                <a:solidFill>
                  <a:srgbClr val="4F6576"/>
                </a:solidFill>
                <a:cs typeface="Arial"/>
              </a:rPr>
              <a:t>https://seeklogo.com/vector-logo/505405/keycloak</a:t>
            </a:r>
            <a:endParaRPr lang="de-DE" sz="1200" noProof="0"/>
          </a:p>
        </p:txBody>
      </p:sp>
      <p:sp>
        <p:nvSpPr>
          <p:cNvPr id="22" name="Vue.js Logo source label">
            <a:extLst>
              <a:ext uri="{FF2B5EF4-FFF2-40B4-BE49-F238E27FC236}">
                <a16:creationId xmlns:a16="http://schemas.microsoft.com/office/drawing/2014/main" id="{D05D38B4-0657-27DF-4674-0443D5C7BF54}"/>
              </a:ext>
            </a:extLst>
          </p:cNvPr>
          <p:cNvSpPr txBox="1"/>
          <p:nvPr/>
        </p:nvSpPr>
        <p:spPr>
          <a:xfrm>
            <a:off x="651435" y="2843024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Docker Logo</a:t>
            </a:r>
          </a:p>
        </p:txBody>
      </p:sp>
      <p:sp>
        <p:nvSpPr>
          <p:cNvPr id="24" name="Vue.js Logo source URL">
            <a:extLst>
              <a:ext uri="{FF2B5EF4-FFF2-40B4-BE49-F238E27FC236}">
                <a16:creationId xmlns:a16="http://schemas.microsoft.com/office/drawing/2014/main" id="{4A9A9F35-E14D-D873-A2CC-53FCCA90C8AD}"/>
              </a:ext>
            </a:extLst>
          </p:cNvPr>
          <p:cNvSpPr txBox="1"/>
          <p:nvPr/>
        </p:nvSpPr>
        <p:spPr>
          <a:xfrm>
            <a:off x="662787" y="3013392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100" noProof="0">
                <a:solidFill>
                  <a:srgbClr val="4F6576"/>
                </a:solidFill>
                <a:cs typeface="Arial"/>
              </a:rPr>
              <a:t>https://de.wikipedia.org/wiki/Datei:Docker_Logo.png</a:t>
            </a:r>
          </a:p>
        </p:txBody>
      </p:sp>
      <p:sp>
        <p:nvSpPr>
          <p:cNvPr id="26" name="Vue.js Logo source label">
            <a:extLst>
              <a:ext uri="{FF2B5EF4-FFF2-40B4-BE49-F238E27FC236}">
                <a16:creationId xmlns:a16="http://schemas.microsoft.com/office/drawing/2014/main" id="{20875B20-7B48-7B20-556A-A258E6DF90F6}"/>
              </a:ext>
            </a:extLst>
          </p:cNvPr>
          <p:cNvSpPr txBox="1"/>
          <p:nvPr/>
        </p:nvSpPr>
        <p:spPr>
          <a:xfrm>
            <a:off x="651435" y="3236568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GitHub Actions Logo</a:t>
            </a:r>
          </a:p>
        </p:txBody>
      </p:sp>
      <p:sp>
        <p:nvSpPr>
          <p:cNvPr id="28" name="Vue.js Logo source URL">
            <a:extLst>
              <a:ext uri="{FF2B5EF4-FFF2-40B4-BE49-F238E27FC236}">
                <a16:creationId xmlns:a16="http://schemas.microsoft.com/office/drawing/2014/main" id="{FCC35CD0-576A-C576-29D1-947878C17B20}"/>
              </a:ext>
            </a:extLst>
          </p:cNvPr>
          <p:cNvSpPr txBox="1"/>
          <p:nvPr/>
        </p:nvSpPr>
        <p:spPr>
          <a:xfrm>
            <a:off x="651435" y="3414309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DE" sz="1100" noProof="0">
                <a:solidFill>
                  <a:srgbClr val="4F6576"/>
                </a:solidFill>
                <a:cs typeface="Arial"/>
              </a:rPr>
              <a:t>https://blog.devops.dev/basics-of-github-actions-c73eb9f16211</a:t>
            </a:r>
            <a:endParaRPr lang="de-DE" sz="1200" noProof="0"/>
          </a:p>
        </p:txBody>
      </p:sp>
      <p:sp>
        <p:nvSpPr>
          <p:cNvPr id="30" name="Vue.js Logo source label">
            <a:extLst>
              <a:ext uri="{FF2B5EF4-FFF2-40B4-BE49-F238E27FC236}">
                <a16:creationId xmlns:a16="http://schemas.microsoft.com/office/drawing/2014/main" id="{1407F50F-00D6-1C4B-F00A-54D93B9C4033}"/>
              </a:ext>
            </a:extLst>
          </p:cNvPr>
          <p:cNvSpPr txBox="1"/>
          <p:nvPr/>
        </p:nvSpPr>
        <p:spPr>
          <a:xfrm>
            <a:off x="651435" y="3627626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Visual Studio Code Logo</a:t>
            </a:r>
          </a:p>
        </p:txBody>
      </p:sp>
      <p:sp>
        <p:nvSpPr>
          <p:cNvPr id="32" name="Vue.js Logo source URL">
            <a:extLst>
              <a:ext uri="{FF2B5EF4-FFF2-40B4-BE49-F238E27FC236}">
                <a16:creationId xmlns:a16="http://schemas.microsoft.com/office/drawing/2014/main" id="{22D182A3-9622-8D8C-3A5C-0A0B25643B9D}"/>
              </a:ext>
            </a:extLst>
          </p:cNvPr>
          <p:cNvSpPr txBox="1"/>
          <p:nvPr/>
        </p:nvSpPr>
        <p:spPr>
          <a:xfrm>
            <a:off x="651435" y="3830693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100" noProof="0">
                <a:solidFill>
                  <a:srgbClr val="4F6576"/>
                </a:solidFill>
                <a:latin typeface="+mj-lt"/>
                <a:cs typeface="Arial"/>
              </a:rPr>
              <a:t>https://de.wikipedia.org/wiki/Datei:Visual_Studio_Code_1.35_icon.svg#/media/Datei:Visual_Studio_Code_1.35_icon.svg</a:t>
            </a:r>
            <a:endParaRPr lang="de-DE" sz="1200" noProof="0">
              <a:latin typeface="+mj-lt"/>
            </a:endParaRPr>
          </a:p>
        </p:txBody>
      </p:sp>
      <p:sp>
        <p:nvSpPr>
          <p:cNvPr id="5" name="Vue.js Logo source label">
            <a:extLst>
              <a:ext uri="{FF2B5EF4-FFF2-40B4-BE49-F238E27FC236}">
                <a16:creationId xmlns:a16="http://schemas.microsoft.com/office/drawing/2014/main" id="{D4BEACC7-6E92-5055-B8A0-EEC1A3107C51}"/>
              </a:ext>
            </a:extLst>
          </p:cNvPr>
          <p:cNvSpPr txBox="1"/>
          <p:nvPr/>
        </p:nvSpPr>
        <p:spPr>
          <a:xfrm>
            <a:off x="651435" y="3999970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SonarQube Logo</a:t>
            </a:r>
          </a:p>
        </p:txBody>
      </p:sp>
      <p:sp>
        <p:nvSpPr>
          <p:cNvPr id="7" name="Vue.js Logo source URL">
            <a:extLst>
              <a:ext uri="{FF2B5EF4-FFF2-40B4-BE49-F238E27FC236}">
                <a16:creationId xmlns:a16="http://schemas.microsoft.com/office/drawing/2014/main" id="{E995C89D-7280-AFE9-EC36-AB4C214DC929}"/>
              </a:ext>
            </a:extLst>
          </p:cNvPr>
          <p:cNvSpPr txBox="1"/>
          <p:nvPr/>
        </p:nvSpPr>
        <p:spPr>
          <a:xfrm>
            <a:off x="651435" y="4215414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100" noProof="0">
                <a:solidFill>
                  <a:srgbClr val="4F6576"/>
                </a:solidFill>
                <a:latin typeface="+mj-lt"/>
                <a:cs typeface="Calibri"/>
              </a:rPr>
              <a:t>https://www.testautomatisierung.org/lexikon/sonarqube/sonarqube-logo-black-128-px/</a:t>
            </a:r>
            <a:endParaRPr lang="de-DE" noProof="0">
              <a:cs typeface="Calibri"/>
            </a:endParaRPr>
          </a:p>
        </p:txBody>
      </p:sp>
      <p:sp>
        <p:nvSpPr>
          <p:cNvPr id="34" name="Vue.js Logo source label">
            <a:extLst>
              <a:ext uri="{FF2B5EF4-FFF2-40B4-BE49-F238E27FC236}">
                <a16:creationId xmlns:a16="http://schemas.microsoft.com/office/drawing/2014/main" id="{0986EA20-2F64-C382-69BA-29174E2E330D}"/>
              </a:ext>
            </a:extLst>
          </p:cNvPr>
          <p:cNvSpPr txBox="1"/>
          <p:nvPr/>
        </p:nvSpPr>
        <p:spPr>
          <a:xfrm>
            <a:off x="662787" y="4421110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</a:rPr>
              <a:t>GitHub Logo</a:t>
            </a:r>
          </a:p>
        </p:txBody>
      </p:sp>
      <p:sp>
        <p:nvSpPr>
          <p:cNvPr id="36" name="Vue.js Logo source URL">
            <a:extLst>
              <a:ext uri="{FF2B5EF4-FFF2-40B4-BE49-F238E27FC236}">
                <a16:creationId xmlns:a16="http://schemas.microsoft.com/office/drawing/2014/main" id="{5259495C-B04A-EBD2-A87E-E34D8767E06F}"/>
              </a:ext>
            </a:extLst>
          </p:cNvPr>
          <p:cNvSpPr txBox="1"/>
          <p:nvPr/>
        </p:nvSpPr>
        <p:spPr>
          <a:xfrm>
            <a:off x="662787" y="4636554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100" noProof="0">
                <a:solidFill>
                  <a:srgbClr val="4F6576"/>
                </a:solidFill>
                <a:latin typeface="+mj-lt"/>
                <a:cs typeface="Calibri"/>
              </a:rPr>
              <a:t>https://en.wikipedia.org/wiki/GitHub#/media/File:GitHub_Invertocat_Logo.svg</a:t>
            </a:r>
            <a:endParaRPr lang="de-DE" noProof="0">
              <a:cs typeface="Calibri"/>
            </a:endParaRPr>
          </a:p>
        </p:txBody>
      </p:sp>
      <p:sp>
        <p:nvSpPr>
          <p:cNvPr id="9" name="Vue.js Logo source label">
            <a:extLst>
              <a:ext uri="{FF2B5EF4-FFF2-40B4-BE49-F238E27FC236}">
                <a16:creationId xmlns:a16="http://schemas.microsoft.com/office/drawing/2014/main" id="{1E5DE87E-6485-5939-5614-578E40E739C2}"/>
              </a:ext>
            </a:extLst>
          </p:cNvPr>
          <p:cNvSpPr txBox="1"/>
          <p:nvPr/>
        </p:nvSpPr>
        <p:spPr>
          <a:xfrm>
            <a:off x="662788" y="4829605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  <a:ea typeface="Calibri"/>
                <a:cs typeface="Calibri"/>
              </a:rPr>
              <a:t>Bilder Nutzerrollen</a:t>
            </a:r>
          </a:p>
        </p:txBody>
      </p:sp>
      <p:sp>
        <p:nvSpPr>
          <p:cNvPr id="11" name="Vue.js Logo source URL">
            <a:extLst>
              <a:ext uri="{FF2B5EF4-FFF2-40B4-BE49-F238E27FC236}">
                <a16:creationId xmlns:a16="http://schemas.microsoft.com/office/drawing/2014/main" id="{75461AE1-7D1E-D48C-61D5-39B41C74A85D}"/>
              </a:ext>
            </a:extLst>
          </p:cNvPr>
          <p:cNvSpPr txBox="1"/>
          <p:nvPr/>
        </p:nvSpPr>
        <p:spPr>
          <a:xfrm>
            <a:off x="662787" y="5045317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100" noProof="0">
                <a:solidFill>
                  <a:srgbClr val="4F6576"/>
                </a:solidFill>
                <a:latin typeface="+mj-lt"/>
                <a:cs typeface="Calibri"/>
              </a:rPr>
              <a:t>KI generiert von Gemini</a:t>
            </a:r>
            <a:endParaRPr lang="de-DE" noProof="0"/>
          </a:p>
        </p:txBody>
      </p:sp>
      <p:sp>
        <p:nvSpPr>
          <p:cNvPr id="15" name="Vue.js Logo source label">
            <a:extLst>
              <a:ext uri="{FF2B5EF4-FFF2-40B4-BE49-F238E27FC236}">
                <a16:creationId xmlns:a16="http://schemas.microsoft.com/office/drawing/2014/main" id="{F1F58EDA-C4DE-D67D-F4E0-472CCE6FF783}"/>
              </a:ext>
            </a:extLst>
          </p:cNvPr>
          <p:cNvSpPr txBox="1"/>
          <p:nvPr/>
        </p:nvSpPr>
        <p:spPr>
          <a:xfrm>
            <a:off x="651435" y="5238100"/>
            <a:ext cx="10789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400" b="1" noProof="0">
                <a:solidFill>
                  <a:srgbClr val="003663"/>
                </a:solidFill>
                <a:latin typeface="+mj-lt"/>
                <a:ea typeface="Calibri"/>
                <a:cs typeface="Calibri"/>
              </a:rPr>
              <a:t>OpenApi Logo</a:t>
            </a:r>
          </a:p>
        </p:txBody>
      </p:sp>
      <p:sp>
        <p:nvSpPr>
          <p:cNvPr id="19" name="Vue.js Logo source URL">
            <a:extLst>
              <a:ext uri="{FF2B5EF4-FFF2-40B4-BE49-F238E27FC236}">
                <a16:creationId xmlns:a16="http://schemas.microsoft.com/office/drawing/2014/main" id="{7746B61F-E68F-3F66-73A7-FEEBA6A15C9D}"/>
              </a:ext>
            </a:extLst>
          </p:cNvPr>
          <p:cNvSpPr txBox="1"/>
          <p:nvPr/>
        </p:nvSpPr>
        <p:spPr>
          <a:xfrm>
            <a:off x="651435" y="5440860"/>
            <a:ext cx="10789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100" noProof="0">
                <a:solidFill>
                  <a:srgbClr val="4F6576"/>
                </a:solidFill>
                <a:latin typeface="+mj-lt"/>
                <a:cs typeface="Calibri"/>
              </a:rPr>
              <a:t>https://thesvg.org/icon/openapi</a:t>
            </a:r>
            <a:endParaRPr lang="de-DE" noProof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955411B-7BA9-7ED4-A1B2-5A5CECD5FD69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34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709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5FB11D-F118-2DFC-5BE1-FA6E09F55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868" y="2488948"/>
            <a:ext cx="9076264" cy="1880103"/>
          </a:xfrm>
        </p:spPr>
        <p:txBody>
          <a:bodyPr/>
          <a:lstStyle/>
          <a:p>
            <a:pPr algn="ctr"/>
            <a:r>
              <a:rPr lang="de-DE" sz="6000" noProof="0">
                <a:ea typeface="Calibri"/>
                <a:cs typeface="Calibri"/>
              </a:rPr>
              <a:t>Vielen Dank für Ihre Aufmerksamkeit</a:t>
            </a:r>
            <a:endParaRPr lang="de-DE" sz="6000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10E991-55F5-8D79-2C23-EACEF030D7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CC46D7-1629-440A-1CA4-81BACE843AF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D88BAFD-DD67-5529-20DE-A3B45B05190C}"/>
              </a:ext>
            </a:extLst>
          </p:cNvPr>
          <p:cNvSpPr txBox="1">
            <a:spLocks/>
          </p:cNvSpPr>
          <p:nvPr/>
        </p:nvSpPr>
        <p:spPr>
          <a:xfrm>
            <a:off x="1651902" y="4369051"/>
            <a:ext cx="9076264" cy="772107"/>
          </a:xfrm>
          <a:prstGeom prst="rect">
            <a:avLst/>
          </a:prstGeom>
          <a:solidFill>
            <a:schemeClr val="bg1">
              <a:alpha val="85000"/>
            </a:schemeClr>
          </a:solidFill>
        </p:spPr>
        <p:txBody>
          <a:bodyPr vert="horz" wrap="square" lIns="108000" tIns="108000" rIns="91440" bIns="108000" rtlCol="0" anchor="t">
            <a:spAutoFit/>
          </a:bodyPr>
          <a:lstStyle>
            <a:lvl1pPr algn="l" defTabSz="45718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noProof="0">
                <a:ea typeface="Calibri"/>
                <a:cs typeface="Calibri"/>
              </a:rPr>
              <a:t>Noch Fragen?</a:t>
            </a:r>
            <a:endParaRPr lang="de-DE" sz="4000" noProof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043EAB8-DCD9-147D-0562-07751C9CB785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35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829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F1BFC-0324-C53A-A91A-9FACFD8C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5567-331F-99CD-4C1A-5DBABD51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 wrap="square"/>
          <a:lstStyle/>
          <a:p>
            <a:r>
              <a:rPr lang="de-DE" noProof="0">
                <a:ea typeface="Calibri"/>
                <a:cs typeface="Calibri"/>
              </a:rPr>
              <a:t>Buildprozess: vom Push zum Docker-Image</a:t>
            </a:r>
            <a:endParaRPr lang="de-DE" noProof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91C5C1-5694-1093-B79F-24F9989CE0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solidFill>
                  <a:schemeClr val="tx1"/>
                </a:solidFill>
                <a:latin typeface="+mj-lt"/>
              </a:rPr>
              <a:t>27.10.26</a:t>
            </a:fld>
            <a:endParaRPr lang="de-DE" noProof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A49FC-FB4D-8375-69BD-2C3E9A532E6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solidFill>
                  <a:schemeClr val="tx1"/>
                </a:solidFill>
                <a:latin typeface="+mj-lt"/>
              </a:rPr>
              <a:t>ProVaCaSy der Hochschule Esslingen</a:t>
            </a:r>
          </a:p>
        </p:txBody>
      </p:sp>
      <p:sp>
        <p:nvSpPr>
          <p:cNvPr id="5" name="Communication summary">
            <a:extLst>
              <a:ext uri="{FF2B5EF4-FFF2-40B4-BE49-F238E27FC236}">
                <a16:creationId xmlns:a16="http://schemas.microsoft.com/office/drawing/2014/main" id="{055C1020-E430-447F-9DBF-4DE4FFC6CBA1}"/>
              </a:ext>
            </a:extLst>
          </p:cNvPr>
          <p:cNvSpPr txBox="1"/>
          <p:nvPr/>
        </p:nvSpPr>
        <p:spPr>
          <a:xfrm>
            <a:off x="612648" y="1115568"/>
            <a:ext cx="1078992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2100" b="0">
                <a:solidFill>
                  <a:srgbClr val="4F6576"/>
                </a:solidFill>
                <a:latin typeface="+mj-lt"/>
                <a:ea typeface="Calibri"/>
                <a:cs typeface="Calibri"/>
              </a:rPr>
              <a:t>Nur geprüfter und freigegebener Code erreicht main und die Registry.</a:t>
            </a:r>
            <a:endParaRPr lang="de-DE" sz="2100" b="0" noProof="0" err="1">
              <a:latin typeface="+mj-lt"/>
              <a:ea typeface="Calibri"/>
              <a:cs typeface="Calibri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713C7B37-0CC2-3548-59D6-FE3F10E90224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36</a:t>
            </a:r>
            <a:endParaRPr lang="de-DE" sz="800" cap="none" baseline="0">
              <a:ea typeface="Calibri"/>
              <a:cs typeface="Calibri"/>
            </a:endParaRPr>
          </a:p>
        </p:txBody>
      </p:sp>
      <p:sp>
        <p:nvSpPr>
          <p:cNvPr id="16" name="Pipeline step 1"/>
          <p:cNvSpPr/>
          <p:nvPr/>
        </p:nvSpPr>
        <p:spPr>
          <a:xfrm>
            <a:off x="1409090" y="1947672"/>
            <a:ext cx="530352" cy="530352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cxnSp>
        <p:nvCxnSpPr>
          <p:cNvPr id="17" name="Pipeline flow connector"/>
          <p:cNvCxnSpPr/>
          <p:nvPr/>
        </p:nvCxnSpPr>
        <p:spPr>
          <a:xfrm>
            <a:off x="1985162" y="2212848"/>
            <a:ext cx="1574597" cy="0"/>
          </a:xfrm>
          <a:prstGeom prst="line">
            <a:avLst/>
          </a:prstGeom>
          <a:ln w="22860">
            <a:solidFill>
              <a:srgbClr val="1F70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ipeline step 2"/>
          <p:cNvSpPr/>
          <p:nvPr/>
        </p:nvSpPr>
        <p:spPr>
          <a:xfrm>
            <a:off x="3605479" y="1947672"/>
            <a:ext cx="530352" cy="530352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cxnSp>
        <p:nvCxnSpPr>
          <p:cNvPr id="19" name="Pipeline flow connector"/>
          <p:cNvCxnSpPr/>
          <p:nvPr/>
        </p:nvCxnSpPr>
        <p:spPr>
          <a:xfrm>
            <a:off x="4181551" y="2212848"/>
            <a:ext cx="1574597" cy="0"/>
          </a:xfrm>
          <a:prstGeom prst="line">
            <a:avLst/>
          </a:prstGeom>
          <a:ln w="22860">
            <a:solidFill>
              <a:srgbClr val="1F70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peline step 3"/>
          <p:cNvSpPr/>
          <p:nvPr/>
        </p:nvSpPr>
        <p:spPr>
          <a:xfrm>
            <a:off x="5801868" y="1947672"/>
            <a:ext cx="530352" cy="530352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cxnSp>
        <p:nvCxnSpPr>
          <p:cNvPr id="21" name="Pipeline flow connector"/>
          <p:cNvCxnSpPr/>
          <p:nvPr/>
        </p:nvCxnSpPr>
        <p:spPr>
          <a:xfrm>
            <a:off x="6377940" y="2212848"/>
            <a:ext cx="1574596" cy="0"/>
          </a:xfrm>
          <a:prstGeom prst="line">
            <a:avLst/>
          </a:prstGeom>
          <a:ln w="22860">
            <a:solidFill>
              <a:srgbClr val="1F70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ipeline step 4"/>
          <p:cNvSpPr/>
          <p:nvPr/>
        </p:nvSpPr>
        <p:spPr>
          <a:xfrm>
            <a:off x="7998256" y="1947672"/>
            <a:ext cx="530352" cy="530352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cxnSp>
        <p:nvCxnSpPr>
          <p:cNvPr id="23" name="Pipeline flow connector"/>
          <p:cNvCxnSpPr/>
          <p:nvPr/>
        </p:nvCxnSpPr>
        <p:spPr>
          <a:xfrm>
            <a:off x="8574328" y="2212848"/>
            <a:ext cx="1574597" cy="0"/>
          </a:xfrm>
          <a:prstGeom prst="line">
            <a:avLst/>
          </a:prstGeom>
          <a:ln w="22860">
            <a:solidFill>
              <a:srgbClr val="1F709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ipeline step 5"/>
          <p:cNvSpPr/>
          <p:nvPr/>
        </p:nvSpPr>
        <p:spPr>
          <a:xfrm>
            <a:off x="10194645" y="1947672"/>
            <a:ext cx="530352" cy="530352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+mj-lt"/>
              </a:rPr>
              <a:t>05</a:t>
            </a:r>
          </a:p>
        </p:txBody>
      </p:sp>
      <p:sp>
        <p:nvSpPr>
          <p:cNvPr id="25" name="Phase kicker 1"/>
          <p:cNvSpPr txBox="1"/>
          <p:nvPr/>
        </p:nvSpPr>
        <p:spPr>
          <a:xfrm>
            <a:off x="658368" y="2724912"/>
            <a:ext cx="20317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7098"/>
                </a:solidFill>
                <a:latin typeface="+mj-lt"/>
              </a:rPr>
              <a:t>FEATURE-BRANCH</a:t>
            </a:r>
          </a:p>
        </p:txBody>
      </p:sp>
      <p:sp>
        <p:nvSpPr>
          <p:cNvPr id="26" name="Phase title 1"/>
          <p:cNvSpPr txBox="1"/>
          <p:nvPr/>
        </p:nvSpPr>
        <p:spPr>
          <a:xfrm>
            <a:off x="658368" y="3063240"/>
            <a:ext cx="20317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3663"/>
                </a:solidFill>
                <a:latin typeface="+mj-lt"/>
              </a:rPr>
              <a:t>Push &amp; Pull Request</a:t>
            </a:r>
          </a:p>
        </p:txBody>
      </p:sp>
      <p:sp>
        <p:nvSpPr>
          <p:cNvPr id="27" name="Phase body 1"/>
          <p:cNvSpPr txBox="1"/>
          <p:nvPr/>
        </p:nvSpPr>
        <p:spPr>
          <a:xfrm>
            <a:off x="658368" y="3703320"/>
            <a:ext cx="2031796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F6576"/>
                </a:solidFill>
                <a:latin typeface="+mj-lt"/>
              </a:rPr>
              <a:t>Branch zu GitHub pushen.
PR nach main öffnen
und Issue verknüpfen.</a:t>
            </a:r>
          </a:p>
        </p:txBody>
      </p:sp>
      <p:sp>
        <p:nvSpPr>
          <p:cNvPr id="28" name="Phase kicker 2"/>
          <p:cNvSpPr txBox="1"/>
          <p:nvPr/>
        </p:nvSpPr>
        <p:spPr>
          <a:xfrm>
            <a:off x="2854756" y="2724912"/>
            <a:ext cx="20317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7098"/>
                </a:solidFill>
                <a:latin typeface="+mj-lt"/>
              </a:rPr>
              <a:t>AUTOMATISCH</a:t>
            </a:r>
          </a:p>
        </p:txBody>
      </p:sp>
      <p:sp>
        <p:nvSpPr>
          <p:cNvPr id="29" name="Phase title 2"/>
          <p:cNvSpPr txBox="1"/>
          <p:nvPr/>
        </p:nvSpPr>
        <p:spPr>
          <a:xfrm>
            <a:off x="2854756" y="3063240"/>
            <a:ext cx="20317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3663"/>
                </a:solidFill>
                <a:latin typeface="+mj-lt"/>
              </a:rPr>
              <a:t>GitHub Actions</a:t>
            </a:r>
          </a:p>
        </p:txBody>
      </p:sp>
      <p:sp>
        <p:nvSpPr>
          <p:cNvPr id="30" name="Phase body 2"/>
          <p:cNvSpPr txBox="1"/>
          <p:nvPr/>
        </p:nvSpPr>
        <p:spPr>
          <a:xfrm>
            <a:off x="2854756" y="3703320"/>
            <a:ext cx="2031796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F6576"/>
                </a:solidFill>
                <a:latin typeface="+mj-lt"/>
              </a:rPr>
              <a:t>Der Pull Request startet
die Pipeline ohne
manuellen Eingriff.</a:t>
            </a:r>
          </a:p>
        </p:txBody>
      </p:sp>
      <p:sp>
        <p:nvSpPr>
          <p:cNvPr id="31" name="Phase kicker 3"/>
          <p:cNvSpPr txBox="1"/>
          <p:nvPr/>
        </p:nvSpPr>
        <p:spPr>
          <a:xfrm>
            <a:off x="5051145" y="2724912"/>
            <a:ext cx="20317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7098"/>
                </a:solidFill>
                <a:latin typeface="+mj-lt"/>
              </a:rPr>
              <a:t>QUALITY GATE</a:t>
            </a:r>
          </a:p>
        </p:txBody>
      </p:sp>
      <p:sp>
        <p:nvSpPr>
          <p:cNvPr id="32" name="Phase title 3"/>
          <p:cNvSpPr txBox="1"/>
          <p:nvPr/>
        </p:nvSpPr>
        <p:spPr>
          <a:xfrm>
            <a:off x="5051145" y="3063240"/>
            <a:ext cx="20317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3663"/>
                </a:solidFill>
                <a:latin typeface="+mj-lt"/>
              </a:rPr>
              <a:t>Build, Tests &amp; SonarQube</a:t>
            </a:r>
          </a:p>
        </p:txBody>
      </p:sp>
      <p:sp>
        <p:nvSpPr>
          <p:cNvPr id="33" name="Phase body 3"/>
          <p:cNvSpPr txBox="1"/>
          <p:nvPr/>
        </p:nvSpPr>
        <p:spPr>
          <a:xfrm>
            <a:off x="5051145" y="3703320"/>
            <a:ext cx="2031796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F6576"/>
                </a:solidFill>
                <a:latin typeface="+mj-lt"/>
              </a:rPr>
              <a:t>Projekt bauen, Tests
ausführen und Codequalität
mit SonarQube prüfen.</a:t>
            </a:r>
          </a:p>
        </p:txBody>
      </p:sp>
      <p:sp>
        <p:nvSpPr>
          <p:cNvPr id="34" name="Phase kicker 4"/>
          <p:cNvSpPr txBox="1"/>
          <p:nvPr/>
        </p:nvSpPr>
        <p:spPr>
          <a:xfrm>
            <a:off x="7247534" y="2724912"/>
            <a:ext cx="20317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7098"/>
                </a:solidFill>
                <a:latin typeface="+mj-lt"/>
              </a:rPr>
              <a:t>VIER-AUGEN-PRINZIP</a:t>
            </a:r>
          </a:p>
        </p:txBody>
      </p:sp>
      <p:sp>
        <p:nvSpPr>
          <p:cNvPr id="35" name="Phase title 4"/>
          <p:cNvSpPr txBox="1"/>
          <p:nvPr/>
        </p:nvSpPr>
        <p:spPr>
          <a:xfrm>
            <a:off x="7247534" y="3063240"/>
            <a:ext cx="20317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3663"/>
                </a:solidFill>
                <a:latin typeface="+mj-lt"/>
              </a:rPr>
              <a:t>Review &amp; Merge</a:t>
            </a:r>
          </a:p>
        </p:txBody>
      </p:sp>
      <p:sp>
        <p:nvSpPr>
          <p:cNvPr id="36" name="Phase body 4"/>
          <p:cNvSpPr txBox="1"/>
          <p:nvPr/>
        </p:nvSpPr>
        <p:spPr>
          <a:xfrm>
            <a:off x="7247534" y="3703320"/>
            <a:ext cx="2031796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F6576"/>
                </a:solidFill>
                <a:latin typeface="+mj-lt"/>
              </a:rPr>
              <a:t>Zweite Person prüft.
Merge nur bei grüner
Pipeline und Freigabe.</a:t>
            </a:r>
          </a:p>
        </p:txBody>
      </p:sp>
      <p:sp>
        <p:nvSpPr>
          <p:cNvPr id="37" name="Phase kicker 5"/>
          <p:cNvSpPr txBox="1"/>
          <p:nvPr/>
        </p:nvSpPr>
        <p:spPr>
          <a:xfrm>
            <a:off x="9443923" y="2724912"/>
            <a:ext cx="20317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7098"/>
                </a:solidFill>
                <a:latin typeface="+mj-lt"/>
              </a:rPr>
              <a:t>NACH DEM MERGE</a:t>
            </a:r>
          </a:p>
        </p:txBody>
      </p:sp>
      <p:sp>
        <p:nvSpPr>
          <p:cNvPr id="38" name="Phase title 5"/>
          <p:cNvSpPr txBox="1"/>
          <p:nvPr/>
        </p:nvSpPr>
        <p:spPr>
          <a:xfrm>
            <a:off x="9443923" y="3063240"/>
            <a:ext cx="203179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003663"/>
                </a:solidFill>
                <a:latin typeface="+mj-lt"/>
              </a:rPr>
              <a:t>Docker veröffentlichen</a:t>
            </a:r>
          </a:p>
        </p:txBody>
      </p:sp>
      <p:sp>
        <p:nvSpPr>
          <p:cNvPr id="39" name="Phase body 5"/>
          <p:cNvSpPr txBox="1"/>
          <p:nvPr/>
        </p:nvSpPr>
        <p:spPr>
          <a:xfrm>
            <a:off x="9443923" y="3703320"/>
            <a:ext cx="2031796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F6576"/>
                </a:solidFill>
                <a:latin typeface="+mj-lt"/>
              </a:rPr>
              <a:t>Images erstellen und
versioniert in GitHub
Packages ablegen.</a:t>
            </a:r>
          </a:p>
        </p:txBody>
      </p:sp>
      <p:sp>
        <p:nvSpPr>
          <p:cNvPr id="40" name="Outcome divider"/>
          <p:cNvSpPr/>
          <p:nvPr/>
        </p:nvSpPr>
        <p:spPr>
          <a:xfrm>
            <a:off x="658368" y="5248656"/>
            <a:ext cx="10817352" cy="18288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utcome kicker"/>
          <p:cNvSpPr txBox="1"/>
          <p:nvPr/>
        </p:nvSpPr>
        <p:spPr>
          <a:xfrm>
            <a:off x="658368" y="5532120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F7098"/>
                </a:solidFill>
                <a:latin typeface="+mj-lt"/>
              </a:rPr>
              <a:t>ERGEBNIS</a:t>
            </a:r>
          </a:p>
        </p:txBody>
      </p:sp>
      <p:sp>
        <p:nvSpPr>
          <p:cNvPr id="42" name="Outcome text"/>
          <p:cNvSpPr txBox="1"/>
          <p:nvPr/>
        </p:nvSpPr>
        <p:spPr>
          <a:xfrm>
            <a:off x="1755648" y="5449824"/>
            <a:ext cx="9555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132E45"/>
                </a:solidFill>
                <a:latin typeface="+mj-lt"/>
              </a:rPr>
              <a:t>Geschützter main-Branch  ·  geprüfter Code  ·  versionierte Docker-Images in GitHub Packages</a:t>
            </a:r>
          </a:p>
        </p:txBody>
      </p:sp>
    </p:spTree>
    <p:extLst>
      <p:ext uri="{BB962C8B-B14F-4D97-AF65-F5344CB8AC3E}">
        <p14:creationId xmlns:p14="http://schemas.microsoft.com/office/powerpoint/2010/main" val="81527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CFD92-1850-8BE9-2BC9-14556923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Calibri"/>
                <a:cs typeface="Calibri"/>
              </a:rPr>
              <a:t>Nächste Schritte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CE09C3D-90E0-56A0-AF74-B6025C70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>
                <a:latin typeface="+mj-lt"/>
              </a:rPr>
              <a:t>27.10.26</a:t>
            </a:fld>
            <a:endParaRPr lang="de-DE" noProof="0">
              <a:latin typeface="+mj-lt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C3E0A4F-EF58-F971-DBE7-5EE4DC6397F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>
                <a:latin typeface="+mj-lt"/>
              </a:rPr>
              <a:t>ProVaCaSy der Hochschule Esslingen</a:t>
            </a:r>
          </a:p>
        </p:txBody>
      </p:sp>
      <p:sp>
        <p:nvSpPr>
          <p:cNvPr id="5" name="DoD intro"/>
          <p:cNvSpPr txBox="1"/>
          <p:nvPr/>
        </p:nvSpPr>
        <p:spPr>
          <a:xfrm>
            <a:off x="612648" y="1225296"/>
            <a:ext cx="1069848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100" b="0" noProof="0">
                <a:latin typeface="+mj-lt"/>
              </a:rPr>
              <a:t>Bis zum Meilenstein 3 am 08.12.2026 setzen wir fünf Schritte um.</a:t>
            </a:r>
          </a:p>
        </p:txBody>
      </p:sp>
      <p:sp>
        <p:nvSpPr>
          <p:cNvPr id="6" name="DoD number 01"/>
          <p:cNvSpPr>
            <a:spLocks/>
          </p:cNvSpPr>
          <p:nvPr/>
        </p:nvSpPr>
        <p:spPr>
          <a:xfrm>
            <a:off x="658368" y="1847088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01</a:t>
            </a:r>
          </a:p>
        </p:txBody>
      </p:sp>
      <p:sp>
        <p:nvSpPr>
          <p:cNvPr id="7" name="DoD heading 01"/>
          <p:cNvSpPr txBox="1"/>
          <p:nvPr/>
        </p:nvSpPr>
        <p:spPr>
          <a:xfrm>
            <a:off x="1335024" y="1837944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Konzept</a:t>
            </a:r>
          </a:p>
        </p:txBody>
      </p:sp>
      <p:sp>
        <p:nvSpPr>
          <p:cNvPr id="8" name="DoD detail 01"/>
          <p:cNvSpPr txBox="1"/>
          <p:nvPr/>
        </p:nvSpPr>
        <p:spPr>
          <a:xfrm>
            <a:off x="3712463" y="1837944"/>
            <a:ext cx="7543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Meilenstein 2 am 17.11.2026: User Stories und technisches Konzept abgeben.</a:t>
            </a:r>
          </a:p>
        </p:txBody>
      </p:sp>
      <p:sp>
        <p:nvSpPr>
          <p:cNvPr id="9" name="DoD divider 01"/>
          <p:cNvSpPr/>
          <p:nvPr/>
        </p:nvSpPr>
        <p:spPr>
          <a:xfrm>
            <a:off x="1335024" y="2468880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10" name="DoD number 02"/>
          <p:cNvSpPr>
            <a:spLocks/>
          </p:cNvSpPr>
          <p:nvPr/>
        </p:nvSpPr>
        <p:spPr>
          <a:xfrm>
            <a:off x="658368" y="2642616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02</a:t>
            </a:r>
          </a:p>
        </p:txBody>
      </p:sp>
      <p:sp>
        <p:nvSpPr>
          <p:cNvPr id="11" name="DoD heading 02"/>
          <p:cNvSpPr txBox="1"/>
          <p:nvPr/>
        </p:nvSpPr>
        <p:spPr>
          <a:xfrm>
            <a:off x="1335024" y="2633472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OpenAPI</a:t>
            </a:r>
          </a:p>
        </p:txBody>
      </p:sp>
      <p:sp>
        <p:nvSpPr>
          <p:cNvPr id="12" name="DoD detail 02"/>
          <p:cNvSpPr txBox="1">
            <a:spLocks/>
          </p:cNvSpPr>
          <p:nvPr/>
        </p:nvSpPr>
        <p:spPr>
          <a:xfrm>
            <a:off x="3712463" y="2633472"/>
            <a:ext cx="75438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API-Spezifikation festlegen und Clients für Frontend und Backend generieren.</a:t>
            </a:r>
          </a:p>
        </p:txBody>
      </p:sp>
      <p:sp>
        <p:nvSpPr>
          <p:cNvPr id="13" name="DoD divider 02"/>
          <p:cNvSpPr>
            <a:spLocks/>
          </p:cNvSpPr>
          <p:nvPr/>
        </p:nvSpPr>
        <p:spPr>
          <a:xfrm>
            <a:off x="1335024" y="3264408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14" name="DoD number 03"/>
          <p:cNvSpPr>
            <a:spLocks/>
          </p:cNvSpPr>
          <p:nvPr/>
        </p:nvSpPr>
        <p:spPr>
          <a:xfrm>
            <a:off x="658368" y="3438144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03</a:t>
            </a:r>
          </a:p>
        </p:txBody>
      </p:sp>
      <p:sp>
        <p:nvSpPr>
          <p:cNvPr id="15" name="DoD heading 03"/>
          <p:cNvSpPr txBox="1">
            <a:spLocks/>
          </p:cNvSpPr>
          <p:nvPr/>
        </p:nvSpPr>
        <p:spPr>
          <a:xfrm>
            <a:off x="1335024" y="3429000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Keycloak</a:t>
            </a:r>
          </a:p>
        </p:txBody>
      </p:sp>
      <p:sp>
        <p:nvSpPr>
          <p:cNvPr id="16" name="DoD detail 03"/>
          <p:cNvSpPr txBox="1"/>
          <p:nvPr/>
        </p:nvSpPr>
        <p:spPr>
          <a:xfrm>
            <a:off x="3712463" y="3429000"/>
            <a:ext cx="7543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DE" sz="1900" b="0" noProof="0">
                <a:solidFill>
                  <a:srgbClr val="132E45"/>
                </a:solidFill>
                <a:latin typeface="+mj-lt"/>
              </a:rPr>
              <a:t>Login mit Rollen aufsetzen; Anbindung an den Hochschul-Login mit dem Kunden klären.</a:t>
            </a:r>
          </a:p>
        </p:txBody>
      </p:sp>
      <p:sp>
        <p:nvSpPr>
          <p:cNvPr id="17" name="DoD divider 03"/>
          <p:cNvSpPr>
            <a:spLocks/>
          </p:cNvSpPr>
          <p:nvPr/>
        </p:nvSpPr>
        <p:spPr>
          <a:xfrm>
            <a:off x="1335024" y="4059935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18" name="DoD number 04"/>
          <p:cNvSpPr/>
          <p:nvPr/>
        </p:nvSpPr>
        <p:spPr>
          <a:xfrm>
            <a:off x="658368" y="4233672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04</a:t>
            </a:r>
          </a:p>
        </p:txBody>
      </p:sp>
      <p:sp>
        <p:nvSpPr>
          <p:cNvPr id="19" name="DoD heading 04"/>
          <p:cNvSpPr txBox="1"/>
          <p:nvPr/>
        </p:nvSpPr>
        <p:spPr>
          <a:xfrm>
            <a:off x="1335024" y="4224528"/>
            <a:ext cx="22402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Pipeline</a:t>
            </a:r>
          </a:p>
        </p:txBody>
      </p:sp>
      <p:sp>
        <p:nvSpPr>
          <p:cNvPr id="20" name="DoD detail 04"/>
          <p:cNvSpPr txBox="1"/>
          <p:nvPr/>
        </p:nvSpPr>
        <p:spPr>
          <a:xfrm>
            <a:off x="3712463" y="4224528"/>
            <a:ext cx="7543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Build, Tests und SonarQube in GitHub Actions einrichten; Docker-Images in GitHub Packages.</a:t>
            </a:r>
          </a:p>
        </p:txBody>
      </p:sp>
      <p:sp>
        <p:nvSpPr>
          <p:cNvPr id="21" name="DoD divider 04"/>
          <p:cNvSpPr/>
          <p:nvPr/>
        </p:nvSpPr>
        <p:spPr>
          <a:xfrm>
            <a:off x="1335024" y="4963192"/>
            <a:ext cx="9921240" cy="16459"/>
          </a:xfrm>
          <a:prstGeom prst="rect">
            <a:avLst/>
          </a:prstGeom>
          <a:solidFill>
            <a:srgbClr val="E7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>
              <a:latin typeface="+mj-lt"/>
            </a:endParaRPr>
          </a:p>
        </p:txBody>
      </p:sp>
      <p:sp>
        <p:nvSpPr>
          <p:cNvPr id="22" name="DoD number 05"/>
          <p:cNvSpPr>
            <a:spLocks/>
          </p:cNvSpPr>
          <p:nvPr/>
        </p:nvSpPr>
        <p:spPr>
          <a:xfrm>
            <a:off x="658368" y="5136928"/>
            <a:ext cx="457200" cy="457200"/>
          </a:xfrm>
          <a:prstGeom prst="ellipse">
            <a:avLst/>
          </a:prstGeom>
          <a:solidFill>
            <a:srgbClr val="1F7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1200" b="1" noProof="0">
                <a:solidFill>
                  <a:srgbClr val="FFFFFF"/>
                </a:solidFill>
                <a:latin typeface="+mj-lt"/>
              </a:rPr>
              <a:t>05</a:t>
            </a:r>
          </a:p>
        </p:txBody>
      </p:sp>
      <p:sp>
        <p:nvSpPr>
          <p:cNvPr id="23" name="DoD heading 05"/>
          <p:cNvSpPr txBox="1"/>
          <p:nvPr/>
        </p:nvSpPr>
        <p:spPr>
          <a:xfrm>
            <a:off x="1335024" y="5127784"/>
            <a:ext cx="224028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2400" b="1" noProof="0">
                <a:solidFill>
                  <a:srgbClr val="003663"/>
                </a:solidFill>
                <a:latin typeface="+mj-lt"/>
              </a:rPr>
              <a:t>Prototyp</a:t>
            </a:r>
          </a:p>
        </p:txBody>
      </p:sp>
      <p:sp>
        <p:nvSpPr>
          <p:cNvPr id="24" name="DoD detail 05"/>
          <p:cNvSpPr txBox="1">
            <a:spLocks/>
          </p:cNvSpPr>
          <p:nvPr/>
        </p:nvSpPr>
        <p:spPr>
          <a:xfrm>
            <a:off x="3712463" y="5127784"/>
            <a:ext cx="754380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de-DE" sz="1900" b="0" noProof="0">
                <a:solidFill>
                  <a:srgbClr val="132E45"/>
                </a:solidFill>
                <a:latin typeface="+mj-lt"/>
              </a:rPr>
              <a:t>Prototyp mit Login bis 08.12.2026; Mockups mit dem Kunden abstimmen.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11D9FB3D-AFD5-F136-7CE1-2067A409003C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35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0190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BEDC-1212-8F0B-38CC-0FB296C8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C243E5-F8F6-6D0B-A26D-5C9BB3C1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Rolle: Professor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4659B79-863D-CB6C-8346-BFE4A3C6BE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C500E9-63FF-5C18-5B45-C421E65BD7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5100B96B-6B94-8059-1C56-4C45CE04BEFD}"/>
              </a:ext>
            </a:extLst>
          </p:cNvPr>
          <p:cNvSpPr txBox="1">
            <a:spLocks/>
          </p:cNvSpPr>
          <p:nvPr/>
        </p:nvSpPr>
        <p:spPr>
          <a:xfrm>
            <a:off x="624000" y="1861974"/>
            <a:ext cx="8387643" cy="4568655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Bedürfnisse: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Eine benutzerfreundliche und übersichtliche Benutzeroberfläche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Zuverlässige, zeitnahe Rückmeldungen und Benachrichtigungen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Transparente Einsicht in Genehmigungsstände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endParaRPr lang="de-DE" sz="2000" noProof="0">
              <a:ea typeface="Calibri"/>
              <a:cs typeface="Calibri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Probleme: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Hoher Zeitverlust durch umständliche oder unübersichtliche Prozesse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Unklarheit über verbleibende Urlaubstage und Bearbeitungsstände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Fehlen einer zentralen und einfachen Lösung für Anträge</a:t>
            </a:r>
            <a:endParaRPr lang="de-DE" noProof="0"/>
          </a:p>
        </p:txBody>
      </p:sp>
      <p:pic>
        <p:nvPicPr>
          <p:cNvPr id="7" name="Grafik 6" descr="Ein Bild, das Menschliches Gesicht, Bücherregal, Person, Im Haus enthält.  KI-generierte Inhalte können fehlerhaft sein.">
            <a:extLst>
              <a:ext uri="{FF2B5EF4-FFF2-40B4-BE49-F238E27FC236}">
                <a16:creationId xmlns:a16="http://schemas.microsoft.com/office/drawing/2014/main" id="{93CD72C4-CA74-B4EB-1CD7-234938612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" r="450"/>
          <a:stretch>
            <a:fillRect/>
          </a:stretch>
        </p:blipFill>
        <p:spPr>
          <a:xfrm>
            <a:off x="8782186" y="1863636"/>
            <a:ext cx="3004145" cy="165606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393C36E-4CE2-3CD2-00A2-A0A5B03FE70F}"/>
              </a:ext>
            </a:extLst>
          </p:cNvPr>
          <p:cNvSpPr txBox="1"/>
          <p:nvPr/>
        </p:nvSpPr>
        <p:spPr>
          <a:xfrm>
            <a:off x="8782467" y="3520773"/>
            <a:ext cx="3007360" cy="257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2000">
                <a:ea typeface="Calibri"/>
                <a:cs typeface="Calibri"/>
              </a:rPr>
              <a:t>Prof. Dr. Klaus Günther Jost</a:t>
            </a:r>
            <a:endParaRPr lang="de-DE" sz="2000" cap="none" baseline="0">
              <a:ea typeface="Calibri"/>
              <a:cs typeface="Calibri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078B079-74C3-8206-1F79-CACE093C1AEB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37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29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1386E-16B9-F40B-010A-048084CE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8F02F8-D235-45D3-286F-F51A5AE0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Rolle: Sekretär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EB95B3-56DE-30CE-5702-CF97F6A099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C0275FC-2903-BCCB-5FAF-7FCC186EFF9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F1ACB9A3-E9EE-F91A-480D-3C9BA0D69092}"/>
              </a:ext>
            </a:extLst>
          </p:cNvPr>
          <p:cNvSpPr txBox="1">
            <a:spLocks/>
          </p:cNvSpPr>
          <p:nvPr/>
        </p:nvSpPr>
        <p:spPr>
          <a:xfrm>
            <a:off x="624000" y="1861974"/>
            <a:ext cx="8387643" cy="4568655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Bedürfnisse: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Zentrales und übersichtliches Dashboard für alle Bereichsanträge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Schnelle und transparente Freigabeprozesse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Zuverlässige Benachrichtigungen bei Statusänderungen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endParaRPr lang="de-DE" sz="2000" noProof="0">
              <a:ea typeface="Calibri"/>
              <a:cs typeface="Calibri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Probleme: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Hoher Aufwand durch manuelle und unübersichtliche Antragswege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Lange Wartezeiten und unklare Bearbeitungsstände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Fehlende zentrale Übersicht über das Personal</a:t>
            </a:r>
            <a:endParaRPr lang="de-DE" noProof="0"/>
          </a:p>
        </p:txBody>
      </p:sp>
      <p:pic>
        <p:nvPicPr>
          <p:cNvPr id="7" name="Grafik 6" descr="Ein Bild, das Menschliches Gesicht, Bücherregal, Person, Im Haus enthält.  KI-generierte Inhalte können fehlerhaft sein.">
            <a:extLst>
              <a:ext uri="{FF2B5EF4-FFF2-40B4-BE49-F238E27FC236}">
                <a16:creationId xmlns:a16="http://schemas.microsoft.com/office/drawing/2014/main" id="{F10F4857-99FE-C297-4C99-30E359848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" r="450"/>
          <a:stretch>
            <a:fillRect/>
          </a:stretch>
        </p:blipFill>
        <p:spPr>
          <a:xfrm>
            <a:off x="8782186" y="1863636"/>
            <a:ext cx="3004145" cy="1656068"/>
          </a:xfrm>
          <a:prstGeom prst="rect">
            <a:avLst/>
          </a:prstGeom>
        </p:spPr>
      </p:pic>
      <p:pic>
        <p:nvPicPr>
          <p:cNvPr id="5" name="Grafik 4" descr="Ein Bild, das Menschliches Gesicht, Person, Kleidung, Im Haus enthält.  KI-generierte Inhalte können fehlerhaft sein.">
            <a:extLst>
              <a:ext uri="{FF2B5EF4-FFF2-40B4-BE49-F238E27FC236}">
                <a16:creationId xmlns:a16="http://schemas.microsoft.com/office/drawing/2014/main" id="{9BCF384A-1454-DA4A-C672-DEE3DB714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" r="462"/>
          <a:stretch>
            <a:fillRect/>
          </a:stretch>
        </p:blipFill>
        <p:spPr>
          <a:xfrm>
            <a:off x="8765740" y="1863636"/>
            <a:ext cx="3020591" cy="16670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314A71A-B35D-1875-3853-CB4CAF3808B7}"/>
              </a:ext>
            </a:extLst>
          </p:cNvPr>
          <p:cNvSpPr txBox="1"/>
          <p:nvPr/>
        </p:nvSpPr>
        <p:spPr>
          <a:xfrm>
            <a:off x="8771343" y="3526335"/>
            <a:ext cx="3010178" cy="257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2000">
                <a:ea typeface="Calibri"/>
                <a:cs typeface="Calibri"/>
              </a:rPr>
              <a:t>Anna Schmidt</a:t>
            </a:r>
            <a:endParaRPr lang="de-DE" sz="2000" cap="none" baseline="0">
              <a:ea typeface="Calibri"/>
              <a:cs typeface="Calibri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CA39AF2-1628-433C-4D15-7AAFB4F83BDC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38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8499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1EE54-534A-9934-B9A7-B52CB5444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33FB20-F927-8FF5-D70B-9B3953904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Rolle: Dekan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65F137F-5329-DAAC-FF50-068C28ECCE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EFEC5E-43F6-987E-2D0A-6916B4C474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B362AAF7-5FB5-EFEE-8AB5-6F30F5969DC6}"/>
              </a:ext>
            </a:extLst>
          </p:cNvPr>
          <p:cNvSpPr txBox="1">
            <a:spLocks/>
          </p:cNvSpPr>
          <p:nvPr/>
        </p:nvSpPr>
        <p:spPr>
          <a:xfrm>
            <a:off x="624000" y="1861974"/>
            <a:ext cx="8387643" cy="4568655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Bedürfnisse:</a:t>
            </a:r>
            <a:endParaRPr lang="de-DE"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buFont typeface="Arial,Sans-Serif" panose="020F0502020204030204" pitchFamily="34" charset="0"/>
              <a:buChar char="•"/>
            </a:pPr>
            <a:r>
              <a:rPr lang="de-DE" sz="2000">
                <a:ea typeface="Calibri"/>
                <a:cs typeface="Calibri"/>
              </a:rPr>
              <a:t>Zentrales Dashboard zur schnellen Prüfung und Freigabe</a:t>
            </a:r>
            <a:endParaRPr lang="de-DE"/>
          </a:p>
          <a:p>
            <a:pPr marL="342900" indent="-342900">
              <a:spcBef>
                <a:spcPts val="600"/>
              </a:spcBef>
              <a:buFont typeface="Arial,Sans-Serif" panose="020F0502020204030204" pitchFamily="34" charset="0"/>
              <a:buChar char="•"/>
            </a:pPr>
            <a:r>
              <a:rPr lang="de-DE" sz="2000">
                <a:ea typeface="Calibri"/>
                <a:cs typeface="Calibri"/>
              </a:rPr>
              <a:t>Verlässliche Kennzahlen zur Personalverfügbarkeit im Fachbereich</a:t>
            </a:r>
          </a:p>
          <a:p>
            <a:pPr marL="342900" indent="-342900">
              <a:spcBef>
                <a:spcPts val="600"/>
              </a:spcBef>
              <a:buFont typeface="Arial,Sans-Serif" panose="020F0502020204030204" pitchFamily="34" charset="0"/>
              <a:buChar char="•"/>
            </a:pPr>
            <a:r>
              <a:rPr lang="de-DE" sz="2000">
                <a:ea typeface="Calibri"/>
                <a:cs typeface="Calibri"/>
              </a:rPr>
              <a:t>Transparente Historie und Nachvollziehbarkeit aller Freigaben</a:t>
            </a:r>
          </a:p>
          <a:p>
            <a:pPr marL="342900" indent="-342900">
              <a:spcBef>
                <a:spcPts val="600"/>
              </a:spcBef>
              <a:buFont typeface="Arial,Sans-Serif" panose="020F0502020204030204" pitchFamily="34" charset="0"/>
              <a:buChar char="•"/>
            </a:pPr>
            <a:endParaRPr lang="de-DE" sz="2000">
              <a:ea typeface="Calibri"/>
              <a:cs typeface="Calibri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de-DE" sz="2000" b="1">
                <a:ea typeface="Calibri"/>
                <a:cs typeface="Calibri"/>
              </a:rPr>
              <a:t>Probleme:</a:t>
            </a:r>
            <a:endParaRPr lang="en-US" sz="2000"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buFont typeface="Arial,Sans-Serif"/>
              <a:buChar char="•"/>
            </a:pPr>
            <a:r>
              <a:rPr lang="de-DE" sz="2000">
                <a:ea typeface="Calibri"/>
                <a:cs typeface="Calibri"/>
              </a:rPr>
              <a:t>Verzögerungen durch intransparente oder papierbasierte Dienstwege</a:t>
            </a:r>
            <a:endParaRPr lang="en-US" sz="2000"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buFont typeface="Arial,Sans-Serif"/>
              <a:buChar char="•"/>
            </a:pPr>
            <a:r>
              <a:rPr lang="de-DE" sz="2000">
                <a:ea typeface="Calibri"/>
                <a:cs typeface="Calibri"/>
              </a:rPr>
              <a:t>Hoher Abstimmungs- und Nachfragebedarf bei Anträgen</a:t>
            </a:r>
            <a:endParaRPr lang="en-US" sz="2000">
              <a:ea typeface="Calibri"/>
              <a:cs typeface="Calibri"/>
            </a:endParaRPr>
          </a:p>
          <a:p>
            <a:pPr marL="342900" indent="-342900">
              <a:spcBef>
                <a:spcPts val="600"/>
              </a:spcBef>
              <a:buFont typeface="Arial,Sans-Serif"/>
              <a:buChar char="•"/>
            </a:pPr>
            <a:r>
              <a:rPr lang="de-DE" sz="2000">
                <a:ea typeface="Calibri"/>
                <a:cs typeface="Calibri"/>
              </a:rPr>
              <a:t>Mangelnde Gesamtübersicht über die personelle Auslastung</a:t>
            </a:r>
            <a:endParaRPr lang="en-US" sz="2000">
              <a:ea typeface="Calibri"/>
              <a:cs typeface="Calibri"/>
            </a:endParaRPr>
          </a:p>
          <a:p>
            <a:pPr marL="0" indent="0">
              <a:spcBef>
                <a:spcPts val="600"/>
              </a:spcBef>
              <a:buNone/>
            </a:pPr>
            <a:endParaRPr lang="de-DE" sz="2000" b="1" noProof="0">
              <a:ea typeface="Calibri"/>
              <a:cs typeface="Calibri"/>
            </a:endParaRPr>
          </a:p>
        </p:txBody>
      </p:sp>
      <p:pic>
        <p:nvPicPr>
          <p:cNvPr id="7" name="Grafik 6" descr="Ein Bild, das Menschliches Gesicht, Bücherregal, Person, Im Haus enthält.  KI-generierte Inhalte können fehlerhaft sein.">
            <a:extLst>
              <a:ext uri="{FF2B5EF4-FFF2-40B4-BE49-F238E27FC236}">
                <a16:creationId xmlns:a16="http://schemas.microsoft.com/office/drawing/2014/main" id="{CB4573F8-19D3-CC36-DBAD-CAB1417838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" r="450"/>
          <a:stretch>
            <a:fillRect/>
          </a:stretch>
        </p:blipFill>
        <p:spPr>
          <a:xfrm>
            <a:off x="8782186" y="1863636"/>
            <a:ext cx="3004145" cy="1656068"/>
          </a:xfrm>
          <a:prstGeom prst="rect">
            <a:avLst/>
          </a:prstGeom>
        </p:spPr>
      </p:pic>
      <p:pic>
        <p:nvPicPr>
          <p:cNvPr id="5" name="Grafik 4" descr="Ein Bild, das Person, Kleidung, Menschliches Gesicht, Im Haus enthält.  KI-generierte Inhalte können fehlerhaft sein.">
            <a:extLst>
              <a:ext uri="{FF2B5EF4-FFF2-40B4-BE49-F238E27FC236}">
                <a16:creationId xmlns:a16="http://schemas.microsoft.com/office/drawing/2014/main" id="{D6F717F4-9B09-0ACA-17F7-EF1F02C44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813" y="1841773"/>
            <a:ext cx="3042518" cy="170656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780A919-C23F-C1BD-29F2-60DF17BFAB1C}"/>
              </a:ext>
            </a:extLst>
          </p:cNvPr>
          <p:cNvSpPr txBox="1"/>
          <p:nvPr/>
        </p:nvSpPr>
        <p:spPr>
          <a:xfrm>
            <a:off x="8760218" y="3559708"/>
            <a:ext cx="3032426" cy="257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2000">
                <a:ea typeface="Calibri"/>
                <a:cs typeface="Calibri"/>
              </a:rPr>
              <a:t>Dr. Paul Hoffmann</a:t>
            </a:r>
            <a:endParaRPr lang="de-DE" sz="2000" cap="none" baseline="0">
              <a:ea typeface="Calibri"/>
              <a:cs typeface="Calibri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0AC8B64-9027-FF7C-5914-0B968579CE8C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39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144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F768-3476-70FC-E327-3CB560B8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">
            <a:extLst>
              <a:ext uri="{FF2B5EF4-FFF2-40B4-BE49-F238E27FC236}">
                <a16:creationId xmlns:a16="http://schemas.microsoft.com/office/drawing/2014/main" id="{DCE87A07-A573-35DE-F3F8-E82DFEF25D74}"/>
              </a:ext>
            </a:extLst>
          </p:cNvPr>
          <p:cNvSpPr/>
          <p:nvPr/>
        </p:nvSpPr>
        <p:spPr>
          <a:xfrm>
            <a:off x="5782516" y="1725533"/>
            <a:ext cx="4889249" cy="181891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4" name="Rounded Rectangle 1">
            <a:extLst>
              <a:ext uri="{FF2B5EF4-FFF2-40B4-BE49-F238E27FC236}">
                <a16:creationId xmlns:a16="http://schemas.microsoft.com/office/drawing/2014/main" id="{A51A4453-1EA7-0EC4-E1D3-7DC7F1701533}"/>
              </a:ext>
            </a:extLst>
          </p:cNvPr>
          <p:cNvSpPr/>
          <p:nvPr/>
        </p:nvSpPr>
        <p:spPr>
          <a:xfrm>
            <a:off x="418337" y="3694661"/>
            <a:ext cx="4889249" cy="181891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64057D60-912A-32DF-ED97-C8A3F7893294}"/>
              </a:ext>
            </a:extLst>
          </p:cNvPr>
          <p:cNvSpPr/>
          <p:nvPr/>
        </p:nvSpPr>
        <p:spPr>
          <a:xfrm>
            <a:off x="418338" y="1725533"/>
            <a:ext cx="4889249" cy="1818919"/>
          </a:xfrm>
          <a:prstGeom prst="roundRect">
            <a:avLst>
              <a:gd name="adj" fmla="val 92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CFE3B3-88EE-8FCC-33E9-E1B39033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3" y="382827"/>
            <a:ext cx="9076264" cy="661308"/>
          </a:xfrm>
        </p:spPr>
        <p:txBody>
          <a:bodyPr/>
          <a:lstStyle/>
          <a:p>
            <a:r>
              <a:rPr lang="de-DE" noProof="0">
                <a:ea typeface="+mj-lt"/>
                <a:cs typeface="+mj-lt"/>
              </a:rPr>
              <a:t>UX-Konzept &amp; Visual Design</a:t>
            </a:r>
            <a:endParaRPr lang="de-DE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B2470F-094A-A605-0D24-550F10738B7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A00E528-4134-4E80-A731-C3BD36CC93DD}" type="datetime1">
              <a:rPr lang="de-DE" noProof="0" smtClean="0"/>
              <a:t>27.10.26</a:t>
            </a:fld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87207E9-859A-7680-B89E-A90B2C0787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noProof="0"/>
              <a:t>ProVaCaSy der Hochschule Esslingen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6194678F-90EF-3C60-1F82-481181F2D193}"/>
              </a:ext>
            </a:extLst>
          </p:cNvPr>
          <p:cNvSpPr txBox="1">
            <a:spLocks/>
          </p:cNvSpPr>
          <p:nvPr/>
        </p:nvSpPr>
        <p:spPr>
          <a:xfrm>
            <a:off x="616456" y="1834643"/>
            <a:ext cx="4669886" cy="4626164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Ziel: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Statistiken kompakt einsehen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Prozesse vereinfachen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Gebrauchstaugliches Design 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endParaRPr lang="de-DE" sz="2000" noProof="0">
              <a:ea typeface="Calibri"/>
              <a:cs typeface="Calibri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Anforderungen an Usability: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Benutzungsoberfläche selbsterklärend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Funktionen sind schnell &amp; einfach auffindbar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890E4935-B5B6-E08F-EC9C-9DDCC5239442}"/>
              </a:ext>
            </a:extLst>
          </p:cNvPr>
          <p:cNvSpPr txBox="1">
            <a:spLocks/>
          </p:cNvSpPr>
          <p:nvPr/>
        </p:nvSpPr>
        <p:spPr>
          <a:xfrm>
            <a:off x="5785472" y="1839341"/>
            <a:ext cx="4654798" cy="4626164"/>
          </a:xfrm>
          <a:prstGeom prst="rect">
            <a:avLst/>
          </a:prstGeom>
          <a:ln>
            <a:noFill/>
          </a:ln>
          <a:effectLst/>
        </p:spPr>
        <p:txBody>
          <a:bodyPr vert="horz" lIns="0" tIns="0" rIns="91440" bIns="45720" rtlCol="0" anchor="t">
            <a:noAutofit/>
          </a:bodyPr>
          <a:lstStyle>
            <a:lvl1pPr marL="380990" indent="-380990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22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1pPr>
            <a:lvl2pPr marL="342891" indent="-342891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2pPr>
            <a:lvl3pPr marL="714357" indent="-357179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3pPr>
            <a:lvl4pPr marL="1073124" indent="-358766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4pPr>
            <a:lvl5pPr marL="1439827" indent="-366704" algn="l" defTabSz="457189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defRPr sz="1800" kern="1200">
                <a:solidFill>
                  <a:srgbClr val="002D58"/>
                </a:solidFill>
                <a:latin typeface="+mn-lt"/>
                <a:ea typeface="+mn-ea"/>
                <a:cs typeface="+mn-cs"/>
              </a:defRPr>
            </a:lvl5pPr>
            <a:lvl6pPr marL="1792773" indent="-355591" algn="l" defTabSz="336542" rtl="0" eaLnBrk="1" latinLnBrk="0" hangingPunct="1">
              <a:spcBef>
                <a:spcPts val="0"/>
              </a:spcBef>
              <a:buSzPct val="90000"/>
              <a:buFont typeface="Calibri" panose="020F0502020204030204" pitchFamily="34" charset="0"/>
              <a:buChar char="l"/>
              <a:tabLst>
                <a:tab pos="1792773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de-DE" sz="2000" b="1" noProof="0">
                <a:ea typeface="Calibri"/>
                <a:cs typeface="Calibri"/>
              </a:rPr>
              <a:t>Kernfunktionen:</a:t>
            </a:r>
            <a:endParaRPr lang="de-DE" noProof="0"/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>
                <a:ea typeface="Calibri"/>
                <a:cs typeface="Calibri"/>
              </a:rPr>
              <a:t>Digitale Anträge in Webapplikation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Schnell und einfach Abwesenheiten eintragen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r>
              <a:rPr lang="de-DE" sz="2000" noProof="0">
                <a:ea typeface="Calibri"/>
                <a:cs typeface="Calibri"/>
              </a:rPr>
              <a:t>Einfache Navigation </a:t>
            </a:r>
          </a:p>
          <a:p>
            <a:pPr marL="342900" indent="-342900">
              <a:spcBef>
                <a:spcPts val="600"/>
              </a:spcBef>
              <a:buFont typeface="Arial" panose="020F0502020204030204" pitchFamily="34" charset="0"/>
              <a:buChar char="•"/>
            </a:pPr>
            <a:endParaRPr lang="de-DE" sz="2000" noProof="0">
              <a:ea typeface="Calibri"/>
              <a:cs typeface="Calibr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F79B2D9-D5A5-E332-DA0D-671667578C2B}"/>
              </a:ext>
            </a:extLst>
          </p:cNvPr>
          <p:cNvSpPr txBox="1"/>
          <p:nvPr/>
        </p:nvSpPr>
        <p:spPr>
          <a:xfrm>
            <a:off x="11824905" y="6641080"/>
            <a:ext cx="373770" cy="2167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4680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000"/>
              </a:lnSpc>
            </a:pPr>
            <a:r>
              <a:rPr lang="de-DE" sz="800">
                <a:ea typeface="Calibri"/>
                <a:cs typeface="Calibri"/>
              </a:rPr>
              <a:t>40</a:t>
            </a:r>
            <a:endParaRPr lang="de-DE" sz="800" cap="none" baseline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434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E-Master">
  <a:themeElements>
    <a:clrScheme name="Hochschule Esslingen 1">
      <a:dk1>
        <a:srgbClr val="002D58"/>
      </a:dk1>
      <a:lt1>
        <a:sysClr val="window" lastClr="FFFFFF"/>
      </a:lt1>
      <a:dk2>
        <a:srgbClr val="D70F3C"/>
      </a:dk2>
      <a:lt2>
        <a:srgbClr val="FFFFFF"/>
      </a:lt2>
      <a:accent1>
        <a:srgbClr val="00AADC"/>
      </a:accent1>
      <a:accent2>
        <a:srgbClr val="D6EAF8"/>
      </a:accent2>
      <a:accent3>
        <a:srgbClr val="DCDCDC"/>
      </a:accent3>
      <a:accent4>
        <a:srgbClr val="D7193C"/>
      </a:accent4>
      <a:accent5>
        <a:srgbClr val="002D58"/>
      </a:accent5>
      <a:accent6>
        <a:srgbClr val="FFFFFF"/>
      </a:accent6>
      <a:hlink>
        <a:srgbClr val="002D58"/>
      </a:hlink>
      <a:folHlink>
        <a:srgbClr val="002D5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lIns="0" tIns="46800" rIns="91440" bIns="45720" rtlCol="0" anchor="t">
        <a:noAutofit/>
      </a:bodyPr>
      <a:lstStyle>
        <a:defPPr>
          <a:lnSpc>
            <a:spcPts val="1000"/>
          </a:lnSpc>
          <a:defRPr sz="2000" cap="none" baseline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NeuerName zur Vorlage_2.pptx" id="{A3907DC7-7D7E-440E-BA5E-69A2997F0CF5}" vid="{91DF26E7-B9EC-4C08-A6FF-58075C0F050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2598</Words>
  <Application>Microsoft Macintosh PowerPoint</Application>
  <PresentationFormat>Widescreen</PresentationFormat>
  <Paragraphs>600</Paragraphs>
  <Slides>41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Arial,Sans-Serif</vt:lpstr>
      <vt:lpstr>Calibri</vt:lpstr>
      <vt:lpstr>Calibri Light</vt:lpstr>
      <vt:lpstr>HE-Master</vt:lpstr>
      <vt:lpstr>Osman Sallamaci, Tommy Luu, Dominique Sluga  ProVaCaSy – Professoren Vacation Calender System </vt:lpstr>
      <vt:lpstr>PowerPoint Presentation</vt:lpstr>
      <vt:lpstr>PowerPoint Presentation</vt:lpstr>
      <vt:lpstr>Ziel: Der Soll Zustand</vt:lpstr>
      <vt:lpstr>Zielgruppen und Benutzerrollen</vt:lpstr>
      <vt:lpstr>Die wichtigsten Must-Haves (MVP)</vt:lpstr>
      <vt:lpstr>Nice-to-Have Features</vt:lpstr>
      <vt:lpstr>Nicht Funktionale Anforderungen</vt:lpstr>
      <vt:lpstr>PowerPoint Presentation</vt:lpstr>
      <vt:lpstr>Architekturstil </vt:lpstr>
      <vt:lpstr>Kommunikation</vt:lpstr>
      <vt:lpstr>Sicherheit</vt:lpstr>
      <vt:lpstr>PowerPoint Presentation</vt:lpstr>
      <vt:lpstr>Frontend</vt:lpstr>
      <vt:lpstr>Backend</vt:lpstr>
      <vt:lpstr>Datenbank</vt:lpstr>
      <vt:lpstr>Authentifizierung​</vt:lpstr>
      <vt:lpstr>Betrieb</vt:lpstr>
      <vt:lpstr>Pipeline</vt:lpstr>
      <vt:lpstr>Qualität</vt:lpstr>
      <vt:lpstr>Zusammenfassung</vt:lpstr>
      <vt:lpstr>PowerPoint Presentation</vt:lpstr>
      <vt:lpstr>Entwicklungsumgebung</vt:lpstr>
      <vt:lpstr>Versionsmanagement: GitHub</vt:lpstr>
      <vt:lpstr>API-first: OpenAPI-Spezifikation</vt:lpstr>
      <vt:lpstr>Übersicht</vt:lpstr>
      <vt:lpstr>PowerPoint Presentation</vt:lpstr>
      <vt:lpstr>Mockup-Demo</vt:lpstr>
      <vt:lpstr>PowerPoint Presentation</vt:lpstr>
      <vt:lpstr>Methode</vt:lpstr>
      <vt:lpstr>Definition of Done</vt:lpstr>
      <vt:lpstr>Aufgabenverteilung</vt:lpstr>
      <vt:lpstr>Kommunikations- &amp; Dokumentations- Tools</vt:lpstr>
      <vt:lpstr>Quellen</vt:lpstr>
      <vt:lpstr>Vielen Dank für Ihre Aufmerksamkeit</vt:lpstr>
      <vt:lpstr>Buildprozess: vom Push zum Docker-Image</vt:lpstr>
      <vt:lpstr>Nächste Schritte</vt:lpstr>
      <vt:lpstr>Rolle: Professor</vt:lpstr>
      <vt:lpstr>Rolle: Sekretär</vt:lpstr>
      <vt:lpstr>Rolle: Dekan</vt:lpstr>
      <vt:lpstr>UX-Konzept &amp; Visual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Tommy Luu</dc:creator>
  <cp:lastModifiedBy>Tommy Luu</cp:lastModifiedBy>
  <cp:revision>3</cp:revision>
  <cp:lastPrinted>2026-10-27T15:24:51Z</cp:lastPrinted>
  <dcterms:created xsi:type="dcterms:W3CDTF">2026-10-21T13:20:44Z</dcterms:created>
  <dcterms:modified xsi:type="dcterms:W3CDTF">2026-10-27T15:24:53Z</dcterms:modified>
</cp:coreProperties>
</file>